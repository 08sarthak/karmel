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4916DE-48DF-4515-887B-C04BE797A9F3}" v="1" dt="2026-09-25T20:24:45.4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863" autoAdjust="0"/>
  </p:normalViewPr>
  <p:slideViewPr>
    <p:cSldViewPr snapToGrid="0" snapToObjects="1">
      <p:cViewPr varScale="1">
        <p:scale>
          <a:sx n="63" d="100"/>
          <a:sy n="63" d="100"/>
        </p:scale>
        <p:origin x="142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Mittal" userId="27f131c26c0833ca" providerId="LiveId" clId="{C60F30E8-082E-4214-A8A2-1630E400375A}"/>
    <pc:docChg chg="modSld">
      <pc:chgData name="Harsh Mittal" userId="27f131c26c0833ca" providerId="LiveId" clId="{C60F30E8-082E-4214-A8A2-1630E400375A}" dt="2026-09-25T20:24:45.488" v="3"/>
      <pc:docMkLst>
        <pc:docMk/>
      </pc:docMkLst>
      <pc:sldChg chg="modSp modNotes">
        <pc:chgData name="Harsh Mittal" userId="27f131c26c0833ca" providerId="LiveId" clId="{C60F30E8-082E-4214-A8A2-1630E400375A}" dt="2026-09-25T20:24:45.488" v="3"/>
        <pc:sldMkLst>
          <pc:docMk/>
          <pc:sldMk cId="0" sldId="256"/>
        </pc:sldMkLst>
        <pc:spChg chg="mod">
          <ac:chgData name="Harsh Mittal" userId="27f131c26c0833ca" providerId="LiveId" clId="{C60F30E8-082E-4214-A8A2-1630E400375A}" dt="2026-09-25T20:24:45.488" v="3"/>
          <ac:spMkLst>
            <pc:docMk/>
            <pc:sldMk cId="0" sldId="256"/>
            <ac:spMk id="5" creationId="{00000000-0000-0000-0000-000000000000}"/>
          </ac:spMkLst>
        </pc:spChg>
      </pc:sldChg>
      <pc:sldChg chg="modSp mod">
        <pc:chgData name="Harsh Mittal" userId="27f131c26c0833ca" providerId="LiveId" clId="{C60F30E8-082E-4214-A8A2-1630E400375A}" dt="2026-09-25T20:22:13.910" v="1" actId="255"/>
        <pc:sldMkLst>
          <pc:docMk/>
          <pc:sldMk cId="0" sldId="258"/>
        </pc:sldMkLst>
        <pc:spChg chg="mod">
          <ac:chgData name="Harsh Mittal" userId="27f131c26c0833ca" providerId="LiveId" clId="{C60F30E8-082E-4214-A8A2-1630E400375A}" dt="2026-09-25T20:22:13.910" v="1" actId="255"/>
          <ac:spMkLst>
            <pc:docMk/>
            <pc:sldMk cId="0" sldId="258"/>
            <ac:spMk id="13" creationId="{00000000-0000-0000-0000-000000000000}"/>
          </ac:spMkLst>
        </pc:spChg>
        <pc:spChg chg="mod">
          <ac:chgData name="Harsh Mittal" userId="27f131c26c0833ca" providerId="LiveId" clId="{C60F30E8-082E-4214-A8A2-1630E400375A}" dt="2026-09-25T20:22:13.910" v="1" actId="255"/>
          <ac:spMkLst>
            <pc:docMk/>
            <pc:sldMk cId="0" sldId="258"/>
            <ac:spMk id="20" creationId="{00000000-0000-0000-0000-000000000000}"/>
          </ac:spMkLst>
        </pc:spChg>
        <pc:spChg chg="mod">
          <ac:chgData name="Harsh Mittal" userId="27f131c26c0833ca" providerId="LiveId" clId="{C60F30E8-082E-4214-A8A2-1630E400375A}" dt="2026-09-25T20:22:13.910" v="1" actId="255"/>
          <ac:spMkLst>
            <pc:docMk/>
            <pc:sldMk cId="0" sldId="258"/>
            <ac:spMk id="27" creationId="{00000000-0000-0000-0000-000000000000}"/>
          </ac:spMkLst>
        </pc:spChg>
        <pc:spChg chg="mod">
          <ac:chgData name="Harsh Mittal" userId="27f131c26c0833ca" providerId="LiveId" clId="{C60F30E8-082E-4214-A8A2-1630E400375A}" dt="2026-09-25T20:22:13.910" v="1" actId="255"/>
          <ac:spMkLst>
            <pc:docMk/>
            <pc:sldMk cId="0" sldId="258"/>
            <ac:spMk id="34" creationId="{00000000-0000-0000-0000-000000000000}"/>
          </ac:spMkLst>
        </pc:spChg>
      </pc:sldChg>
      <pc:sldChg chg="modNotes">
        <pc:chgData name="Harsh Mittal" userId="27f131c26c0833ca" providerId="LiveId" clId="{C60F30E8-082E-4214-A8A2-1630E400375A}" dt="2026-09-25T20:24:45.488" v="3"/>
        <pc:sldMkLst>
          <pc:docMk/>
          <pc:sldMk cId="0" sldId="259"/>
        </pc:sldMkLst>
      </pc:sldChg>
      <pc:sldChg chg="modSp mod modNotes">
        <pc:chgData name="Harsh Mittal" userId="27f131c26c0833ca" providerId="LiveId" clId="{C60F30E8-082E-4214-A8A2-1630E400375A}" dt="2026-09-25T20:24:45.488" v="3"/>
        <pc:sldMkLst>
          <pc:docMk/>
          <pc:sldMk cId="0" sldId="261"/>
        </pc:sldMkLst>
        <pc:spChg chg="mod">
          <ac:chgData name="Harsh Mittal" userId="27f131c26c0833ca" providerId="LiveId" clId="{C60F30E8-082E-4214-A8A2-1630E400375A}" dt="2026-09-25T20:22:33.358" v="2" actId="255"/>
          <ac:spMkLst>
            <pc:docMk/>
            <pc:sldMk cId="0" sldId="261"/>
            <ac:spMk id="12" creationId="{00000000-0000-0000-0000-000000000000}"/>
          </ac:spMkLst>
        </pc:spChg>
        <pc:spChg chg="mod">
          <ac:chgData name="Harsh Mittal" userId="27f131c26c0833ca" providerId="LiveId" clId="{C60F30E8-082E-4214-A8A2-1630E400375A}" dt="2026-09-25T20:22:33.358" v="2" actId="255"/>
          <ac:spMkLst>
            <pc:docMk/>
            <pc:sldMk cId="0" sldId="261"/>
            <ac:spMk id="17" creationId="{00000000-0000-0000-0000-000000000000}"/>
          </ac:spMkLst>
        </pc:spChg>
        <pc:spChg chg="mod">
          <ac:chgData name="Harsh Mittal" userId="27f131c26c0833ca" providerId="LiveId" clId="{C60F30E8-082E-4214-A8A2-1630E400375A}" dt="2026-09-25T20:22:33.358" v="2" actId="255"/>
          <ac:spMkLst>
            <pc:docMk/>
            <pc:sldMk cId="0" sldId="261"/>
            <ac:spMk id="22" creationId="{00000000-0000-0000-0000-000000000000}"/>
          </ac:spMkLst>
        </pc:spChg>
        <pc:spChg chg="mod">
          <ac:chgData name="Harsh Mittal" userId="27f131c26c0833ca" providerId="LiveId" clId="{C60F30E8-082E-4214-A8A2-1630E400375A}" dt="2026-09-25T20:22:33.358" v="2" actId="255"/>
          <ac:spMkLst>
            <pc:docMk/>
            <pc:sldMk cId="0" sldId="261"/>
            <ac:spMk id="27" creationId="{00000000-0000-0000-0000-000000000000}"/>
          </ac:spMkLst>
        </pc:spChg>
      </pc:sldChg>
      <pc:sldChg chg="modNotes">
        <pc:chgData name="Harsh Mittal" userId="27f131c26c0833ca" providerId="LiveId" clId="{C60F30E8-082E-4214-A8A2-1630E400375A}" dt="2026-09-25T20:24:45.488" v="3"/>
        <pc:sldMkLst>
          <pc:docMk/>
          <pc:sldMk cId="0" sldId="263"/>
        </pc:sldMkLst>
      </pc:sldChg>
      <pc:sldChg chg="modNotes">
        <pc:chgData name="Harsh Mittal" userId="27f131c26c0833ca" providerId="LiveId" clId="{C60F30E8-082E-4214-A8A2-1630E400375A}" dt="2026-09-25T20:24:45.488" v="3"/>
        <pc:sldMkLst>
          <pc:docMk/>
          <pc:sldMk cId="0"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6116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Principal open the session and introduce </a:t>
            </a:r>
            <a:r>
              <a:rPr lang="en-US"/>
              <a:t>you - </a:t>
            </a:r>
            <a:r>
              <a:rPr lang="en-US" dirty="0"/>
              <a:t>teachers take their cue from leadership.
Set the frame in your first minute: "Today is an orientation. We'll show you what Leoki is, let you see it working, and hear from you. Hands-on training comes next, once your accounts are set up for your own classes and subjects."
The icons around the microphone are the journey you'll walk through: prepare, teach, reflect, learn at home.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about their reality, not about AI hype. Ask the room: "How many of you have seen a student submit something that was clearly written with ChatGPT?" Let a few hands go up.
The point: AI is already in their students' lives. The choice is whether it happens outside the school's view, or inside the school's curriculum with the teacher in charge.
Read the purple band aloud. It resets expectations for the whole session.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slide that shows the whole platform, and it tells the same story the Principal saw in the leadership deck. Walk it as a teacher's day: before class, during class, after class, and then the student at home.
Then point to the purple band: underneath all four stages is Learning Intelligence, which connects what happens in class and at home. We'll come back to it on slide 8.
Keep it to two minutes. If asked about languages: 12+ Indian languages, including Hindi.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teachers feel the value fastest: time saved.
Demo here (or in the live-demo block): generate concept-check questions or a worksheet for a chapter a teacher names. Use only the tools that are stable today. Don't show the lesson planner that is being </a:t>
            </a:r>
            <a:r>
              <a:rPr lang="en-US"/>
              <a:t>replaced - </a:t>
            </a:r>
            <a:r>
              <a:rPr lang="en-US" dirty="0"/>
              <a:t>say lesson planning is part of the hands-on session.
Stress: the teacher is always the editor. Nothing goes to students without the teacher deciding.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Teacher Copilot framing for Karmel. Do not mention Autonomous Teaching mode in this session.
If the current classroom build handles spoken requests reliably, show one live: ask for an everyday example, then "explain again in Hindi". Frame it honestly: "This is Leoki's explanation engine. In your classroom it sits quietly and responds only when you ask."
If it isn't reliable on the school's network, describe it using the example phrases on the right and move on. Don't demo the Copilot build that is still in development.
Close the slide by reading the purple band. It answers the question most teachers are silently asking.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Handle with care: "listens to the class" can sound like monitoring.
Present it as the teacher's own reflection tool, like notes from a helpful colleague. Before the session, be clear on one question you will likely be asked: who sees these </a:t>
            </a:r>
            <a:r>
              <a:rPr lang="en-US"/>
              <a:t>insights - </a:t>
            </a:r>
            <a:r>
              <a:rPr lang="en-US" dirty="0"/>
              <a:t>only the teacher, or also leadership? Answer it plainly. If the answer isn't settled yet, say so honestly ("that's something we'll agree with the school") or hide this slide.
This feature is still being rolled out, so present it as what's coming, not something they'll use next week.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(1–2 minutes), and make it about the teacher. Read the bottom line: students arrive better prepared, the routine doubts that usually land on the teacher the next morning get handled at home, and the teacher can see what was practised (next slide). What students practise connects to what was taught, instead of a random app or YouTube.
Do not raise private tuition, pricing or the home-tutor programme here. That is a leadership conversation.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layer that ties the whole journey together, and for teachers it is often the most motivating part: less guessing about who is struggling and why.
Frame it as the teacher's own tool for their students. Walk left to right: each student, the whole class, then what you actually do with </a:t>
            </a:r>
            <a:r>
              <a:rPr lang="en-US"/>
              <a:t>it - </a:t>
            </a:r>
            <a:r>
              <a:rPr lang="en-US" dirty="0"/>
              <a:t>who to support, what to revise before the test, what to re-teach differently.
Two honest points if asked: (1) insights get richer as students use Leoki in class and at home, so the first weeks are lighter; (2) school leadership also gets academic visibility at class </a:t>
            </a:r>
            <a:r>
              <a:rPr lang="en-US"/>
              <a:t>level - </a:t>
            </a:r>
            <a:r>
              <a:rPr lang="en-US" dirty="0"/>
              <a:t>say so plainly if asked, framed as helping the school support students.
Do not bring up planned-vs-actual syllabus tracking or classroom drift in this session. That is a leadership conversation.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most teachers won't ask out loud: "Will this replace me?" Read the right-hand column slowly. Those are the things that make a teacher a teacher, and they stay with the teacher.
Say the line in the </a:t>
            </a:r>
            <a:r>
              <a:rPr lang="en-US"/>
              <a:t>band - </a:t>
            </a:r>
            <a:r>
              <a:rPr lang="en-US" dirty="0"/>
              <a:t>"teacher-led, AI-supported, student-centred</a:t>
            </a:r>
            <a:r>
              <a:rPr lang="en-US"/>
              <a:t>" - </a:t>
            </a:r>
            <a:r>
              <a:rPr lang="en-US" dirty="0"/>
              <a:t>and repeat it at the close.
On "answer-first": generic AI tools tend to hand students the answer. Leoki is built around curriculum content, structured learning paths and practice, so the goal is understanding, not shortcuts. On accuracy: don't claim it is never wrong. Say it is designed to stay within the syllabus, the teacher reviews what is used, and teacher feedback is how it improves.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product here. 15–20 minutes.
Say: "Let's use Leoki the way it would be used in a real lesson. Please watch the learning behaviour, not just the screen." Invite a teacher to name the topic.
Suggested flow:
1. "Explain [concept] to Class [X] students step by step."
2. "Give a simple real-life example."
3. "Explain the same concept in Hindi / in simpler language."
4. "Ask me three questions to check my understanding."
5. Answer one question wrongly on purpose. If Leoki guides you towards the right idea instead of just stating the answer, pause and point it out: that is the difference from answer-first AI.
Test step 5 tonight on the chapters you expect. If Leoki simply gives the right answer, skip it tomorrow.
Before the session: test on the school's network and projector, use your own demo account, bring an external speaker, and keep a screen recording of a clean run as a fallback. Demo only what is stable today; describe anything still in development.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bridge from today's orientation to real use. It explains why there is no hands-on today without sounding like a delay: accounts are set up for each teacher's own classes first.
Do not commit to dates in front of teachers. Agree timing with the Principal after the session, with a buffer.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Ask the question on the slide and listen more than you talk.
If the room is quiet, pick from these (conversation, not a survey):
- Which part of your preparation takes the most time today?
- Where do students usually struggle once they leave class?
- Which examples or teaching aids are hardest to prepare quickly?
- What concerns do you have about students using AI?
- Which classes or subjects should we try first?
- Who would like to be in the first small teacher group?
Close with the line on the slide: teacher-led, AI-supported, student-centred. Note down what teachers say takes their time; it tells you which features to lead with in the hands-on session.
Before leaving, spend 10 minutes with the Principal: agree the pilot teachers, the date for hands-on training (with a buffer), and who from the school will coordinate.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25.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0.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1B3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94360" y="621792"/>
            <a:ext cx="1837944" cy="685800"/>
          </a:xfrm>
          <a:prstGeom prst="rect">
            <a:avLst/>
          </a:prstGeom>
        </p:spPr>
      </p:pic>
      <p:sp>
        <p:nvSpPr>
          <p:cNvPr id="3" name="Text 0"/>
          <p:cNvSpPr txBox="1"/>
          <p:nvPr/>
        </p:nvSpPr>
        <p:spPr>
          <a:xfrm>
            <a:off x="594360" y="2148840"/>
            <a:ext cx="6217920" cy="320040"/>
          </a:xfrm>
          <a:prstGeom prst="rect">
            <a:avLst/>
          </a:prstGeom>
          <a:noFill/>
          <a:ln/>
        </p:spPr>
        <p:txBody>
          <a:bodyPr wrap="square" lIns="0" tIns="0" rIns="0" bIns="0" rtlCol="0" anchor="ctr"/>
          <a:lstStyle/>
          <a:p>
            <a:pPr marL="0" indent="0">
              <a:buNone/>
            </a:pPr>
            <a:r>
              <a:rPr lang="en-US" sz="1400" b="1" kern="0" spc="300" dirty="0">
                <a:solidFill>
                  <a:srgbClr val="C98A2E"/>
                </a:solidFill>
                <a:latin typeface="Calibri" pitchFamily="34" charset="0"/>
                <a:ea typeface="Calibri" pitchFamily="34" charset="-122"/>
                <a:cs typeface="Calibri" pitchFamily="34" charset="-120"/>
              </a:rPr>
              <a:t>KARMEL AI LEARNING PROGRAMME</a:t>
            </a:r>
            <a:endParaRPr lang="en-US" sz="1400" dirty="0"/>
          </a:p>
        </p:txBody>
      </p:sp>
      <p:sp>
        <p:nvSpPr>
          <p:cNvPr id="4" name="Text 1"/>
          <p:cNvSpPr txBox="1"/>
          <p:nvPr/>
        </p:nvSpPr>
        <p:spPr>
          <a:xfrm>
            <a:off x="585216" y="2514600"/>
            <a:ext cx="640080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Teacher Orientation</a:t>
            </a:r>
            <a:endParaRPr lang="en-US" sz="4400" dirty="0"/>
          </a:p>
        </p:txBody>
      </p:sp>
      <p:sp>
        <p:nvSpPr>
          <p:cNvPr id="5" name="Text 2"/>
          <p:cNvSpPr txBox="1"/>
          <p:nvPr/>
        </p:nvSpPr>
        <p:spPr>
          <a:xfrm>
            <a:off x="594360" y="3383280"/>
            <a:ext cx="5852160" cy="777240"/>
          </a:xfrm>
          <a:prstGeom prst="rect">
            <a:avLst/>
          </a:prstGeom>
          <a:noFill/>
          <a:ln/>
        </p:spPr>
        <p:txBody>
          <a:bodyPr wrap="square" lIns="0" tIns="0" rIns="0" bIns="0" rtlCol="0" anchor="ctr"/>
          <a:lstStyle/>
          <a:p>
            <a:pPr marL="0" indent="0">
              <a:buNone/>
            </a:pPr>
            <a:r>
              <a:rPr lang="en-US" sz="2000" dirty="0">
                <a:solidFill>
                  <a:srgbClr val="CDBADF"/>
                </a:solidFill>
                <a:latin typeface="Calibri" pitchFamily="34" charset="0"/>
                <a:ea typeface="Calibri" pitchFamily="34" charset="-122"/>
                <a:cs typeface="Calibri" pitchFamily="34" charset="-120"/>
              </a:rPr>
              <a:t>Introducing Leoki - a multilingual, voice-first AI Learning &amp; Intelligence Platform</a:t>
            </a:r>
            <a:endParaRPr lang="en-US" sz="2000" dirty="0"/>
          </a:p>
        </p:txBody>
      </p:sp>
      <p:sp>
        <p:nvSpPr>
          <p:cNvPr id="6" name="Text 3"/>
          <p:cNvSpPr txBox="1"/>
          <p:nvPr/>
        </p:nvSpPr>
        <p:spPr>
          <a:xfrm>
            <a:off x="594360" y="5257800"/>
            <a:ext cx="5943600" cy="365760"/>
          </a:xfrm>
          <a:prstGeom prst="rect">
            <a:avLst/>
          </a:prstGeom>
          <a:noFill/>
          <a:ln/>
        </p:spPr>
        <p:txBody>
          <a:bodyPr wrap="square" lIns="0" tIns="0" rIns="0" bIns="0" rtlCol="0" anchor="ctr"/>
          <a:lstStyle/>
          <a:p>
            <a:pPr marL="0" indent="0">
              <a:buNone/>
            </a:pPr>
            <a:r>
              <a:rPr lang="en-US" sz="1600" b="1" dirty="0">
                <a:solidFill>
                  <a:srgbClr val="C98A2E"/>
                </a:solidFill>
                <a:latin typeface="Calibri" pitchFamily="34" charset="0"/>
                <a:ea typeface="Calibri" pitchFamily="34" charset="-122"/>
                <a:cs typeface="Calibri" pitchFamily="34" charset="-120"/>
              </a:rPr>
              <a:t>Session 1  ·  Awareness &amp; Overview</a:t>
            </a:r>
            <a:endParaRPr lang="en-US" sz="1600" dirty="0"/>
          </a:p>
        </p:txBody>
      </p:sp>
      <p:sp>
        <p:nvSpPr>
          <p:cNvPr id="7" name="Shape 4"/>
          <p:cNvSpPr/>
          <p:nvPr/>
        </p:nvSpPr>
        <p:spPr>
          <a:xfrm>
            <a:off x="6858000" y="1097280"/>
            <a:ext cx="4663440" cy="4663440"/>
          </a:xfrm>
          <a:prstGeom prst="ellipse">
            <a:avLst/>
          </a:prstGeom>
          <a:solidFill>
            <a:srgbClr val="2C1B3D"/>
          </a:solidFill>
          <a:ln w="12700">
            <a:solidFill>
              <a:srgbClr val="553A72"/>
            </a:solidFill>
            <a:prstDash val="solid"/>
          </a:ln>
        </p:spPr>
        <p:txBody>
          <a:bodyPr/>
          <a:lstStyle/>
          <a:p>
            <a:endParaRPr lang="en-IN"/>
          </a:p>
        </p:txBody>
      </p:sp>
      <p:sp>
        <p:nvSpPr>
          <p:cNvPr id="8" name="Shape 5"/>
          <p:cNvSpPr/>
          <p:nvPr/>
        </p:nvSpPr>
        <p:spPr>
          <a:xfrm>
            <a:off x="7498080" y="1737360"/>
            <a:ext cx="3383280" cy="3383280"/>
          </a:xfrm>
          <a:prstGeom prst="ellipse">
            <a:avLst/>
          </a:prstGeom>
          <a:solidFill>
            <a:srgbClr val="2C1B3D"/>
          </a:solidFill>
          <a:ln w="12700">
            <a:solidFill>
              <a:srgbClr val="553A72"/>
            </a:solidFill>
            <a:prstDash val="solid"/>
          </a:ln>
        </p:spPr>
        <p:txBody>
          <a:bodyPr/>
          <a:lstStyle/>
          <a:p>
            <a:endParaRPr lang="en-IN"/>
          </a:p>
        </p:txBody>
      </p:sp>
      <p:sp>
        <p:nvSpPr>
          <p:cNvPr id="9" name="Shape 6"/>
          <p:cNvSpPr/>
          <p:nvPr/>
        </p:nvSpPr>
        <p:spPr>
          <a:xfrm>
            <a:off x="8138160" y="2377440"/>
            <a:ext cx="2103120" cy="2103120"/>
          </a:xfrm>
          <a:prstGeom prst="ellipse">
            <a:avLst/>
          </a:prstGeom>
          <a:solidFill>
            <a:srgbClr val="2C1B3D"/>
          </a:solidFill>
          <a:ln w="19050">
            <a:solidFill>
              <a:srgbClr val="C98A2E"/>
            </a:solidFill>
            <a:prstDash val="solid"/>
          </a:ln>
        </p:spPr>
        <p:txBody>
          <a:bodyPr/>
          <a:lstStyle/>
          <a:p>
            <a:endParaRPr lang="en-IN"/>
          </a:p>
        </p:txBody>
      </p:sp>
      <p:sp>
        <p:nvSpPr>
          <p:cNvPr id="10" name="Shape 7"/>
          <p:cNvSpPr/>
          <p:nvPr/>
        </p:nvSpPr>
        <p:spPr>
          <a:xfrm>
            <a:off x="8622792" y="2862072"/>
            <a:ext cx="1133856" cy="1133856"/>
          </a:xfrm>
          <a:prstGeom prst="ellipse">
            <a:avLst/>
          </a:prstGeom>
          <a:solidFill>
            <a:srgbClr val="714B90"/>
          </a:solidFill>
          <a:ln w="6350">
            <a:solidFill>
              <a:srgbClr val="714B90"/>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8923264" y="3162544"/>
            <a:ext cx="532912" cy="532912"/>
          </a:xfrm>
          <a:prstGeom prst="rect">
            <a:avLst/>
          </a:prstGeom>
        </p:spPr>
      </p:pic>
      <p:sp>
        <p:nvSpPr>
          <p:cNvPr id="12" name="Shape 8"/>
          <p:cNvSpPr/>
          <p:nvPr/>
        </p:nvSpPr>
        <p:spPr>
          <a:xfrm>
            <a:off x="8878824" y="1426464"/>
            <a:ext cx="621792" cy="621792"/>
          </a:xfrm>
          <a:prstGeom prst="ellipse">
            <a:avLst/>
          </a:prstGeom>
          <a:solidFill>
            <a:srgbClr val="3E2856"/>
          </a:solidFill>
          <a:ln w="9525">
            <a:solidFill>
              <a:srgbClr val="DED0EC"/>
            </a:solidFill>
            <a:prstDash val="solid"/>
          </a:ln>
        </p:spPr>
        <p:txBody>
          <a:bodyPr/>
          <a:lstStyle/>
          <a:p>
            <a:endParaRPr lang="en-IN"/>
          </a:p>
        </p:txBody>
      </p:sp>
      <p:pic>
        <p:nvPicPr>
          <p:cNvPr id="13" name="Image 2" descr="preencoded.png"/>
          <p:cNvPicPr>
            <a:picLocks noChangeAspect="1"/>
          </p:cNvPicPr>
          <p:nvPr/>
        </p:nvPicPr>
        <p:blipFill>
          <a:blip r:embed="rId5"/>
          <a:stretch>
            <a:fillRect/>
          </a:stretch>
        </p:blipFill>
        <p:spPr>
          <a:xfrm>
            <a:off x="9034272" y="1581912"/>
            <a:ext cx="310896" cy="310896"/>
          </a:xfrm>
          <a:prstGeom prst="rect">
            <a:avLst/>
          </a:prstGeom>
        </p:spPr>
      </p:pic>
      <p:sp>
        <p:nvSpPr>
          <p:cNvPr id="14" name="Shape 9"/>
          <p:cNvSpPr/>
          <p:nvPr/>
        </p:nvSpPr>
        <p:spPr>
          <a:xfrm>
            <a:off x="10488168" y="2596896"/>
            <a:ext cx="621792" cy="621792"/>
          </a:xfrm>
          <a:prstGeom prst="ellipse">
            <a:avLst/>
          </a:prstGeom>
          <a:solidFill>
            <a:srgbClr val="3E2856"/>
          </a:solidFill>
          <a:ln w="9525">
            <a:solidFill>
              <a:srgbClr val="DED0EC"/>
            </a:solidFill>
            <a:prstDash val="solid"/>
          </a:ln>
        </p:spPr>
        <p:txBody>
          <a:bodyPr/>
          <a:lstStyle/>
          <a:p>
            <a:endParaRPr lang="en-IN"/>
          </a:p>
        </p:txBody>
      </p:sp>
      <p:pic>
        <p:nvPicPr>
          <p:cNvPr id="15" name="Image 3" descr="preencoded.png"/>
          <p:cNvPicPr>
            <a:picLocks noChangeAspect="1"/>
          </p:cNvPicPr>
          <p:nvPr/>
        </p:nvPicPr>
        <p:blipFill>
          <a:blip r:embed="rId6"/>
          <a:stretch>
            <a:fillRect/>
          </a:stretch>
        </p:blipFill>
        <p:spPr>
          <a:xfrm>
            <a:off x="10643616" y="2752344"/>
            <a:ext cx="310896" cy="310896"/>
          </a:xfrm>
          <a:prstGeom prst="rect">
            <a:avLst/>
          </a:prstGeom>
        </p:spPr>
      </p:pic>
      <p:sp>
        <p:nvSpPr>
          <p:cNvPr id="16" name="Shape 10"/>
          <p:cNvSpPr/>
          <p:nvPr/>
        </p:nvSpPr>
        <p:spPr>
          <a:xfrm>
            <a:off x="9875520" y="4489704"/>
            <a:ext cx="621792" cy="621792"/>
          </a:xfrm>
          <a:prstGeom prst="ellipse">
            <a:avLst/>
          </a:prstGeom>
          <a:solidFill>
            <a:srgbClr val="3E2856"/>
          </a:solidFill>
          <a:ln w="9525">
            <a:solidFill>
              <a:srgbClr val="DED0EC"/>
            </a:solidFill>
            <a:prstDash val="solid"/>
          </a:ln>
        </p:spPr>
        <p:txBody>
          <a:bodyPr/>
          <a:lstStyle/>
          <a:p>
            <a:endParaRPr lang="en-IN"/>
          </a:p>
        </p:txBody>
      </p:sp>
      <p:pic>
        <p:nvPicPr>
          <p:cNvPr id="17" name="Image 4" descr="preencoded.png"/>
          <p:cNvPicPr>
            <a:picLocks noChangeAspect="1"/>
          </p:cNvPicPr>
          <p:nvPr/>
        </p:nvPicPr>
        <p:blipFill>
          <a:blip r:embed="rId7"/>
          <a:stretch>
            <a:fillRect/>
          </a:stretch>
        </p:blipFill>
        <p:spPr>
          <a:xfrm>
            <a:off x="10030968" y="4645152"/>
            <a:ext cx="310896" cy="310896"/>
          </a:xfrm>
          <a:prstGeom prst="rect">
            <a:avLst/>
          </a:prstGeom>
        </p:spPr>
      </p:pic>
      <p:sp>
        <p:nvSpPr>
          <p:cNvPr id="18" name="Shape 11"/>
          <p:cNvSpPr/>
          <p:nvPr/>
        </p:nvSpPr>
        <p:spPr>
          <a:xfrm>
            <a:off x="7891272" y="4489704"/>
            <a:ext cx="621792" cy="621792"/>
          </a:xfrm>
          <a:prstGeom prst="ellipse">
            <a:avLst/>
          </a:prstGeom>
          <a:solidFill>
            <a:srgbClr val="3E2856"/>
          </a:solidFill>
          <a:ln w="9525">
            <a:solidFill>
              <a:srgbClr val="DED0EC"/>
            </a:solidFill>
            <a:prstDash val="solid"/>
          </a:ln>
        </p:spPr>
        <p:txBody>
          <a:bodyPr/>
          <a:lstStyle/>
          <a:p>
            <a:endParaRPr lang="en-IN"/>
          </a:p>
        </p:txBody>
      </p:sp>
      <p:pic>
        <p:nvPicPr>
          <p:cNvPr id="19" name="Image 5" descr="preencoded.png"/>
          <p:cNvPicPr>
            <a:picLocks noChangeAspect="1"/>
          </p:cNvPicPr>
          <p:nvPr/>
        </p:nvPicPr>
        <p:blipFill>
          <a:blip r:embed="rId8"/>
          <a:stretch>
            <a:fillRect/>
          </a:stretch>
        </p:blipFill>
        <p:spPr>
          <a:xfrm>
            <a:off x="8046720" y="4645152"/>
            <a:ext cx="310896" cy="310896"/>
          </a:xfrm>
          <a:prstGeom prst="rect">
            <a:avLst/>
          </a:prstGeom>
        </p:spPr>
      </p:pic>
      <p:sp>
        <p:nvSpPr>
          <p:cNvPr id="20" name="Shape 12"/>
          <p:cNvSpPr/>
          <p:nvPr/>
        </p:nvSpPr>
        <p:spPr>
          <a:xfrm>
            <a:off x="7269480" y="2596896"/>
            <a:ext cx="621792" cy="621792"/>
          </a:xfrm>
          <a:prstGeom prst="ellipse">
            <a:avLst/>
          </a:prstGeom>
          <a:solidFill>
            <a:srgbClr val="3E2856"/>
          </a:solidFill>
          <a:ln w="9525">
            <a:solidFill>
              <a:srgbClr val="DED0EC"/>
            </a:solidFill>
            <a:prstDash val="solid"/>
          </a:ln>
        </p:spPr>
        <p:txBody>
          <a:bodyPr/>
          <a:lstStyle/>
          <a:p>
            <a:endParaRPr lang="en-IN"/>
          </a:p>
        </p:txBody>
      </p:sp>
      <p:pic>
        <p:nvPicPr>
          <p:cNvPr id="21" name="Image 6" descr="preencoded.png"/>
          <p:cNvPicPr>
            <a:picLocks noChangeAspect="1"/>
          </p:cNvPicPr>
          <p:nvPr/>
        </p:nvPicPr>
        <p:blipFill>
          <a:blip r:embed="rId9"/>
          <a:stretch>
            <a:fillRect/>
          </a:stretch>
        </p:blipFill>
        <p:spPr>
          <a:xfrm>
            <a:off x="7424928" y="2752344"/>
            <a:ext cx="310896" cy="310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33888" y="356616"/>
            <a:ext cx="1060704" cy="393192"/>
          </a:xfrm>
          <a:prstGeom prst="rect">
            <a:avLst/>
          </a:prstGeom>
        </p:spPr>
      </p:pic>
      <p:sp>
        <p:nvSpPr>
          <p:cNvPr id="3"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98A2E"/>
                </a:solidFill>
                <a:latin typeface="Calibri" pitchFamily="34" charset="0"/>
                <a:ea typeface="Calibri" pitchFamily="34" charset="-122"/>
                <a:cs typeface="Calibri" pitchFamily="34" charset="-120"/>
              </a:rPr>
              <a:t>WHY WE ARE HERE</a:t>
            </a:r>
            <a:endParaRPr lang="en-US" sz="1200" dirty="0"/>
          </a:p>
        </p:txBody>
      </p:sp>
      <p:sp>
        <p:nvSpPr>
          <p:cNvPr id="4" name="Text 1"/>
          <p:cNvSpPr txBox="1"/>
          <p:nvPr/>
        </p:nvSpPr>
        <p:spPr>
          <a:xfrm>
            <a:off x="548640" y="749808"/>
            <a:ext cx="9875520" cy="658368"/>
          </a:xfrm>
          <a:prstGeom prst="rect">
            <a:avLst/>
          </a:prstGeom>
          <a:noFill/>
          <a:ln/>
        </p:spPr>
        <p:txBody>
          <a:bodyPr wrap="square" lIns="0" tIns="0" rIns="0" bIns="0" rtlCol="0" anchor="ctr"/>
          <a:lstStyle/>
          <a:p>
            <a:pPr marL="0" indent="0">
              <a:buNone/>
            </a:pPr>
            <a:r>
              <a:rPr lang="en-US" sz="3200" b="1" dirty="0">
                <a:solidFill>
                  <a:srgbClr val="714B90"/>
                </a:solidFill>
                <a:latin typeface="Cambria" pitchFamily="34" charset="0"/>
                <a:ea typeface="Cambria" pitchFamily="34" charset="-122"/>
                <a:cs typeface="Cambria" pitchFamily="34" charset="-120"/>
              </a:rPr>
              <a:t>AI Is Already Part of How Students Learn</a:t>
            </a:r>
            <a:endParaRPr lang="en-US" sz="3200" dirty="0"/>
          </a:p>
        </p:txBody>
      </p:sp>
      <p:sp>
        <p:nvSpPr>
          <p:cNvPr id="5" name="Text 2"/>
          <p:cNvSpPr txBox="1"/>
          <p:nvPr/>
        </p:nvSpPr>
        <p:spPr>
          <a:xfrm>
            <a:off x="548640" y="1444752"/>
            <a:ext cx="11064240" cy="402336"/>
          </a:xfrm>
          <a:prstGeom prst="rect">
            <a:avLst/>
          </a:prstGeom>
          <a:noFill/>
          <a:ln/>
        </p:spPr>
        <p:txBody>
          <a:bodyPr wrap="square" lIns="0" tIns="0" rIns="0" bIns="0" rtlCol="0" anchor="ctr"/>
          <a:lstStyle/>
          <a:p>
            <a:pPr marL="0" indent="0">
              <a:buNone/>
            </a:pPr>
            <a:r>
              <a:rPr lang="en-US" sz="1600" i="1" dirty="0">
                <a:solidFill>
                  <a:srgbClr val="6E6579"/>
                </a:solidFill>
                <a:latin typeface="Calibri" pitchFamily="34" charset="0"/>
                <a:ea typeface="Calibri" pitchFamily="34" charset="-122"/>
                <a:cs typeface="Calibri" pitchFamily="34" charset="-120"/>
              </a:rPr>
              <a:t>The question is no longer whether AI enters the classroom, but whether it works for teachers and the school.</a:t>
            </a:r>
            <a:endParaRPr lang="en-US" sz="1600" dirty="0"/>
          </a:p>
        </p:txBody>
      </p:sp>
      <p:sp>
        <p:nvSpPr>
          <p:cNvPr id="6" name="Text 3"/>
          <p:cNvSpPr txBox="1"/>
          <p:nvPr/>
        </p:nvSpPr>
        <p:spPr>
          <a:xfrm>
            <a:off x="548640" y="6419088"/>
            <a:ext cx="5943600" cy="256032"/>
          </a:xfrm>
          <a:prstGeom prst="rect">
            <a:avLst/>
          </a:prstGeom>
          <a:noFill/>
          <a:ln/>
        </p:spPr>
        <p:txBody>
          <a:bodyPr wrap="square" lIns="0" tIns="0" rIns="0" bIns="0" rtlCol="0" anchor="ctr"/>
          <a:lstStyle/>
          <a:p>
            <a:pPr marL="0" indent="0">
              <a:buNone/>
            </a:pPr>
            <a:r>
              <a:rPr lang="en-US" sz="950" dirty="0">
                <a:solidFill>
                  <a:srgbClr val="A79DB2"/>
                </a:solidFill>
                <a:latin typeface="Calibri" pitchFamily="34" charset="0"/>
                <a:ea typeface="Calibri" pitchFamily="34" charset="-122"/>
                <a:cs typeface="Calibri" pitchFamily="34" charset="-120"/>
              </a:rPr>
              <a:t>Karmel AI Learning Programme  ·  Teacher Orientation</a:t>
            </a:r>
            <a:endParaRPr lang="en-US" sz="950" dirty="0"/>
          </a:p>
        </p:txBody>
      </p:sp>
      <p:sp>
        <p:nvSpPr>
          <p:cNvPr id="7" name="Text 4"/>
          <p:cNvSpPr txBox="1"/>
          <p:nvPr/>
        </p:nvSpPr>
        <p:spPr>
          <a:xfrm>
            <a:off x="10881360" y="6419088"/>
            <a:ext cx="758952" cy="256032"/>
          </a:xfrm>
          <a:prstGeom prst="rect">
            <a:avLst/>
          </a:prstGeom>
          <a:noFill/>
          <a:ln/>
        </p:spPr>
        <p:txBody>
          <a:bodyPr wrap="square" lIns="0" tIns="0" rIns="0" bIns="0" rtlCol="0" anchor="ctr"/>
          <a:lstStyle/>
          <a:p>
            <a:pPr marL="0" indent="0" algn="r">
              <a:buNone/>
            </a:pPr>
            <a:r>
              <a:rPr lang="en-US" sz="950" dirty="0">
                <a:solidFill>
                  <a:srgbClr val="A79DB2"/>
                </a:solidFill>
                <a:latin typeface="Calibri" pitchFamily="34" charset="0"/>
                <a:ea typeface="Calibri" pitchFamily="34" charset="-122"/>
                <a:cs typeface="Calibri" pitchFamily="34" charset="-120"/>
              </a:rPr>
              <a:t>2</a:t>
            </a:r>
            <a:endParaRPr lang="en-US" sz="950" dirty="0"/>
          </a:p>
        </p:txBody>
      </p:sp>
      <p:sp>
        <p:nvSpPr>
          <p:cNvPr id="8" name="Shape 5"/>
          <p:cNvSpPr/>
          <p:nvPr/>
        </p:nvSpPr>
        <p:spPr>
          <a:xfrm>
            <a:off x="566928" y="2103120"/>
            <a:ext cx="3474720" cy="2697480"/>
          </a:xfrm>
          <a:prstGeom prst="roundRect">
            <a:avLst>
              <a:gd name="adj" fmla="val 2712"/>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9" name="Shape 6"/>
          <p:cNvSpPr/>
          <p:nvPr/>
        </p:nvSpPr>
        <p:spPr>
          <a:xfrm>
            <a:off x="841248" y="2377440"/>
            <a:ext cx="603504" cy="603504"/>
          </a:xfrm>
          <a:prstGeom prst="ellipse">
            <a:avLst/>
          </a:prstGeom>
          <a:solidFill>
            <a:srgbClr val="714B90"/>
          </a:solidFill>
          <a:ln w="6350">
            <a:solidFill>
              <a:srgbClr val="714B90"/>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998159" y="2534351"/>
            <a:ext cx="289682" cy="289682"/>
          </a:xfrm>
          <a:prstGeom prst="rect">
            <a:avLst/>
          </a:prstGeom>
        </p:spPr>
      </p:pic>
      <p:sp>
        <p:nvSpPr>
          <p:cNvPr id="11" name="Text 7"/>
          <p:cNvSpPr txBox="1"/>
          <p:nvPr/>
        </p:nvSpPr>
        <p:spPr>
          <a:xfrm>
            <a:off x="841248" y="3127248"/>
            <a:ext cx="3017520" cy="384048"/>
          </a:xfrm>
          <a:prstGeom prst="rect">
            <a:avLst/>
          </a:prstGeom>
          <a:noFill/>
          <a:ln/>
        </p:spPr>
        <p:txBody>
          <a:bodyPr wrap="square" lIns="0" tIns="0" rIns="0" bIns="0" rtlCol="0" anchor="ctr"/>
          <a:lstStyle/>
          <a:p>
            <a:pPr marL="0" indent="0">
              <a:buNone/>
            </a:pPr>
            <a:r>
              <a:rPr lang="en-US" sz="1900" b="1" dirty="0">
                <a:solidFill>
                  <a:srgbClr val="714B90"/>
                </a:solidFill>
                <a:latin typeface="Cambria" pitchFamily="34" charset="0"/>
                <a:ea typeface="Cambria" pitchFamily="34" charset="-122"/>
                <a:cs typeface="Cambria" pitchFamily="34" charset="-120"/>
              </a:rPr>
              <a:t>Students already use AI</a:t>
            </a:r>
            <a:endParaRPr lang="en-US" sz="1900" dirty="0"/>
          </a:p>
        </p:txBody>
      </p:sp>
      <p:sp>
        <p:nvSpPr>
          <p:cNvPr id="12" name="Text 8"/>
          <p:cNvSpPr txBox="1"/>
          <p:nvPr/>
        </p:nvSpPr>
        <p:spPr>
          <a:xfrm>
            <a:off x="841248" y="3566160"/>
            <a:ext cx="2971800" cy="1097280"/>
          </a:xfrm>
          <a:prstGeom prst="rect">
            <a:avLst/>
          </a:prstGeom>
          <a:noFill/>
          <a:ln/>
        </p:spPr>
        <p:txBody>
          <a:bodyPr wrap="square" lIns="0" tIns="0" rIns="0" bIns="0" rtlCol="0" anchor="t"/>
          <a:lstStyle/>
          <a:p>
            <a:pPr marL="0" indent="0">
              <a:buNone/>
            </a:pPr>
            <a:r>
              <a:rPr lang="en-US" sz="1400" dirty="0">
                <a:solidFill>
                  <a:srgbClr val="241E2A"/>
                </a:solidFill>
                <a:latin typeface="Calibri" pitchFamily="34" charset="0"/>
                <a:ea typeface="Calibri" pitchFamily="34" charset="-122"/>
                <a:cs typeface="Calibri" pitchFamily="34" charset="-120"/>
              </a:rPr>
              <a:t>Many students already use generic AI tools for homework, doubts and projects, outside the school's curriculum and the teacher's view.</a:t>
            </a:r>
            <a:endParaRPr lang="en-US" sz="1400" dirty="0"/>
          </a:p>
        </p:txBody>
      </p:sp>
      <p:sp>
        <p:nvSpPr>
          <p:cNvPr id="13" name="Shape 9"/>
          <p:cNvSpPr/>
          <p:nvPr/>
        </p:nvSpPr>
        <p:spPr>
          <a:xfrm>
            <a:off x="4315968" y="2103120"/>
            <a:ext cx="3474720" cy="2697480"/>
          </a:xfrm>
          <a:prstGeom prst="roundRect">
            <a:avLst>
              <a:gd name="adj" fmla="val 2712"/>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14" name="Shape 10"/>
          <p:cNvSpPr/>
          <p:nvPr/>
        </p:nvSpPr>
        <p:spPr>
          <a:xfrm>
            <a:off x="4590288" y="2377440"/>
            <a:ext cx="603504" cy="603504"/>
          </a:xfrm>
          <a:prstGeom prst="ellipse">
            <a:avLst/>
          </a:prstGeom>
          <a:solidFill>
            <a:srgbClr val="714B90"/>
          </a:solidFill>
          <a:ln w="6350">
            <a:solidFill>
              <a:srgbClr val="714B90"/>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4747199" y="2534351"/>
            <a:ext cx="289682" cy="289682"/>
          </a:xfrm>
          <a:prstGeom prst="rect">
            <a:avLst/>
          </a:prstGeom>
        </p:spPr>
      </p:pic>
      <p:sp>
        <p:nvSpPr>
          <p:cNvPr id="16" name="Text 11"/>
          <p:cNvSpPr txBox="1"/>
          <p:nvPr/>
        </p:nvSpPr>
        <p:spPr>
          <a:xfrm>
            <a:off x="4590288" y="3127248"/>
            <a:ext cx="3017520" cy="384048"/>
          </a:xfrm>
          <a:prstGeom prst="rect">
            <a:avLst/>
          </a:prstGeom>
          <a:noFill/>
          <a:ln/>
        </p:spPr>
        <p:txBody>
          <a:bodyPr wrap="square" lIns="0" tIns="0" rIns="0" bIns="0" rtlCol="0" anchor="ctr"/>
          <a:lstStyle/>
          <a:p>
            <a:pPr marL="0" indent="0">
              <a:buNone/>
            </a:pPr>
            <a:r>
              <a:rPr lang="en-US" sz="1900" b="1" dirty="0">
                <a:solidFill>
                  <a:srgbClr val="714B90"/>
                </a:solidFill>
                <a:latin typeface="Cambria" pitchFamily="34" charset="0"/>
                <a:ea typeface="Cambria" pitchFamily="34" charset="-122"/>
                <a:cs typeface="Cambria" pitchFamily="34" charset="-120"/>
              </a:rPr>
              <a:t>Teacher time is stretched</a:t>
            </a:r>
            <a:endParaRPr lang="en-US" sz="1900" dirty="0"/>
          </a:p>
        </p:txBody>
      </p:sp>
      <p:sp>
        <p:nvSpPr>
          <p:cNvPr id="17" name="Text 12"/>
          <p:cNvSpPr txBox="1"/>
          <p:nvPr/>
        </p:nvSpPr>
        <p:spPr>
          <a:xfrm>
            <a:off x="4590288" y="3566160"/>
            <a:ext cx="2971800" cy="1097280"/>
          </a:xfrm>
          <a:prstGeom prst="rect">
            <a:avLst/>
          </a:prstGeom>
          <a:noFill/>
          <a:ln/>
        </p:spPr>
        <p:txBody>
          <a:bodyPr wrap="square" lIns="0" tIns="0" rIns="0" bIns="0" rtlCol="0" anchor="t"/>
          <a:lstStyle/>
          <a:p>
            <a:pPr marL="0" indent="0">
              <a:buNone/>
            </a:pPr>
            <a:r>
              <a:rPr lang="en-US" sz="1400" dirty="0">
                <a:solidFill>
                  <a:srgbClr val="241E2A"/>
                </a:solidFill>
                <a:latin typeface="Calibri" pitchFamily="34" charset="0"/>
                <a:ea typeface="Calibri" pitchFamily="34" charset="-122"/>
                <a:cs typeface="Calibri" pitchFamily="34" charset="-120"/>
              </a:rPr>
              <a:t>Lesson preparation, worksheets, question papers and revision material take hours every week, on top of teaching.</a:t>
            </a:r>
            <a:endParaRPr lang="en-US" sz="1400" dirty="0"/>
          </a:p>
        </p:txBody>
      </p:sp>
      <p:sp>
        <p:nvSpPr>
          <p:cNvPr id="18" name="Shape 13"/>
          <p:cNvSpPr/>
          <p:nvPr/>
        </p:nvSpPr>
        <p:spPr>
          <a:xfrm>
            <a:off x="8065008" y="2103120"/>
            <a:ext cx="3474720" cy="2697480"/>
          </a:xfrm>
          <a:prstGeom prst="roundRect">
            <a:avLst>
              <a:gd name="adj" fmla="val 2712"/>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19" name="Shape 14"/>
          <p:cNvSpPr/>
          <p:nvPr/>
        </p:nvSpPr>
        <p:spPr>
          <a:xfrm>
            <a:off x="8339328" y="2377440"/>
            <a:ext cx="603504" cy="603504"/>
          </a:xfrm>
          <a:prstGeom prst="ellipse">
            <a:avLst/>
          </a:prstGeom>
          <a:solidFill>
            <a:srgbClr val="714B90"/>
          </a:solidFill>
          <a:ln w="6350">
            <a:solidFill>
              <a:srgbClr val="714B90"/>
            </a:solidFill>
            <a:prstDash val="solid"/>
          </a:ln>
        </p:spPr>
        <p:txBody>
          <a:bodyPr/>
          <a:lstStyle/>
          <a:p>
            <a:endParaRPr lang="en-IN"/>
          </a:p>
        </p:txBody>
      </p:sp>
      <p:pic>
        <p:nvPicPr>
          <p:cNvPr id="20" name="Image 3" descr="preencoded.png"/>
          <p:cNvPicPr>
            <a:picLocks noChangeAspect="1"/>
          </p:cNvPicPr>
          <p:nvPr/>
        </p:nvPicPr>
        <p:blipFill>
          <a:blip r:embed="rId6"/>
          <a:stretch>
            <a:fillRect/>
          </a:stretch>
        </p:blipFill>
        <p:spPr>
          <a:xfrm>
            <a:off x="8496239" y="2534351"/>
            <a:ext cx="289682" cy="289682"/>
          </a:xfrm>
          <a:prstGeom prst="rect">
            <a:avLst/>
          </a:prstGeom>
        </p:spPr>
      </p:pic>
      <p:sp>
        <p:nvSpPr>
          <p:cNvPr id="21" name="Text 15"/>
          <p:cNvSpPr txBox="1"/>
          <p:nvPr/>
        </p:nvSpPr>
        <p:spPr>
          <a:xfrm>
            <a:off x="8339328" y="3127248"/>
            <a:ext cx="3017520" cy="384048"/>
          </a:xfrm>
          <a:prstGeom prst="rect">
            <a:avLst/>
          </a:prstGeom>
          <a:noFill/>
          <a:ln/>
        </p:spPr>
        <p:txBody>
          <a:bodyPr wrap="square" lIns="0" tIns="0" rIns="0" bIns="0" rtlCol="0" anchor="ctr"/>
          <a:lstStyle/>
          <a:p>
            <a:pPr marL="0" indent="0">
              <a:buNone/>
            </a:pPr>
            <a:r>
              <a:rPr lang="en-US" sz="1900" b="1" dirty="0">
                <a:solidFill>
                  <a:srgbClr val="714B90"/>
                </a:solidFill>
                <a:latin typeface="Cambria" pitchFamily="34" charset="0"/>
                <a:ea typeface="Cambria" pitchFamily="34" charset="-122"/>
                <a:cs typeface="Cambria" pitchFamily="34" charset="-120"/>
              </a:rPr>
              <a:t>Every class is mixed</a:t>
            </a:r>
            <a:endParaRPr lang="en-US" sz="1900" dirty="0"/>
          </a:p>
        </p:txBody>
      </p:sp>
      <p:sp>
        <p:nvSpPr>
          <p:cNvPr id="22" name="Text 16"/>
          <p:cNvSpPr txBox="1"/>
          <p:nvPr/>
        </p:nvSpPr>
        <p:spPr>
          <a:xfrm>
            <a:off x="8339328" y="3566160"/>
            <a:ext cx="2971800" cy="1097280"/>
          </a:xfrm>
          <a:prstGeom prst="rect">
            <a:avLst/>
          </a:prstGeom>
          <a:noFill/>
          <a:ln/>
        </p:spPr>
        <p:txBody>
          <a:bodyPr wrap="square" lIns="0" tIns="0" rIns="0" bIns="0" rtlCol="0" anchor="t"/>
          <a:lstStyle/>
          <a:p>
            <a:pPr marL="0" indent="0">
              <a:buNone/>
            </a:pPr>
            <a:r>
              <a:rPr lang="en-US" sz="1400" dirty="0">
                <a:solidFill>
                  <a:srgbClr val="241E2A"/>
                </a:solidFill>
                <a:latin typeface="Calibri" pitchFamily="34" charset="0"/>
                <a:ea typeface="Calibri" pitchFamily="34" charset="-122"/>
                <a:cs typeface="Calibri" pitchFamily="34" charset="-120"/>
              </a:rPr>
              <a:t>One explanation rarely works for every learner. Different students need different examples, pace and language.</a:t>
            </a:r>
            <a:endParaRPr lang="en-US" sz="1400" dirty="0"/>
          </a:p>
        </p:txBody>
      </p:sp>
      <p:sp>
        <p:nvSpPr>
          <p:cNvPr id="23" name="Shape 17"/>
          <p:cNvSpPr/>
          <p:nvPr/>
        </p:nvSpPr>
        <p:spPr>
          <a:xfrm>
            <a:off x="566928" y="5074920"/>
            <a:ext cx="11064240" cy="960120"/>
          </a:xfrm>
          <a:prstGeom prst="roundRect">
            <a:avLst>
              <a:gd name="adj" fmla="val 7619"/>
            </a:avLst>
          </a:prstGeom>
          <a:solidFill>
            <a:srgbClr val="714B90"/>
          </a:solidFill>
          <a:ln w="6350">
            <a:solidFill>
              <a:srgbClr val="714B90"/>
            </a:solidFill>
            <a:prstDash val="solid"/>
          </a:ln>
        </p:spPr>
        <p:txBody>
          <a:bodyPr/>
          <a:lstStyle/>
          <a:p>
            <a:endParaRPr lang="en-IN"/>
          </a:p>
        </p:txBody>
      </p:sp>
      <p:sp>
        <p:nvSpPr>
          <p:cNvPr id="24" name="Text 18"/>
          <p:cNvSpPr txBox="1"/>
          <p:nvPr/>
        </p:nvSpPr>
        <p:spPr>
          <a:xfrm>
            <a:off x="566928" y="5138928"/>
            <a:ext cx="1106424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Today's goal: understand what Leoki does, see it in action, and tell us what would help you most.</a:t>
            </a:r>
            <a:endParaRPr lang="en-US" sz="1900" dirty="0"/>
          </a:p>
        </p:txBody>
      </p:sp>
      <p:sp>
        <p:nvSpPr>
          <p:cNvPr id="25" name="Text 19"/>
          <p:cNvSpPr txBox="1"/>
          <p:nvPr/>
        </p:nvSpPr>
        <p:spPr>
          <a:xfrm>
            <a:off x="566928" y="5614416"/>
            <a:ext cx="11064240" cy="292608"/>
          </a:xfrm>
          <a:prstGeom prst="rect">
            <a:avLst/>
          </a:prstGeom>
          <a:noFill/>
          <a:ln/>
        </p:spPr>
        <p:txBody>
          <a:bodyPr wrap="square" lIns="0" tIns="0" rIns="0" bIns="0" rtlCol="0" anchor="ctr"/>
          <a:lstStyle/>
          <a:p>
            <a:pPr marL="0" indent="0" algn="ctr">
              <a:buNone/>
            </a:pPr>
            <a:r>
              <a:rPr lang="en-US" sz="1300" dirty="0">
                <a:solidFill>
                  <a:srgbClr val="DED0EC"/>
                </a:solidFill>
                <a:latin typeface="Calibri" pitchFamily="34" charset="0"/>
                <a:ea typeface="Calibri" pitchFamily="34" charset="-122"/>
                <a:cs typeface="Calibri" pitchFamily="34" charset="-120"/>
              </a:rPr>
              <a:t>An orientation session  ·  Hands-on training follows once your accounts are set up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33888" y="356616"/>
            <a:ext cx="1060704" cy="393192"/>
          </a:xfrm>
          <a:prstGeom prst="rect">
            <a:avLst/>
          </a:prstGeom>
        </p:spPr>
      </p:pic>
      <p:sp>
        <p:nvSpPr>
          <p:cNvPr id="3"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98A2E"/>
                </a:solidFill>
                <a:latin typeface="Calibri" pitchFamily="34" charset="0"/>
                <a:ea typeface="Calibri" pitchFamily="34" charset="-122"/>
                <a:cs typeface="Calibri" pitchFamily="34" charset="-120"/>
              </a:rPr>
              <a:t>THE PLATFORM</a:t>
            </a:r>
            <a:endParaRPr lang="en-US" sz="1200" dirty="0"/>
          </a:p>
        </p:txBody>
      </p:sp>
      <p:sp>
        <p:nvSpPr>
          <p:cNvPr id="4" name="Text 1"/>
          <p:cNvSpPr txBox="1"/>
          <p:nvPr/>
        </p:nvSpPr>
        <p:spPr>
          <a:xfrm>
            <a:off x="548640" y="749808"/>
            <a:ext cx="9875520" cy="658368"/>
          </a:xfrm>
          <a:prstGeom prst="rect">
            <a:avLst/>
          </a:prstGeom>
          <a:noFill/>
          <a:ln/>
        </p:spPr>
        <p:txBody>
          <a:bodyPr wrap="square" lIns="0" tIns="0" rIns="0" bIns="0" rtlCol="0" anchor="ctr"/>
          <a:lstStyle/>
          <a:p>
            <a:pPr marL="0" indent="0">
              <a:buNone/>
            </a:pPr>
            <a:r>
              <a:rPr lang="en-US" sz="3200" b="1" dirty="0">
                <a:solidFill>
                  <a:srgbClr val="714B90"/>
                </a:solidFill>
                <a:latin typeface="Cambria" pitchFamily="34" charset="0"/>
                <a:ea typeface="Cambria" pitchFamily="34" charset="-122"/>
                <a:cs typeface="Cambria" pitchFamily="34" charset="-120"/>
              </a:rPr>
              <a:t>Meet Leoki</a:t>
            </a:r>
            <a:endParaRPr lang="en-US" sz="3200" dirty="0"/>
          </a:p>
        </p:txBody>
      </p:sp>
      <p:sp>
        <p:nvSpPr>
          <p:cNvPr id="5" name="Text 2"/>
          <p:cNvSpPr txBox="1"/>
          <p:nvPr/>
        </p:nvSpPr>
        <p:spPr>
          <a:xfrm>
            <a:off x="548640" y="1444752"/>
            <a:ext cx="11064240" cy="402336"/>
          </a:xfrm>
          <a:prstGeom prst="rect">
            <a:avLst/>
          </a:prstGeom>
          <a:noFill/>
          <a:ln/>
        </p:spPr>
        <p:txBody>
          <a:bodyPr wrap="square" lIns="0" tIns="0" rIns="0" bIns="0" rtlCol="0" anchor="ctr"/>
          <a:lstStyle/>
          <a:p>
            <a:pPr marL="0" indent="0">
              <a:buNone/>
            </a:pPr>
            <a:r>
              <a:rPr lang="en-US" sz="1600" i="1" dirty="0">
                <a:solidFill>
                  <a:srgbClr val="6E6579"/>
                </a:solidFill>
                <a:latin typeface="Calibri" pitchFamily="34" charset="0"/>
                <a:ea typeface="Calibri" pitchFamily="34" charset="-122"/>
                <a:cs typeface="Calibri" pitchFamily="34" charset="-120"/>
              </a:rPr>
              <a:t>A multilingual, voice-first AI Learning &amp; Intelligence Platform that connects the complete learning journey.</a:t>
            </a:r>
            <a:endParaRPr lang="en-US" sz="1600" dirty="0"/>
          </a:p>
        </p:txBody>
      </p:sp>
      <p:sp>
        <p:nvSpPr>
          <p:cNvPr id="6" name="Text 3"/>
          <p:cNvSpPr txBox="1"/>
          <p:nvPr/>
        </p:nvSpPr>
        <p:spPr>
          <a:xfrm>
            <a:off x="548640" y="6419088"/>
            <a:ext cx="5943600" cy="256032"/>
          </a:xfrm>
          <a:prstGeom prst="rect">
            <a:avLst/>
          </a:prstGeom>
          <a:noFill/>
          <a:ln/>
        </p:spPr>
        <p:txBody>
          <a:bodyPr wrap="square" lIns="0" tIns="0" rIns="0" bIns="0" rtlCol="0" anchor="ctr"/>
          <a:lstStyle/>
          <a:p>
            <a:pPr marL="0" indent="0">
              <a:buNone/>
            </a:pPr>
            <a:r>
              <a:rPr lang="en-US" sz="950" dirty="0">
                <a:solidFill>
                  <a:srgbClr val="A79DB2"/>
                </a:solidFill>
                <a:latin typeface="Calibri" pitchFamily="34" charset="0"/>
                <a:ea typeface="Calibri" pitchFamily="34" charset="-122"/>
                <a:cs typeface="Calibri" pitchFamily="34" charset="-120"/>
              </a:rPr>
              <a:t>Karmel AI Learning Programme  ·  Teacher Orientation</a:t>
            </a:r>
            <a:endParaRPr lang="en-US" sz="950" dirty="0"/>
          </a:p>
        </p:txBody>
      </p:sp>
      <p:sp>
        <p:nvSpPr>
          <p:cNvPr id="7" name="Text 4"/>
          <p:cNvSpPr txBox="1"/>
          <p:nvPr/>
        </p:nvSpPr>
        <p:spPr>
          <a:xfrm>
            <a:off x="10881360" y="6419088"/>
            <a:ext cx="758952" cy="256032"/>
          </a:xfrm>
          <a:prstGeom prst="rect">
            <a:avLst/>
          </a:prstGeom>
          <a:noFill/>
          <a:ln/>
        </p:spPr>
        <p:txBody>
          <a:bodyPr wrap="square" lIns="0" tIns="0" rIns="0" bIns="0" rtlCol="0" anchor="ctr"/>
          <a:lstStyle/>
          <a:p>
            <a:pPr marL="0" indent="0" algn="r">
              <a:buNone/>
            </a:pPr>
            <a:r>
              <a:rPr lang="en-US" sz="950" dirty="0">
                <a:solidFill>
                  <a:srgbClr val="A79DB2"/>
                </a:solidFill>
                <a:latin typeface="Calibri" pitchFamily="34" charset="0"/>
                <a:ea typeface="Calibri" pitchFamily="34" charset="-122"/>
                <a:cs typeface="Calibri" pitchFamily="34" charset="-120"/>
              </a:rPr>
              <a:t>3</a:t>
            </a:r>
            <a:endParaRPr lang="en-US" sz="950" dirty="0"/>
          </a:p>
        </p:txBody>
      </p:sp>
      <p:sp>
        <p:nvSpPr>
          <p:cNvPr id="8" name="Shape 5"/>
          <p:cNvSpPr/>
          <p:nvPr/>
        </p:nvSpPr>
        <p:spPr>
          <a:xfrm>
            <a:off x="566928" y="2011680"/>
            <a:ext cx="2487168" cy="2514600"/>
          </a:xfrm>
          <a:prstGeom prst="roundRect">
            <a:avLst>
              <a:gd name="adj" fmla="val 2941"/>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9" name="Shape 6"/>
          <p:cNvSpPr/>
          <p:nvPr/>
        </p:nvSpPr>
        <p:spPr>
          <a:xfrm>
            <a:off x="822960" y="2240280"/>
            <a:ext cx="566928" cy="566928"/>
          </a:xfrm>
          <a:prstGeom prst="ellipse">
            <a:avLst/>
          </a:prstGeom>
          <a:solidFill>
            <a:srgbClr val="714B90"/>
          </a:solidFill>
          <a:ln w="6350">
            <a:solidFill>
              <a:srgbClr val="714B90"/>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970361" y="2387681"/>
            <a:ext cx="272125" cy="272125"/>
          </a:xfrm>
          <a:prstGeom prst="rect">
            <a:avLst/>
          </a:prstGeom>
        </p:spPr>
      </p:pic>
      <p:sp>
        <p:nvSpPr>
          <p:cNvPr id="11" name="Text 7"/>
          <p:cNvSpPr txBox="1"/>
          <p:nvPr/>
        </p:nvSpPr>
        <p:spPr>
          <a:xfrm>
            <a:off x="822960" y="2926080"/>
            <a:ext cx="2029968" cy="237744"/>
          </a:xfrm>
          <a:prstGeom prst="rect">
            <a:avLst/>
          </a:prstGeom>
          <a:noFill/>
          <a:ln/>
        </p:spPr>
        <p:txBody>
          <a:bodyPr wrap="square" lIns="0" tIns="0" rIns="0" bIns="0" rtlCol="0" anchor="ctr"/>
          <a:lstStyle/>
          <a:p>
            <a:pPr marL="0" indent="0">
              <a:buNone/>
            </a:pPr>
            <a:r>
              <a:rPr lang="en-US" sz="1100" b="1" kern="0" spc="150" dirty="0">
                <a:solidFill>
                  <a:srgbClr val="BA802E"/>
                </a:solidFill>
                <a:latin typeface="Calibri" pitchFamily="34" charset="0"/>
                <a:ea typeface="Calibri" pitchFamily="34" charset="-122"/>
                <a:cs typeface="Calibri" pitchFamily="34" charset="-120"/>
              </a:rPr>
              <a:t>BEFORE CLASS</a:t>
            </a:r>
            <a:endParaRPr lang="en-US" sz="1100" dirty="0"/>
          </a:p>
        </p:txBody>
      </p:sp>
      <p:sp>
        <p:nvSpPr>
          <p:cNvPr id="12" name="Text 8"/>
          <p:cNvSpPr txBox="1"/>
          <p:nvPr/>
        </p:nvSpPr>
        <p:spPr>
          <a:xfrm>
            <a:off x="822960" y="3163824"/>
            <a:ext cx="2029968" cy="411480"/>
          </a:xfrm>
          <a:prstGeom prst="rect">
            <a:avLst/>
          </a:prstGeom>
          <a:noFill/>
          <a:ln/>
        </p:spPr>
        <p:txBody>
          <a:bodyPr wrap="square" lIns="0" tIns="0" rIns="0" bIns="0" rtlCol="0" anchor="ctr"/>
          <a:lstStyle/>
          <a:p>
            <a:pPr marL="0" indent="0">
              <a:buNone/>
            </a:pPr>
            <a:r>
              <a:rPr lang="en-US" sz="2200" b="1" dirty="0">
                <a:solidFill>
                  <a:srgbClr val="714B90"/>
                </a:solidFill>
                <a:latin typeface="Cambria" pitchFamily="34" charset="0"/>
                <a:ea typeface="Cambria" pitchFamily="34" charset="-122"/>
                <a:cs typeface="Cambria" pitchFamily="34" charset="-120"/>
              </a:rPr>
              <a:t>Prepare</a:t>
            </a:r>
            <a:endParaRPr lang="en-US" sz="2200" dirty="0"/>
          </a:p>
        </p:txBody>
      </p:sp>
      <p:sp>
        <p:nvSpPr>
          <p:cNvPr id="13" name="Text 9"/>
          <p:cNvSpPr txBox="1"/>
          <p:nvPr/>
        </p:nvSpPr>
        <p:spPr>
          <a:xfrm>
            <a:off x="822960" y="3611880"/>
            <a:ext cx="2029968" cy="841248"/>
          </a:xfrm>
          <a:prstGeom prst="rect">
            <a:avLst/>
          </a:prstGeom>
          <a:noFill/>
          <a:ln/>
        </p:spPr>
        <p:txBody>
          <a:bodyPr wrap="square" lIns="0" tIns="0" rIns="0" bIns="0" rtlCol="0" anchor="t"/>
          <a:lstStyle/>
          <a:p>
            <a:pPr marL="0" indent="0">
              <a:buNone/>
            </a:pPr>
            <a:r>
              <a:rPr lang="en-US" sz="1300" dirty="0">
                <a:solidFill>
                  <a:srgbClr val="241E2A"/>
                </a:solidFill>
                <a:latin typeface="Calibri" pitchFamily="34" charset="0"/>
                <a:ea typeface="Calibri" pitchFamily="34" charset="-122"/>
                <a:cs typeface="Calibri" pitchFamily="34" charset="-120"/>
              </a:rPr>
              <a:t>Lesson plans, teaching aids, worksheets and assessments, grounded in the curriculum.</a:t>
            </a:r>
            <a:endParaRPr lang="en-US" sz="1300" dirty="0"/>
          </a:p>
        </p:txBody>
      </p:sp>
      <p:sp>
        <p:nvSpPr>
          <p:cNvPr id="14" name="Text 10"/>
          <p:cNvSpPr txBox="1"/>
          <p:nvPr/>
        </p:nvSpPr>
        <p:spPr>
          <a:xfrm>
            <a:off x="3054096" y="3017520"/>
            <a:ext cx="374904" cy="457200"/>
          </a:xfrm>
          <a:prstGeom prst="rect">
            <a:avLst/>
          </a:prstGeom>
          <a:noFill/>
          <a:ln/>
        </p:spPr>
        <p:txBody>
          <a:bodyPr wrap="square" lIns="0" tIns="0" rIns="0" bIns="0" rtlCol="0" anchor="ctr"/>
          <a:lstStyle/>
          <a:p>
            <a:pPr marL="0" indent="0" algn="ctr">
              <a:buNone/>
            </a:pPr>
            <a:r>
              <a:rPr lang="en-US" sz="2200" b="1" dirty="0">
                <a:solidFill>
                  <a:srgbClr val="C98A2E"/>
                </a:solidFill>
                <a:latin typeface="Calibri" pitchFamily="34" charset="0"/>
                <a:ea typeface="Calibri" pitchFamily="34" charset="-122"/>
                <a:cs typeface="Calibri" pitchFamily="34" charset="-120"/>
              </a:rPr>
              <a:t>→</a:t>
            </a:r>
            <a:endParaRPr lang="en-US" sz="2200" dirty="0"/>
          </a:p>
        </p:txBody>
      </p:sp>
      <p:sp>
        <p:nvSpPr>
          <p:cNvPr id="15" name="Shape 11"/>
          <p:cNvSpPr/>
          <p:nvPr/>
        </p:nvSpPr>
        <p:spPr>
          <a:xfrm>
            <a:off x="3429000" y="2011680"/>
            <a:ext cx="2487168" cy="2514600"/>
          </a:xfrm>
          <a:prstGeom prst="roundRect">
            <a:avLst>
              <a:gd name="adj" fmla="val 2941"/>
            </a:avLst>
          </a:prstGeom>
          <a:solidFill>
            <a:srgbClr val="F4F0F9"/>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16" name="Shape 12"/>
          <p:cNvSpPr/>
          <p:nvPr/>
        </p:nvSpPr>
        <p:spPr>
          <a:xfrm>
            <a:off x="3685032" y="2240280"/>
            <a:ext cx="566928" cy="566928"/>
          </a:xfrm>
          <a:prstGeom prst="ellipse">
            <a:avLst/>
          </a:prstGeom>
          <a:solidFill>
            <a:srgbClr val="714B90"/>
          </a:solidFill>
          <a:ln w="6350">
            <a:solidFill>
              <a:srgbClr val="714B90"/>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3832433" y="2387681"/>
            <a:ext cx="272125" cy="272125"/>
          </a:xfrm>
          <a:prstGeom prst="rect">
            <a:avLst/>
          </a:prstGeom>
        </p:spPr>
      </p:pic>
      <p:sp>
        <p:nvSpPr>
          <p:cNvPr id="18" name="Text 13"/>
          <p:cNvSpPr txBox="1"/>
          <p:nvPr/>
        </p:nvSpPr>
        <p:spPr>
          <a:xfrm>
            <a:off x="3685032" y="2926080"/>
            <a:ext cx="2029968" cy="237744"/>
          </a:xfrm>
          <a:prstGeom prst="rect">
            <a:avLst/>
          </a:prstGeom>
          <a:noFill/>
          <a:ln/>
        </p:spPr>
        <p:txBody>
          <a:bodyPr wrap="square" lIns="0" tIns="0" rIns="0" bIns="0" rtlCol="0" anchor="ctr"/>
          <a:lstStyle/>
          <a:p>
            <a:pPr marL="0" indent="0">
              <a:buNone/>
            </a:pPr>
            <a:r>
              <a:rPr lang="en-US" sz="1100" b="1" kern="0" spc="150" dirty="0">
                <a:solidFill>
                  <a:srgbClr val="BA802E"/>
                </a:solidFill>
                <a:latin typeface="Calibri" pitchFamily="34" charset="0"/>
                <a:ea typeface="Calibri" pitchFamily="34" charset="-122"/>
                <a:cs typeface="Calibri" pitchFamily="34" charset="-120"/>
              </a:rPr>
              <a:t>DURING CLASS</a:t>
            </a:r>
            <a:endParaRPr lang="en-US" sz="1100" dirty="0"/>
          </a:p>
        </p:txBody>
      </p:sp>
      <p:sp>
        <p:nvSpPr>
          <p:cNvPr id="19" name="Text 14"/>
          <p:cNvSpPr txBox="1"/>
          <p:nvPr/>
        </p:nvSpPr>
        <p:spPr>
          <a:xfrm>
            <a:off x="3685032" y="3163824"/>
            <a:ext cx="2029968" cy="411480"/>
          </a:xfrm>
          <a:prstGeom prst="rect">
            <a:avLst/>
          </a:prstGeom>
          <a:noFill/>
          <a:ln/>
        </p:spPr>
        <p:txBody>
          <a:bodyPr wrap="square" lIns="0" tIns="0" rIns="0" bIns="0" rtlCol="0" anchor="ctr"/>
          <a:lstStyle/>
          <a:p>
            <a:pPr marL="0" indent="0">
              <a:buNone/>
            </a:pPr>
            <a:r>
              <a:rPr lang="en-US" sz="2200" b="1" dirty="0">
                <a:solidFill>
                  <a:srgbClr val="714B90"/>
                </a:solidFill>
                <a:latin typeface="Cambria" pitchFamily="34" charset="0"/>
                <a:ea typeface="Cambria" pitchFamily="34" charset="-122"/>
                <a:cs typeface="Cambria" pitchFamily="34" charset="-120"/>
              </a:rPr>
              <a:t>Teach</a:t>
            </a:r>
            <a:endParaRPr lang="en-US" sz="2200" dirty="0"/>
          </a:p>
        </p:txBody>
      </p:sp>
      <p:sp>
        <p:nvSpPr>
          <p:cNvPr id="20" name="Text 15"/>
          <p:cNvSpPr txBox="1"/>
          <p:nvPr/>
        </p:nvSpPr>
        <p:spPr>
          <a:xfrm>
            <a:off x="3685032" y="3611880"/>
            <a:ext cx="2029968" cy="841248"/>
          </a:xfrm>
          <a:prstGeom prst="rect">
            <a:avLst/>
          </a:prstGeom>
          <a:noFill/>
          <a:ln/>
        </p:spPr>
        <p:txBody>
          <a:bodyPr wrap="square" lIns="0" tIns="0" rIns="0" bIns="0" rtlCol="0" anchor="t"/>
          <a:lstStyle/>
          <a:p>
            <a:pPr marL="0" indent="0">
              <a:buNone/>
            </a:pPr>
            <a:r>
              <a:rPr lang="en-US" sz="1300" dirty="0">
                <a:solidFill>
                  <a:srgbClr val="241E2A"/>
                </a:solidFill>
                <a:latin typeface="Calibri" pitchFamily="34" charset="0"/>
                <a:ea typeface="Calibri" pitchFamily="34" charset="-122"/>
                <a:cs typeface="Calibri" pitchFamily="34" charset="-120"/>
              </a:rPr>
              <a:t>Teacher-controlled Classroom Mode on the shared screen, with natural voice interaction.</a:t>
            </a:r>
            <a:endParaRPr lang="en-US" sz="1300" dirty="0"/>
          </a:p>
        </p:txBody>
      </p:sp>
      <p:sp>
        <p:nvSpPr>
          <p:cNvPr id="21" name="Text 16"/>
          <p:cNvSpPr txBox="1"/>
          <p:nvPr/>
        </p:nvSpPr>
        <p:spPr>
          <a:xfrm>
            <a:off x="5916168" y="3017520"/>
            <a:ext cx="374904" cy="457200"/>
          </a:xfrm>
          <a:prstGeom prst="rect">
            <a:avLst/>
          </a:prstGeom>
          <a:noFill/>
          <a:ln/>
        </p:spPr>
        <p:txBody>
          <a:bodyPr wrap="square" lIns="0" tIns="0" rIns="0" bIns="0" rtlCol="0" anchor="ctr"/>
          <a:lstStyle/>
          <a:p>
            <a:pPr marL="0" indent="0" algn="ctr">
              <a:buNone/>
            </a:pPr>
            <a:r>
              <a:rPr lang="en-US" sz="2200" b="1" dirty="0">
                <a:solidFill>
                  <a:srgbClr val="C98A2E"/>
                </a:solidFill>
                <a:latin typeface="Calibri" pitchFamily="34" charset="0"/>
                <a:ea typeface="Calibri" pitchFamily="34" charset="-122"/>
                <a:cs typeface="Calibri" pitchFamily="34" charset="-120"/>
              </a:rPr>
              <a:t>→</a:t>
            </a:r>
            <a:endParaRPr lang="en-US" sz="2200" dirty="0"/>
          </a:p>
        </p:txBody>
      </p:sp>
      <p:sp>
        <p:nvSpPr>
          <p:cNvPr id="22" name="Shape 17"/>
          <p:cNvSpPr/>
          <p:nvPr/>
        </p:nvSpPr>
        <p:spPr>
          <a:xfrm>
            <a:off x="6291072" y="2011680"/>
            <a:ext cx="2487168" cy="2514600"/>
          </a:xfrm>
          <a:prstGeom prst="roundRect">
            <a:avLst>
              <a:gd name="adj" fmla="val 2941"/>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23" name="Shape 18"/>
          <p:cNvSpPr/>
          <p:nvPr/>
        </p:nvSpPr>
        <p:spPr>
          <a:xfrm>
            <a:off x="6547104" y="2240280"/>
            <a:ext cx="566928" cy="566928"/>
          </a:xfrm>
          <a:prstGeom prst="ellipse">
            <a:avLst/>
          </a:prstGeom>
          <a:solidFill>
            <a:srgbClr val="714B90"/>
          </a:solidFill>
          <a:ln w="6350">
            <a:solidFill>
              <a:srgbClr val="714B90"/>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6694505" y="2387681"/>
            <a:ext cx="272125" cy="272125"/>
          </a:xfrm>
          <a:prstGeom prst="rect">
            <a:avLst/>
          </a:prstGeom>
        </p:spPr>
      </p:pic>
      <p:sp>
        <p:nvSpPr>
          <p:cNvPr id="25" name="Text 19"/>
          <p:cNvSpPr txBox="1"/>
          <p:nvPr/>
        </p:nvSpPr>
        <p:spPr>
          <a:xfrm>
            <a:off x="6547104" y="2926080"/>
            <a:ext cx="2029968" cy="237744"/>
          </a:xfrm>
          <a:prstGeom prst="rect">
            <a:avLst/>
          </a:prstGeom>
          <a:noFill/>
          <a:ln/>
        </p:spPr>
        <p:txBody>
          <a:bodyPr wrap="square" lIns="0" tIns="0" rIns="0" bIns="0" rtlCol="0" anchor="ctr"/>
          <a:lstStyle/>
          <a:p>
            <a:pPr marL="0" indent="0">
              <a:buNone/>
            </a:pPr>
            <a:r>
              <a:rPr lang="en-US" sz="1100" b="1" kern="0" spc="150" dirty="0">
                <a:solidFill>
                  <a:srgbClr val="BA802E"/>
                </a:solidFill>
                <a:latin typeface="Calibri" pitchFamily="34" charset="0"/>
                <a:ea typeface="Calibri" pitchFamily="34" charset="-122"/>
                <a:cs typeface="Calibri" pitchFamily="34" charset="-120"/>
              </a:rPr>
              <a:t>AFTER CLASS</a:t>
            </a:r>
            <a:endParaRPr lang="en-US" sz="1100" dirty="0"/>
          </a:p>
        </p:txBody>
      </p:sp>
      <p:sp>
        <p:nvSpPr>
          <p:cNvPr id="26" name="Text 20"/>
          <p:cNvSpPr txBox="1"/>
          <p:nvPr/>
        </p:nvSpPr>
        <p:spPr>
          <a:xfrm>
            <a:off x="6547104" y="3163824"/>
            <a:ext cx="2029968" cy="411480"/>
          </a:xfrm>
          <a:prstGeom prst="rect">
            <a:avLst/>
          </a:prstGeom>
          <a:noFill/>
          <a:ln/>
        </p:spPr>
        <p:txBody>
          <a:bodyPr wrap="square" lIns="0" tIns="0" rIns="0" bIns="0" rtlCol="0" anchor="ctr"/>
          <a:lstStyle/>
          <a:p>
            <a:pPr marL="0" indent="0">
              <a:buNone/>
            </a:pPr>
            <a:r>
              <a:rPr lang="en-US" sz="2200" b="1" dirty="0">
                <a:solidFill>
                  <a:srgbClr val="714B90"/>
                </a:solidFill>
                <a:latin typeface="Cambria" pitchFamily="34" charset="0"/>
                <a:ea typeface="Cambria" pitchFamily="34" charset="-122"/>
                <a:cs typeface="Cambria" pitchFamily="34" charset="-120"/>
              </a:rPr>
              <a:t>Reflect</a:t>
            </a:r>
            <a:endParaRPr lang="en-US" sz="2200" dirty="0"/>
          </a:p>
        </p:txBody>
      </p:sp>
      <p:sp>
        <p:nvSpPr>
          <p:cNvPr id="27" name="Text 21"/>
          <p:cNvSpPr txBox="1"/>
          <p:nvPr/>
        </p:nvSpPr>
        <p:spPr>
          <a:xfrm>
            <a:off x="6547104" y="3611880"/>
            <a:ext cx="2029968" cy="841248"/>
          </a:xfrm>
          <a:prstGeom prst="rect">
            <a:avLst/>
          </a:prstGeom>
          <a:noFill/>
          <a:ln/>
        </p:spPr>
        <p:txBody>
          <a:bodyPr wrap="square" lIns="0" tIns="0" rIns="0" bIns="0" rtlCol="0" anchor="t"/>
          <a:lstStyle/>
          <a:p>
            <a:pPr marL="0" indent="0">
              <a:buNone/>
            </a:pPr>
            <a:r>
              <a:rPr lang="en-US" sz="1300" dirty="0">
                <a:solidFill>
                  <a:srgbClr val="241E2A"/>
                </a:solidFill>
                <a:latin typeface="Calibri" pitchFamily="34" charset="0"/>
                <a:ea typeface="Calibri" pitchFamily="34" charset="-122"/>
                <a:cs typeface="Calibri" pitchFamily="34" charset="-120"/>
              </a:rPr>
              <a:t>Insights on what worked, concepts to reinforce and questions students raised.</a:t>
            </a:r>
            <a:endParaRPr lang="en-US" sz="1300" dirty="0"/>
          </a:p>
        </p:txBody>
      </p:sp>
      <p:sp>
        <p:nvSpPr>
          <p:cNvPr id="28" name="Text 22"/>
          <p:cNvSpPr txBox="1"/>
          <p:nvPr/>
        </p:nvSpPr>
        <p:spPr>
          <a:xfrm>
            <a:off x="8778240" y="3017520"/>
            <a:ext cx="374904" cy="457200"/>
          </a:xfrm>
          <a:prstGeom prst="rect">
            <a:avLst/>
          </a:prstGeom>
          <a:noFill/>
          <a:ln/>
        </p:spPr>
        <p:txBody>
          <a:bodyPr wrap="square" lIns="0" tIns="0" rIns="0" bIns="0" rtlCol="0" anchor="ctr"/>
          <a:lstStyle/>
          <a:p>
            <a:pPr marL="0" indent="0" algn="ctr">
              <a:buNone/>
            </a:pPr>
            <a:r>
              <a:rPr lang="en-US" sz="2200" b="1" dirty="0">
                <a:solidFill>
                  <a:srgbClr val="C98A2E"/>
                </a:solidFill>
                <a:latin typeface="Calibri" pitchFamily="34" charset="0"/>
                <a:ea typeface="Calibri" pitchFamily="34" charset="-122"/>
                <a:cs typeface="Calibri" pitchFamily="34" charset="-120"/>
              </a:rPr>
              <a:t>→</a:t>
            </a:r>
            <a:endParaRPr lang="en-US" sz="2200" dirty="0"/>
          </a:p>
        </p:txBody>
      </p:sp>
      <p:sp>
        <p:nvSpPr>
          <p:cNvPr id="29" name="Shape 23"/>
          <p:cNvSpPr/>
          <p:nvPr/>
        </p:nvSpPr>
        <p:spPr>
          <a:xfrm>
            <a:off x="9153144" y="2011680"/>
            <a:ext cx="2487168" cy="2514600"/>
          </a:xfrm>
          <a:prstGeom prst="roundRect">
            <a:avLst>
              <a:gd name="adj" fmla="val 2941"/>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30" name="Shape 24"/>
          <p:cNvSpPr/>
          <p:nvPr/>
        </p:nvSpPr>
        <p:spPr>
          <a:xfrm>
            <a:off x="9409176" y="2240280"/>
            <a:ext cx="566928" cy="566928"/>
          </a:xfrm>
          <a:prstGeom prst="ellipse">
            <a:avLst/>
          </a:prstGeom>
          <a:solidFill>
            <a:srgbClr val="714B90"/>
          </a:solidFill>
          <a:ln w="6350">
            <a:solidFill>
              <a:srgbClr val="714B90"/>
            </a:solidFill>
            <a:prstDash val="solid"/>
          </a:ln>
        </p:spPr>
        <p:txBody>
          <a:bodyPr/>
          <a:lstStyle/>
          <a:p>
            <a:endParaRPr lang="en-IN"/>
          </a:p>
        </p:txBody>
      </p:sp>
      <p:pic>
        <p:nvPicPr>
          <p:cNvPr id="31" name="Image 4" descr="preencoded.png"/>
          <p:cNvPicPr>
            <a:picLocks noChangeAspect="1"/>
          </p:cNvPicPr>
          <p:nvPr/>
        </p:nvPicPr>
        <p:blipFill>
          <a:blip r:embed="rId7"/>
          <a:stretch>
            <a:fillRect/>
          </a:stretch>
        </p:blipFill>
        <p:spPr>
          <a:xfrm>
            <a:off x="9556577" y="2387681"/>
            <a:ext cx="272125" cy="272125"/>
          </a:xfrm>
          <a:prstGeom prst="rect">
            <a:avLst/>
          </a:prstGeom>
        </p:spPr>
      </p:pic>
      <p:sp>
        <p:nvSpPr>
          <p:cNvPr id="32" name="Text 25"/>
          <p:cNvSpPr txBox="1"/>
          <p:nvPr/>
        </p:nvSpPr>
        <p:spPr>
          <a:xfrm>
            <a:off x="9409176" y="2926080"/>
            <a:ext cx="2029968" cy="237744"/>
          </a:xfrm>
          <a:prstGeom prst="rect">
            <a:avLst/>
          </a:prstGeom>
          <a:noFill/>
          <a:ln/>
        </p:spPr>
        <p:txBody>
          <a:bodyPr wrap="square" lIns="0" tIns="0" rIns="0" bIns="0" rtlCol="0" anchor="ctr"/>
          <a:lstStyle/>
          <a:p>
            <a:pPr marL="0" indent="0">
              <a:buNone/>
            </a:pPr>
            <a:r>
              <a:rPr lang="en-US" sz="1100" b="1" kern="0" spc="150" dirty="0">
                <a:solidFill>
                  <a:srgbClr val="BA802E"/>
                </a:solidFill>
                <a:latin typeface="Calibri" pitchFamily="34" charset="0"/>
                <a:ea typeface="Calibri" pitchFamily="34" charset="-122"/>
                <a:cs typeface="Calibri" pitchFamily="34" charset="-120"/>
              </a:rPr>
              <a:t>AT HOME</a:t>
            </a:r>
            <a:endParaRPr lang="en-US" sz="1100" dirty="0"/>
          </a:p>
        </p:txBody>
      </p:sp>
      <p:sp>
        <p:nvSpPr>
          <p:cNvPr id="33" name="Text 26"/>
          <p:cNvSpPr txBox="1"/>
          <p:nvPr/>
        </p:nvSpPr>
        <p:spPr>
          <a:xfrm>
            <a:off x="9409176" y="3163824"/>
            <a:ext cx="2029968" cy="411480"/>
          </a:xfrm>
          <a:prstGeom prst="rect">
            <a:avLst/>
          </a:prstGeom>
          <a:noFill/>
          <a:ln/>
        </p:spPr>
        <p:txBody>
          <a:bodyPr wrap="square" lIns="0" tIns="0" rIns="0" bIns="0" rtlCol="0" anchor="ctr"/>
          <a:lstStyle/>
          <a:p>
            <a:pPr marL="0" indent="0">
              <a:buNone/>
            </a:pPr>
            <a:r>
              <a:rPr lang="en-US" sz="2200" b="1" dirty="0">
                <a:solidFill>
                  <a:srgbClr val="714B90"/>
                </a:solidFill>
                <a:latin typeface="Cambria" pitchFamily="34" charset="0"/>
                <a:ea typeface="Cambria" pitchFamily="34" charset="-122"/>
                <a:cs typeface="Cambria" pitchFamily="34" charset="-120"/>
              </a:rPr>
              <a:t>Learn</a:t>
            </a:r>
            <a:endParaRPr lang="en-US" sz="2200" dirty="0"/>
          </a:p>
        </p:txBody>
      </p:sp>
      <p:sp>
        <p:nvSpPr>
          <p:cNvPr id="34" name="Text 27"/>
          <p:cNvSpPr txBox="1"/>
          <p:nvPr/>
        </p:nvSpPr>
        <p:spPr>
          <a:xfrm>
            <a:off x="9409176" y="3611880"/>
            <a:ext cx="2029968" cy="841248"/>
          </a:xfrm>
          <a:prstGeom prst="rect">
            <a:avLst/>
          </a:prstGeom>
          <a:noFill/>
          <a:ln/>
        </p:spPr>
        <p:txBody>
          <a:bodyPr wrap="square" lIns="0" tIns="0" rIns="0" bIns="0" rtlCol="0" anchor="t"/>
          <a:lstStyle/>
          <a:p>
            <a:pPr marL="0" indent="0">
              <a:buNone/>
            </a:pPr>
            <a:r>
              <a:rPr lang="en-US" sz="1300" dirty="0">
                <a:solidFill>
                  <a:srgbClr val="241E2A"/>
                </a:solidFill>
                <a:latin typeface="Calibri" pitchFamily="34" charset="0"/>
                <a:ea typeface="Calibri" pitchFamily="34" charset="-122"/>
                <a:cs typeface="Calibri" pitchFamily="34" charset="-120"/>
              </a:rPr>
              <a:t>Students revise, practise and clear doubts through voice, text and images.</a:t>
            </a:r>
            <a:endParaRPr lang="en-US" sz="1300" dirty="0"/>
          </a:p>
        </p:txBody>
      </p:sp>
      <p:sp>
        <p:nvSpPr>
          <p:cNvPr id="35" name="Shape 28"/>
          <p:cNvSpPr/>
          <p:nvPr/>
        </p:nvSpPr>
        <p:spPr>
          <a:xfrm>
            <a:off x="566928" y="4709160"/>
            <a:ext cx="11064240" cy="822960"/>
          </a:xfrm>
          <a:prstGeom prst="roundRect">
            <a:avLst>
              <a:gd name="adj" fmla="val 8889"/>
            </a:avLst>
          </a:prstGeom>
          <a:solidFill>
            <a:srgbClr val="714B90"/>
          </a:solidFill>
          <a:ln w="6350">
            <a:solidFill>
              <a:srgbClr val="714B90"/>
            </a:solidFill>
            <a:prstDash val="solid"/>
          </a:ln>
        </p:spPr>
        <p:txBody>
          <a:bodyPr/>
          <a:lstStyle/>
          <a:p>
            <a:endParaRPr lang="en-IN"/>
          </a:p>
        </p:txBody>
      </p:sp>
      <p:sp>
        <p:nvSpPr>
          <p:cNvPr id="36" name="Shape 29"/>
          <p:cNvSpPr/>
          <p:nvPr/>
        </p:nvSpPr>
        <p:spPr>
          <a:xfrm>
            <a:off x="804672" y="4837176"/>
            <a:ext cx="566928" cy="566928"/>
          </a:xfrm>
          <a:prstGeom prst="ellipse">
            <a:avLst/>
          </a:prstGeom>
          <a:solidFill>
            <a:srgbClr val="2C1B3D"/>
          </a:solidFill>
          <a:ln w="6350">
            <a:solidFill>
              <a:srgbClr val="2C1B3D"/>
            </a:solidFill>
            <a:prstDash val="solid"/>
          </a:ln>
        </p:spPr>
        <p:txBody>
          <a:bodyPr/>
          <a:lstStyle/>
          <a:p>
            <a:endParaRPr lang="en-IN"/>
          </a:p>
        </p:txBody>
      </p:sp>
      <p:pic>
        <p:nvPicPr>
          <p:cNvPr id="37" name="Image 5" descr="preencoded.png"/>
          <p:cNvPicPr>
            <a:picLocks noChangeAspect="1"/>
          </p:cNvPicPr>
          <p:nvPr/>
        </p:nvPicPr>
        <p:blipFill>
          <a:blip r:embed="rId8"/>
          <a:stretch>
            <a:fillRect/>
          </a:stretch>
        </p:blipFill>
        <p:spPr>
          <a:xfrm>
            <a:off x="957743" y="4990247"/>
            <a:ext cx="260787" cy="260787"/>
          </a:xfrm>
          <a:prstGeom prst="rect">
            <a:avLst/>
          </a:prstGeom>
        </p:spPr>
      </p:pic>
      <p:sp>
        <p:nvSpPr>
          <p:cNvPr id="38" name="Text 30"/>
          <p:cNvSpPr txBox="1"/>
          <p:nvPr/>
        </p:nvSpPr>
        <p:spPr>
          <a:xfrm>
            <a:off x="1572768" y="4800600"/>
            <a:ext cx="5486400" cy="237744"/>
          </a:xfrm>
          <a:prstGeom prst="rect">
            <a:avLst/>
          </a:prstGeom>
          <a:noFill/>
          <a:ln/>
        </p:spPr>
        <p:txBody>
          <a:bodyPr wrap="square" lIns="0" tIns="0" rIns="0" bIns="0" rtlCol="0" anchor="ctr"/>
          <a:lstStyle/>
          <a:p>
            <a:pPr marL="0" indent="0">
              <a:buNone/>
            </a:pPr>
            <a:r>
              <a:rPr lang="en-US" sz="1100" b="1" kern="0" spc="150" dirty="0">
                <a:solidFill>
                  <a:srgbClr val="C98A2E"/>
                </a:solidFill>
                <a:latin typeface="Calibri" pitchFamily="34" charset="0"/>
                <a:ea typeface="Calibri" pitchFamily="34" charset="-122"/>
                <a:cs typeface="Calibri" pitchFamily="34" charset="-120"/>
              </a:rPr>
              <a:t>LEARNING INTELLIGENCE</a:t>
            </a:r>
            <a:endParaRPr lang="en-US" sz="1100" dirty="0"/>
          </a:p>
        </p:txBody>
      </p:sp>
      <p:sp>
        <p:nvSpPr>
          <p:cNvPr id="39" name="Text 31"/>
          <p:cNvSpPr txBox="1"/>
          <p:nvPr/>
        </p:nvSpPr>
        <p:spPr>
          <a:xfrm>
            <a:off x="1572768" y="5029200"/>
            <a:ext cx="9875520" cy="438912"/>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Classroom, teacher and home activity feed one connected layer that tracks progress, mastery and learning needs, so every lesson can inform the next.</a:t>
            </a:r>
            <a:endParaRPr lang="en-US" sz="1350" dirty="0"/>
          </a:p>
        </p:txBody>
      </p:sp>
      <p:sp>
        <p:nvSpPr>
          <p:cNvPr id="40" name="Shape 32"/>
          <p:cNvSpPr/>
          <p:nvPr/>
        </p:nvSpPr>
        <p:spPr>
          <a:xfrm>
            <a:off x="815188" y="5715000"/>
            <a:ext cx="2468880" cy="384048"/>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41" name="Text 33"/>
          <p:cNvSpPr txBox="1"/>
          <p:nvPr/>
        </p:nvSpPr>
        <p:spPr>
          <a:xfrm>
            <a:off x="815188" y="5715000"/>
            <a:ext cx="2468880" cy="384048"/>
          </a:xfrm>
          <a:prstGeom prst="rect">
            <a:avLst/>
          </a:prstGeom>
          <a:noFill/>
          <a:ln/>
        </p:spPr>
        <p:txBody>
          <a:bodyPr wrap="square" lIns="0" tIns="0" rIns="0" bIns="0" rtlCol="0" anchor="ctr"/>
          <a:lstStyle/>
          <a:p>
            <a:pPr marL="0" indent="0" algn="ctr">
              <a:buNone/>
            </a:pPr>
            <a:r>
              <a:rPr lang="en-US" sz="1300" b="1" dirty="0">
                <a:solidFill>
                  <a:srgbClr val="714B90"/>
                </a:solidFill>
                <a:latin typeface="Calibri" pitchFamily="34" charset="0"/>
                <a:ea typeface="Calibri" pitchFamily="34" charset="-122"/>
                <a:cs typeface="Calibri" pitchFamily="34" charset="-120"/>
              </a:rPr>
              <a:t>Voice-first</a:t>
            </a:r>
            <a:endParaRPr lang="en-US" sz="1300" dirty="0"/>
          </a:p>
        </p:txBody>
      </p:sp>
      <p:sp>
        <p:nvSpPr>
          <p:cNvPr id="42" name="Shape 34"/>
          <p:cNvSpPr/>
          <p:nvPr/>
        </p:nvSpPr>
        <p:spPr>
          <a:xfrm>
            <a:off x="3512668" y="5715000"/>
            <a:ext cx="2468880" cy="384048"/>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43" name="Text 35"/>
          <p:cNvSpPr txBox="1"/>
          <p:nvPr/>
        </p:nvSpPr>
        <p:spPr>
          <a:xfrm>
            <a:off x="3512668" y="5715000"/>
            <a:ext cx="2468880" cy="384048"/>
          </a:xfrm>
          <a:prstGeom prst="rect">
            <a:avLst/>
          </a:prstGeom>
          <a:noFill/>
          <a:ln/>
        </p:spPr>
        <p:txBody>
          <a:bodyPr wrap="square" lIns="0" tIns="0" rIns="0" bIns="0" rtlCol="0" anchor="ctr"/>
          <a:lstStyle/>
          <a:p>
            <a:pPr marL="0" indent="0" algn="ctr">
              <a:buNone/>
            </a:pPr>
            <a:r>
              <a:rPr lang="en-US" sz="1300" b="1" dirty="0">
                <a:solidFill>
                  <a:srgbClr val="714B90"/>
                </a:solidFill>
                <a:latin typeface="Calibri" pitchFamily="34" charset="0"/>
                <a:ea typeface="Calibri" pitchFamily="34" charset="-122"/>
                <a:cs typeface="Calibri" pitchFamily="34" charset="-120"/>
              </a:rPr>
              <a:t>12+ Indian languages</a:t>
            </a:r>
            <a:endParaRPr lang="en-US" sz="1300" dirty="0"/>
          </a:p>
        </p:txBody>
      </p:sp>
      <p:sp>
        <p:nvSpPr>
          <p:cNvPr id="44" name="Shape 36"/>
          <p:cNvSpPr/>
          <p:nvPr/>
        </p:nvSpPr>
        <p:spPr>
          <a:xfrm>
            <a:off x="6210148" y="5715000"/>
            <a:ext cx="2468880" cy="384048"/>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45" name="Text 37"/>
          <p:cNvSpPr txBox="1"/>
          <p:nvPr/>
        </p:nvSpPr>
        <p:spPr>
          <a:xfrm>
            <a:off x="6210148" y="5715000"/>
            <a:ext cx="2468880" cy="384048"/>
          </a:xfrm>
          <a:prstGeom prst="rect">
            <a:avLst/>
          </a:prstGeom>
          <a:noFill/>
          <a:ln/>
        </p:spPr>
        <p:txBody>
          <a:bodyPr wrap="square" lIns="0" tIns="0" rIns="0" bIns="0" rtlCol="0" anchor="ctr"/>
          <a:lstStyle/>
          <a:p>
            <a:pPr marL="0" indent="0" algn="ctr">
              <a:buNone/>
            </a:pPr>
            <a:r>
              <a:rPr lang="en-US" sz="1300" b="1" dirty="0">
                <a:solidFill>
                  <a:srgbClr val="714B90"/>
                </a:solidFill>
                <a:latin typeface="Calibri" pitchFamily="34" charset="0"/>
                <a:ea typeface="Calibri" pitchFamily="34" charset="-122"/>
                <a:cs typeface="Calibri" pitchFamily="34" charset="-120"/>
              </a:rPr>
              <a:t>Curriculum-grounded</a:t>
            </a:r>
            <a:endParaRPr lang="en-US" sz="1300" dirty="0"/>
          </a:p>
        </p:txBody>
      </p:sp>
      <p:sp>
        <p:nvSpPr>
          <p:cNvPr id="46" name="Shape 38"/>
          <p:cNvSpPr/>
          <p:nvPr/>
        </p:nvSpPr>
        <p:spPr>
          <a:xfrm>
            <a:off x="8907628" y="5715000"/>
            <a:ext cx="2468880" cy="384048"/>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47" name="Text 39"/>
          <p:cNvSpPr txBox="1"/>
          <p:nvPr/>
        </p:nvSpPr>
        <p:spPr>
          <a:xfrm>
            <a:off x="8907628" y="5715000"/>
            <a:ext cx="2468880" cy="384048"/>
          </a:xfrm>
          <a:prstGeom prst="rect">
            <a:avLst/>
          </a:prstGeom>
          <a:noFill/>
          <a:ln/>
        </p:spPr>
        <p:txBody>
          <a:bodyPr wrap="square" lIns="0" tIns="0" rIns="0" bIns="0" rtlCol="0" anchor="ctr"/>
          <a:lstStyle/>
          <a:p>
            <a:pPr marL="0" indent="0" algn="ctr">
              <a:buNone/>
            </a:pPr>
            <a:r>
              <a:rPr lang="en-US" sz="1300" b="1" dirty="0">
                <a:solidFill>
                  <a:srgbClr val="714B90"/>
                </a:solidFill>
                <a:latin typeface="Calibri" pitchFamily="34" charset="0"/>
                <a:ea typeface="Calibri" pitchFamily="34" charset="-122"/>
                <a:cs typeface="Calibri" pitchFamily="34" charset="-120"/>
              </a:rPr>
              <a:t>Not an open-ended chatbot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33888" y="356616"/>
            <a:ext cx="1060704" cy="393192"/>
          </a:xfrm>
          <a:prstGeom prst="rect">
            <a:avLst/>
          </a:prstGeom>
        </p:spPr>
      </p:pic>
      <p:sp>
        <p:nvSpPr>
          <p:cNvPr id="3"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98A2E"/>
                </a:solidFill>
                <a:latin typeface="Calibri" pitchFamily="34" charset="0"/>
                <a:ea typeface="Calibri" pitchFamily="34" charset="-122"/>
                <a:cs typeface="Calibri" pitchFamily="34" charset="-120"/>
              </a:rPr>
              <a:t>01  ·  BEFORE CLASS</a:t>
            </a:r>
            <a:endParaRPr lang="en-US" sz="1200" dirty="0"/>
          </a:p>
        </p:txBody>
      </p:sp>
      <p:sp>
        <p:nvSpPr>
          <p:cNvPr id="4" name="Text 1"/>
          <p:cNvSpPr txBox="1"/>
          <p:nvPr/>
        </p:nvSpPr>
        <p:spPr>
          <a:xfrm>
            <a:off x="548640" y="749808"/>
            <a:ext cx="9875520" cy="658368"/>
          </a:xfrm>
          <a:prstGeom prst="rect">
            <a:avLst/>
          </a:prstGeom>
          <a:noFill/>
          <a:ln/>
        </p:spPr>
        <p:txBody>
          <a:bodyPr wrap="square" lIns="0" tIns="0" rIns="0" bIns="0" rtlCol="0" anchor="ctr"/>
          <a:lstStyle/>
          <a:p>
            <a:pPr marL="0" indent="0">
              <a:buNone/>
            </a:pPr>
            <a:r>
              <a:rPr lang="en-US" sz="3200" b="1" dirty="0">
                <a:solidFill>
                  <a:srgbClr val="714B90"/>
                </a:solidFill>
                <a:latin typeface="Cambria" pitchFamily="34" charset="0"/>
                <a:ea typeface="Cambria" pitchFamily="34" charset="-122"/>
                <a:cs typeface="Cambria" pitchFamily="34" charset="-120"/>
              </a:rPr>
              <a:t>Prepare in Minutes, Not Hours</a:t>
            </a:r>
            <a:endParaRPr lang="en-US" sz="3200" dirty="0"/>
          </a:p>
        </p:txBody>
      </p:sp>
      <p:sp>
        <p:nvSpPr>
          <p:cNvPr id="5" name="Text 2"/>
          <p:cNvSpPr txBox="1"/>
          <p:nvPr/>
        </p:nvSpPr>
        <p:spPr>
          <a:xfrm>
            <a:off x="548640" y="1444752"/>
            <a:ext cx="11064240" cy="402336"/>
          </a:xfrm>
          <a:prstGeom prst="rect">
            <a:avLst/>
          </a:prstGeom>
          <a:noFill/>
          <a:ln/>
        </p:spPr>
        <p:txBody>
          <a:bodyPr wrap="square" lIns="0" tIns="0" rIns="0" bIns="0" rtlCol="0" anchor="ctr"/>
          <a:lstStyle/>
          <a:p>
            <a:pPr marL="0" indent="0">
              <a:buNone/>
            </a:pPr>
            <a:r>
              <a:rPr lang="en-US" sz="1600" i="1" dirty="0">
                <a:solidFill>
                  <a:srgbClr val="6E6579"/>
                </a:solidFill>
                <a:latin typeface="Calibri" pitchFamily="34" charset="0"/>
                <a:ea typeface="Calibri" pitchFamily="34" charset="-122"/>
                <a:cs typeface="Calibri" pitchFamily="34" charset="-120"/>
              </a:rPr>
              <a:t>Leoki turns AI into simple teaching workflows. No prompt engineering needed.</a:t>
            </a:r>
            <a:endParaRPr lang="en-US" sz="1600" dirty="0"/>
          </a:p>
        </p:txBody>
      </p:sp>
      <p:sp>
        <p:nvSpPr>
          <p:cNvPr id="6" name="Text 3"/>
          <p:cNvSpPr txBox="1"/>
          <p:nvPr/>
        </p:nvSpPr>
        <p:spPr>
          <a:xfrm>
            <a:off x="548640" y="6419088"/>
            <a:ext cx="5943600" cy="256032"/>
          </a:xfrm>
          <a:prstGeom prst="rect">
            <a:avLst/>
          </a:prstGeom>
          <a:noFill/>
          <a:ln/>
        </p:spPr>
        <p:txBody>
          <a:bodyPr wrap="square" lIns="0" tIns="0" rIns="0" bIns="0" rtlCol="0" anchor="ctr"/>
          <a:lstStyle/>
          <a:p>
            <a:pPr marL="0" indent="0">
              <a:buNone/>
            </a:pPr>
            <a:r>
              <a:rPr lang="en-US" sz="950" dirty="0">
                <a:solidFill>
                  <a:srgbClr val="A79DB2"/>
                </a:solidFill>
                <a:latin typeface="Calibri" pitchFamily="34" charset="0"/>
                <a:ea typeface="Calibri" pitchFamily="34" charset="-122"/>
                <a:cs typeface="Calibri" pitchFamily="34" charset="-120"/>
              </a:rPr>
              <a:t>Karmel AI Learning Programme  ·  Teacher Orientation</a:t>
            </a:r>
            <a:endParaRPr lang="en-US" sz="950" dirty="0"/>
          </a:p>
        </p:txBody>
      </p:sp>
      <p:sp>
        <p:nvSpPr>
          <p:cNvPr id="7" name="Text 4"/>
          <p:cNvSpPr txBox="1"/>
          <p:nvPr/>
        </p:nvSpPr>
        <p:spPr>
          <a:xfrm>
            <a:off x="10881360" y="6419088"/>
            <a:ext cx="758952" cy="256032"/>
          </a:xfrm>
          <a:prstGeom prst="rect">
            <a:avLst/>
          </a:prstGeom>
          <a:noFill/>
          <a:ln/>
        </p:spPr>
        <p:txBody>
          <a:bodyPr wrap="square" lIns="0" tIns="0" rIns="0" bIns="0" rtlCol="0" anchor="ctr"/>
          <a:lstStyle/>
          <a:p>
            <a:pPr marL="0" indent="0" algn="r">
              <a:buNone/>
            </a:pPr>
            <a:r>
              <a:rPr lang="en-US" sz="950" dirty="0">
                <a:solidFill>
                  <a:srgbClr val="A79DB2"/>
                </a:solidFill>
                <a:latin typeface="Calibri" pitchFamily="34" charset="0"/>
                <a:ea typeface="Calibri" pitchFamily="34" charset="-122"/>
                <a:cs typeface="Calibri" pitchFamily="34" charset="-120"/>
              </a:rPr>
              <a:t>4</a:t>
            </a:r>
            <a:endParaRPr lang="en-US" sz="950" dirty="0"/>
          </a:p>
        </p:txBody>
      </p:sp>
      <p:sp>
        <p:nvSpPr>
          <p:cNvPr id="8" name="Shape 5"/>
          <p:cNvSpPr/>
          <p:nvPr/>
        </p:nvSpPr>
        <p:spPr>
          <a:xfrm>
            <a:off x="566928" y="2103120"/>
            <a:ext cx="2569464" cy="2880360"/>
          </a:xfrm>
          <a:prstGeom prst="roundRect">
            <a:avLst>
              <a:gd name="adj" fmla="val 2847"/>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9" name="Shape 6"/>
          <p:cNvSpPr/>
          <p:nvPr/>
        </p:nvSpPr>
        <p:spPr>
          <a:xfrm>
            <a:off x="822960" y="2359152"/>
            <a:ext cx="548640" cy="548640"/>
          </a:xfrm>
          <a:prstGeom prst="ellipse">
            <a:avLst/>
          </a:prstGeom>
          <a:solidFill>
            <a:srgbClr val="FBF3E3"/>
          </a:solidFill>
          <a:ln w="6350">
            <a:solidFill>
              <a:srgbClr val="FBF3E3"/>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971093" y="2507285"/>
            <a:ext cx="252374" cy="252374"/>
          </a:xfrm>
          <a:prstGeom prst="rect">
            <a:avLst/>
          </a:prstGeom>
        </p:spPr>
      </p:pic>
      <p:sp>
        <p:nvSpPr>
          <p:cNvPr id="11" name="Text 7"/>
          <p:cNvSpPr txBox="1"/>
          <p:nvPr/>
        </p:nvSpPr>
        <p:spPr>
          <a:xfrm>
            <a:off x="822960" y="3044952"/>
            <a:ext cx="2103120" cy="384048"/>
          </a:xfrm>
          <a:prstGeom prst="rect">
            <a:avLst/>
          </a:prstGeom>
          <a:noFill/>
          <a:ln/>
        </p:spPr>
        <p:txBody>
          <a:bodyPr wrap="square" lIns="0" tIns="0" rIns="0" bIns="0" rtlCol="0" anchor="ctr"/>
          <a:lstStyle/>
          <a:p>
            <a:pPr marL="0" indent="0">
              <a:buNone/>
            </a:pPr>
            <a:r>
              <a:rPr lang="en-US" sz="2000" b="1" dirty="0">
                <a:solidFill>
                  <a:srgbClr val="714B90"/>
                </a:solidFill>
                <a:latin typeface="Cambria" pitchFamily="34" charset="0"/>
                <a:ea typeface="Cambria" pitchFamily="34" charset="-122"/>
                <a:cs typeface="Cambria" pitchFamily="34" charset="-120"/>
              </a:rPr>
              <a:t>Plan</a:t>
            </a:r>
            <a:endParaRPr lang="en-US" sz="2000" dirty="0"/>
          </a:p>
        </p:txBody>
      </p:sp>
      <p:sp>
        <p:nvSpPr>
          <p:cNvPr id="12" name="Shape 8"/>
          <p:cNvSpPr/>
          <p:nvPr/>
        </p:nvSpPr>
        <p:spPr>
          <a:xfrm>
            <a:off x="841248" y="3648456"/>
            <a:ext cx="91440" cy="91440"/>
          </a:xfrm>
          <a:prstGeom prst="ellipse">
            <a:avLst/>
          </a:prstGeom>
          <a:solidFill>
            <a:srgbClr val="C98A2E"/>
          </a:solidFill>
          <a:ln w="6350">
            <a:solidFill>
              <a:srgbClr val="C98A2E"/>
            </a:solidFill>
            <a:prstDash val="solid"/>
          </a:ln>
        </p:spPr>
        <p:txBody>
          <a:bodyPr/>
          <a:lstStyle/>
          <a:p>
            <a:endParaRPr lang="en-IN"/>
          </a:p>
        </p:txBody>
      </p:sp>
      <p:sp>
        <p:nvSpPr>
          <p:cNvPr id="13" name="Text 9"/>
          <p:cNvSpPr txBox="1"/>
          <p:nvPr/>
        </p:nvSpPr>
        <p:spPr>
          <a:xfrm>
            <a:off x="1060704" y="3566160"/>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Lesson flow</a:t>
            </a:r>
            <a:endParaRPr lang="en-US" sz="1350" dirty="0"/>
          </a:p>
        </p:txBody>
      </p:sp>
      <p:sp>
        <p:nvSpPr>
          <p:cNvPr id="14" name="Shape 10"/>
          <p:cNvSpPr/>
          <p:nvPr/>
        </p:nvSpPr>
        <p:spPr>
          <a:xfrm>
            <a:off x="841248" y="3977640"/>
            <a:ext cx="91440" cy="91440"/>
          </a:xfrm>
          <a:prstGeom prst="ellipse">
            <a:avLst/>
          </a:prstGeom>
          <a:solidFill>
            <a:srgbClr val="C98A2E"/>
          </a:solidFill>
          <a:ln w="6350">
            <a:solidFill>
              <a:srgbClr val="C98A2E"/>
            </a:solidFill>
            <a:prstDash val="solid"/>
          </a:ln>
        </p:spPr>
        <p:txBody>
          <a:bodyPr/>
          <a:lstStyle/>
          <a:p>
            <a:endParaRPr lang="en-IN"/>
          </a:p>
        </p:txBody>
      </p:sp>
      <p:sp>
        <p:nvSpPr>
          <p:cNvPr id="15" name="Text 11"/>
          <p:cNvSpPr txBox="1"/>
          <p:nvPr/>
        </p:nvSpPr>
        <p:spPr>
          <a:xfrm>
            <a:off x="1060704" y="3895344"/>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Learning objectives</a:t>
            </a:r>
            <a:endParaRPr lang="en-US" sz="1350" dirty="0"/>
          </a:p>
        </p:txBody>
      </p:sp>
      <p:sp>
        <p:nvSpPr>
          <p:cNvPr id="16" name="Shape 12"/>
          <p:cNvSpPr/>
          <p:nvPr/>
        </p:nvSpPr>
        <p:spPr>
          <a:xfrm>
            <a:off x="841248" y="4306824"/>
            <a:ext cx="91440" cy="91440"/>
          </a:xfrm>
          <a:prstGeom prst="ellipse">
            <a:avLst/>
          </a:prstGeom>
          <a:solidFill>
            <a:srgbClr val="C98A2E"/>
          </a:solidFill>
          <a:ln w="6350">
            <a:solidFill>
              <a:srgbClr val="C98A2E"/>
            </a:solidFill>
            <a:prstDash val="solid"/>
          </a:ln>
        </p:spPr>
        <p:txBody>
          <a:bodyPr/>
          <a:lstStyle/>
          <a:p>
            <a:endParaRPr lang="en-IN"/>
          </a:p>
        </p:txBody>
      </p:sp>
      <p:sp>
        <p:nvSpPr>
          <p:cNvPr id="17" name="Text 13"/>
          <p:cNvSpPr txBox="1"/>
          <p:nvPr/>
        </p:nvSpPr>
        <p:spPr>
          <a:xfrm>
            <a:off x="1060704" y="4224528"/>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Classroom activities</a:t>
            </a:r>
            <a:endParaRPr lang="en-US" sz="1350" dirty="0"/>
          </a:p>
        </p:txBody>
      </p:sp>
      <p:sp>
        <p:nvSpPr>
          <p:cNvPr id="18" name="Shape 14"/>
          <p:cNvSpPr/>
          <p:nvPr/>
        </p:nvSpPr>
        <p:spPr>
          <a:xfrm>
            <a:off x="841248" y="4636008"/>
            <a:ext cx="91440" cy="91440"/>
          </a:xfrm>
          <a:prstGeom prst="ellipse">
            <a:avLst/>
          </a:prstGeom>
          <a:solidFill>
            <a:srgbClr val="C98A2E"/>
          </a:solidFill>
          <a:ln w="6350">
            <a:solidFill>
              <a:srgbClr val="C98A2E"/>
            </a:solidFill>
            <a:prstDash val="solid"/>
          </a:ln>
        </p:spPr>
        <p:txBody>
          <a:bodyPr/>
          <a:lstStyle/>
          <a:p>
            <a:endParaRPr lang="en-IN"/>
          </a:p>
        </p:txBody>
      </p:sp>
      <p:sp>
        <p:nvSpPr>
          <p:cNvPr id="19" name="Text 15"/>
          <p:cNvSpPr txBox="1"/>
          <p:nvPr/>
        </p:nvSpPr>
        <p:spPr>
          <a:xfrm>
            <a:off x="1060704" y="4553712"/>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Class-ready outputs</a:t>
            </a:r>
            <a:endParaRPr lang="en-US" sz="1350" dirty="0"/>
          </a:p>
        </p:txBody>
      </p:sp>
      <p:sp>
        <p:nvSpPr>
          <p:cNvPr id="20" name="Shape 16"/>
          <p:cNvSpPr/>
          <p:nvPr/>
        </p:nvSpPr>
        <p:spPr>
          <a:xfrm>
            <a:off x="3410712" y="2103120"/>
            <a:ext cx="2569464" cy="2880360"/>
          </a:xfrm>
          <a:prstGeom prst="roundRect">
            <a:avLst>
              <a:gd name="adj" fmla="val 2847"/>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21" name="Shape 17"/>
          <p:cNvSpPr/>
          <p:nvPr/>
        </p:nvSpPr>
        <p:spPr>
          <a:xfrm>
            <a:off x="3666744" y="2359152"/>
            <a:ext cx="548640" cy="548640"/>
          </a:xfrm>
          <a:prstGeom prst="ellipse">
            <a:avLst/>
          </a:prstGeom>
          <a:solidFill>
            <a:srgbClr val="FBF3E3"/>
          </a:solidFill>
          <a:ln w="6350">
            <a:solidFill>
              <a:srgbClr val="FBF3E3"/>
            </a:solidFill>
            <a:prstDash val="solid"/>
          </a:ln>
        </p:spPr>
        <p:txBody>
          <a:bodyPr/>
          <a:lstStyle/>
          <a:p>
            <a:endParaRPr lang="en-IN"/>
          </a:p>
        </p:txBody>
      </p:sp>
      <p:pic>
        <p:nvPicPr>
          <p:cNvPr id="22" name="Image 2" descr="preencoded.png"/>
          <p:cNvPicPr>
            <a:picLocks noChangeAspect="1"/>
          </p:cNvPicPr>
          <p:nvPr/>
        </p:nvPicPr>
        <p:blipFill>
          <a:blip r:embed="rId5"/>
          <a:stretch>
            <a:fillRect/>
          </a:stretch>
        </p:blipFill>
        <p:spPr>
          <a:xfrm>
            <a:off x="3814877" y="2507285"/>
            <a:ext cx="252374" cy="252374"/>
          </a:xfrm>
          <a:prstGeom prst="rect">
            <a:avLst/>
          </a:prstGeom>
        </p:spPr>
      </p:pic>
      <p:sp>
        <p:nvSpPr>
          <p:cNvPr id="23" name="Text 18"/>
          <p:cNvSpPr txBox="1"/>
          <p:nvPr/>
        </p:nvSpPr>
        <p:spPr>
          <a:xfrm>
            <a:off x="3666744" y="3044952"/>
            <a:ext cx="2103120" cy="384048"/>
          </a:xfrm>
          <a:prstGeom prst="rect">
            <a:avLst/>
          </a:prstGeom>
          <a:noFill/>
          <a:ln/>
        </p:spPr>
        <p:txBody>
          <a:bodyPr wrap="square" lIns="0" tIns="0" rIns="0" bIns="0" rtlCol="0" anchor="ctr"/>
          <a:lstStyle/>
          <a:p>
            <a:pPr marL="0" indent="0">
              <a:buNone/>
            </a:pPr>
            <a:r>
              <a:rPr lang="en-US" sz="2000" b="1" dirty="0">
                <a:solidFill>
                  <a:srgbClr val="714B90"/>
                </a:solidFill>
                <a:latin typeface="Cambria" pitchFamily="34" charset="0"/>
                <a:ea typeface="Cambria" pitchFamily="34" charset="-122"/>
                <a:cs typeface="Cambria" pitchFamily="34" charset="-120"/>
              </a:rPr>
              <a:t>Teach</a:t>
            </a:r>
            <a:endParaRPr lang="en-US" sz="2000" dirty="0"/>
          </a:p>
        </p:txBody>
      </p:sp>
      <p:sp>
        <p:nvSpPr>
          <p:cNvPr id="24" name="Shape 19"/>
          <p:cNvSpPr/>
          <p:nvPr/>
        </p:nvSpPr>
        <p:spPr>
          <a:xfrm>
            <a:off x="3685032" y="3648456"/>
            <a:ext cx="91440" cy="91440"/>
          </a:xfrm>
          <a:prstGeom prst="ellipse">
            <a:avLst/>
          </a:prstGeom>
          <a:solidFill>
            <a:srgbClr val="C98A2E"/>
          </a:solidFill>
          <a:ln w="6350">
            <a:solidFill>
              <a:srgbClr val="C98A2E"/>
            </a:solidFill>
            <a:prstDash val="solid"/>
          </a:ln>
        </p:spPr>
        <p:txBody>
          <a:bodyPr/>
          <a:lstStyle/>
          <a:p>
            <a:endParaRPr lang="en-IN"/>
          </a:p>
        </p:txBody>
      </p:sp>
      <p:sp>
        <p:nvSpPr>
          <p:cNvPr id="25" name="Text 20"/>
          <p:cNvSpPr txBox="1"/>
          <p:nvPr/>
        </p:nvSpPr>
        <p:spPr>
          <a:xfrm>
            <a:off x="3904488" y="3566160"/>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Teaching aids</a:t>
            </a:r>
            <a:endParaRPr lang="en-US" sz="1350" dirty="0"/>
          </a:p>
        </p:txBody>
      </p:sp>
      <p:sp>
        <p:nvSpPr>
          <p:cNvPr id="26" name="Shape 21"/>
          <p:cNvSpPr/>
          <p:nvPr/>
        </p:nvSpPr>
        <p:spPr>
          <a:xfrm>
            <a:off x="3685032" y="3977640"/>
            <a:ext cx="91440" cy="91440"/>
          </a:xfrm>
          <a:prstGeom prst="ellipse">
            <a:avLst/>
          </a:prstGeom>
          <a:solidFill>
            <a:srgbClr val="C98A2E"/>
          </a:solidFill>
          <a:ln w="6350">
            <a:solidFill>
              <a:srgbClr val="C98A2E"/>
            </a:solidFill>
            <a:prstDash val="solid"/>
          </a:ln>
        </p:spPr>
        <p:txBody>
          <a:bodyPr/>
          <a:lstStyle/>
          <a:p>
            <a:endParaRPr lang="en-IN"/>
          </a:p>
        </p:txBody>
      </p:sp>
      <p:sp>
        <p:nvSpPr>
          <p:cNvPr id="27" name="Text 22"/>
          <p:cNvSpPr txBox="1"/>
          <p:nvPr/>
        </p:nvSpPr>
        <p:spPr>
          <a:xfrm>
            <a:off x="3904488" y="3895344"/>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Examples &amp; analogies</a:t>
            </a:r>
            <a:endParaRPr lang="en-US" sz="1350" dirty="0"/>
          </a:p>
        </p:txBody>
      </p:sp>
      <p:sp>
        <p:nvSpPr>
          <p:cNvPr id="28" name="Shape 23"/>
          <p:cNvSpPr/>
          <p:nvPr/>
        </p:nvSpPr>
        <p:spPr>
          <a:xfrm>
            <a:off x="3685032" y="4306824"/>
            <a:ext cx="91440" cy="91440"/>
          </a:xfrm>
          <a:prstGeom prst="ellipse">
            <a:avLst/>
          </a:prstGeom>
          <a:solidFill>
            <a:srgbClr val="C98A2E"/>
          </a:solidFill>
          <a:ln w="6350">
            <a:solidFill>
              <a:srgbClr val="C98A2E"/>
            </a:solidFill>
            <a:prstDash val="solid"/>
          </a:ln>
        </p:spPr>
        <p:txBody>
          <a:bodyPr/>
          <a:lstStyle/>
          <a:p>
            <a:endParaRPr lang="en-IN"/>
          </a:p>
        </p:txBody>
      </p:sp>
      <p:sp>
        <p:nvSpPr>
          <p:cNvPr id="29" name="Text 24"/>
          <p:cNvSpPr txBox="1"/>
          <p:nvPr/>
        </p:nvSpPr>
        <p:spPr>
          <a:xfrm>
            <a:off x="3904488" y="4224528"/>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Concept revision</a:t>
            </a:r>
            <a:endParaRPr lang="en-US" sz="1350" dirty="0"/>
          </a:p>
        </p:txBody>
      </p:sp>
      <p:sp>
        <p:nvSpPr>
          <p:cNvPr id="30" name="Shape 25"/>
          <p:cNvSpPr/>
          <p:nvPr/>
        </p:nvSpPr>
        <p:spPr>
          <a:xfrm>
            <a:off x="3685032" y="4636008"/>
            <a:ext cx="91440" cy="91440"/>
          </a:xfrm>
          <a:prstGeom prst="ellipse">
            <a:avLst/>
          </a:prstGeom>
          <a:solidFill>
            <a:srgbClr val="C98A2E"/>
          </a:solidFill>
          <a:ln w="6350">
            <a:solidFill>
              <a:srgbClr val="C98A2E"/>
            </a:solidFill>
            <a:prstDash val="solid"/>
          </a:ln>
        </p:spPr>
        <p:txBody>
          <a:bodyPr/>
          <a:lstStyle/>
          <a:p>
            <a:endParaRPr lang="en-IN"/>
          </a:p>
        </p:txBody>
      </p:sp>
      <p:sp>
        <p:nvSpPr>
          <p:cNvPr id="31" name="Text 26"/>
          <p:cNvSpPr txBox="1"/>
          <p:nvPr/>
        </p:nvSpPr>
        <p:spPr>
          <a:xfrm>
            <a:off x="3904488" y="4553712"/>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Multilingual support</a:t>
            </a:r>
            <a:endParaRPr lang="en-US" sz="1350" dirty="0"/>
          </a:p>
        </p:txBody>
      </p:sp>
      <p:sp>
        <p:nvSpPr>
          <p:cNvPr id="32" name="Shape 27"/>
          <p:cNvSpPr/>
          <p:nvPr/>
        </p:nvSpPr>
        <p:spPr>
          <a:xfrm>
            <a:off x="6254496" y="2103120"/>
            <a:ext cx="2569464" cy="2880360"/>
          </a:xfrm>
          <a:prstGeom prst="roundRect">
            <a:avLst>
              <a:gd name="adj" fmla="val 2847"/>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33" name="Shape 28"/>
          <p:cNvSpPr/>
          <p:nvPr/>
        </p:nvSpPr>
        <p:spPr>
          <a:xfrm>
            <a:off x="6510528" y="2359152"/>
            <a:ext cx="548640" cy="548640"/>
          </a:xfrm>
          <a:prstGeom prst="ellipse">
            <a:avLst/>
          </a:prstGeom>
          <a:solidFill>
            <a:srgbClr val="FBF3E3"/>
          </a:solidFill>
          <a:ln w="6350">
            <a:solidFill>
              <a:srgbClr val="FBF3E3"/>
            </a:solidFill>
            <a:prstDash val="solid"/>
          </a:ln>
        </p:spPr>
        <p:txBody>
          <a:bodyPr/>
          <a:lstStyle/>
          <a:p>
            <a:endParaRPr lang="en-IN"/>
          </a:p>
        </p:txBody>
      </p:sp>
      <p:pic>
        <p:nvPicPr>
          <p:cNvPr id="34" name="Image 3" descr="preencoded.png"/>
          <p:cNvPicPr>
            <a:picLocks noChangeAspect="1"/>
          </p:cNvPicPr>
          <p:nvPr/>
        </p:nvPicPr>
        <p:blipFill>
          <a:blip r:embed="rId6"/>
          <a:stretch>
            <a:fillRect/>
          </a:stretch>
        </p:blipFill>
        <p:spPr>
          <a:xfrm>
            <a:off x="6658661" y="2507285"/>
            <a:ext cx="252374" cy="252374"/>
          </a:xfrm>
          <a:prstGeom prst="rect">
            <a:avLst/>
          </a:prstGeom>
        </p:spPr>
      </p:pic>
      <p:sp>
        <p:nvSpPr>
          <p:cNvPr id="35" name="Text 29"/>
          <p:cNvSpPr txBox="1"/>
          <p:nvPr/>
        </p:nvSpPr>
        <p:spPr>
          <a:xfrm>
            <a:off x="6510528" y="3044952"/>
            <a:ext cx="2103120" cy="384048"/>
          </a:xfrm>
          <a:prstGeom prst="rect">
            <a:avLst/>
          </a:prstGeom>
          <a:noFill/>
          <a:ln/>
        </p:spPr>
        <p:txBody>
          <a:bodyPr wrap="square" lIns="0" tIns="0" rIns="0" bIns="0" rtlCol="0" anchor="ctr"/>
          <a:lstStyle/>
          <a:p>
            <a:pPr marL="0" indent="0">
              <a:buNone/>
            </a:pPr>
            <a:r>
              <a:rPr lang="en-US" sz="2000" b="1" dirty="0">
                <a:solidFill>
                  <a:srgbClr val="714B90"/>
                </a:solidFill>
                <a:latin typeface="Cambria" pitchFamily="34" charset="0"/>
                <a:ea typeface="Cambria" pitchFamily="34" charset="-122"/>
                <a:cs typeface="Cambria" pitchFamily="34" charset="-120"/>
              </a:rPr>
              <a:t>Practice</a:t>
            </a:r>
            <a:endParaRPr lang="en-US" sz="2000" dirty="0"/>
          </a:p>
        </p:txBody>
      </p:sp>
      <p:sp>
        <p:nvSpPr>
          <p:cNvPr id="36" name="Shape 30"/>
          <p:cNvSpPr/>
          <p:nvPr/>
        </p:nvSpPr>
        <p:spPr>
          <a:xfrm>
            <a:off x="6528816" y="3648456"/>
            <a:ext cx="91440" cy="91440"/>
          </a:xfrm>
          <a:prstGeom prst="ellipse">
            <a:avLst/>
          </a:prstGeom>
          <a:solidFill>
            <a:srgbClr val="C98A2E"/>
          </a:solidFill>
          <a:ln w="6350">
            <a:solidFill>
              <a:srgbClr val="C98A2E"/>
            </a:solidFill>
            <a:prstDash val="solid"/>
          </a:ln>
        </p:spPr>
        <p:txBody>
          <a:bodyPr/>
          <a:lstStyle/>
          <a:p>
            <a:endParaRPr lang="en-IN"/>
          </a:p>
        </p:txBody>
      </p:sp>
      <p:sp>
        <p:nvSpPr>
          <p:cNvPr id="37" name="Text 31"/>
          <p:cNvSpPr txBox="1"/>
          <p:nvPr/>
        </p:nvSpPr>
        <p:spPr>
          <a:xfrm>
            <a:off x="6748272" y="3566160"/>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Worksheets</a:t>
            </a:r>
            <a:endParaRPr lang="en-US" sz="1350" dirty="0"/>
          </a:p>
        </p:txBody>
      </p:sp>
      <p:sp>
        <p:nvSpPr>
          <p:cNvPr id="38" name="Shape 32"/>
          <p:cNvSpPr/>
          <p:nvPr/>
        </p:nvSpPr>
        <p:spPr>
          <a:xfrm>
            <a:off x="6528816" y="3977640"/>
            <a:ext cx="91440" cy="91440"/>
          </a:xfrm>
          <a:prstGeom prst="ellipse">
            <a:avLst/>
          </a:prstGeom>
          <a:solidFill>
            <a:srgbClr val="C98A2E"/>
          </a:solidFill>
          <a:ln w="6350">
            <a:solidFill>
              <a:srgbClr val="C98A2E"/>
            </a:solidFill>
            <a:prstDash val="solid"/>
          </a:ln>
        </p:spPr>
        <p:txBody>
          <a:bodyPr/>
          <a:lstStyle/>
          <a:p>
            <a:endParaRPr lang="en-IN"/>
          </a:p>
        </p:txBody>
      </p:sp>
      <p:sp>
        <p:nvSpPr>
          <p:cNvPr id="39" name="Text 33"/>
          <p:cNvSpPr txBox="1"/>
          <p:nvPr/>
        </p:nvSpPr>
        <p:spPr>
          <a:xfrm>
            <a:off x="6748272" y="3895344"/>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Assignments</a:t>
            </a:r>
            <a:endParaRPr lang="en-US" sz="1350" dirty="0"/>
          </a:p>
        </p:txBody>
      </p:sp>
      <p:sp>
        <p:nvSpPr>
          <p:cNvPr id="40" name="Shape 34"/>
          <p:cNvSpPr/>
          <p:nvPr/>
        </p:nvSpPr>
        <p:spPr>
          <a:xfrm>
            <a:off x="6528816" y="4306824"/>
            <a:ext cx="91440" cy="91440"/>
          </a:xfrm>
          <a:prstGeom prst="ellipse">
            <a:avLst/>
          </a:prstGeom>
          <a:solidFill>
            <a:srgbClr val="C98A2E"/>
          </a:solidFill>
          <a:ln w="6350">
            <a:solidFill>
              <a:srgbClr val="C98A2E"/>
            </a:solidFill>
            <a:prstDash val="solid"/>
          </a:ln>
        </p:spPr>
        <p:txBody>
          <a:bodyPr/>
          <a:lstStyle/>
          <a:p>
            <a:endParaRPr lang="en-IN"/>
          </a:p>
        </p:txBody>
      </p:sp>
      <p:sp>
        <p:nvSpPr>
          <p:cNvPr id="41" name="Text 35"/>
          <p:cNvSpPr txBox="1"/>
          <p:nvPr/>
        </p:nvSpPr>
        <p:spPr>
          <a:xfrm>
            <a:off x="6748272" y="4224528"/>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Concept-check questions</a:t>
            </a:r>
            <a:endParaRPr lang="en-US" sz="1350" dirty="0"/>
          </a:p>
        </p:txBody>
      </p:sp>
      <p:sp>
        <p:nvSpPr>
          <p:cNvPr id="42" name="Shape 36"/>
          <p:cNvSpPr/>
          <p:nvPr/>
        </p:nvSpPr>
        <p:spPr>
          <a:xfrm>
            <a:off x="6528816" y="4636008"/>
            <a:ext cx="91440" cy="91440"/>
          </a:xfrm>
          <a:prstGeom prst="ellipse">
            <a:avLst/>
          </a:prstGeom>
          <a:solidFill>
            <a:srgbClr val="C98A2E"/>
          </a:solidFill>
          <a:ln w="6350">
            <a:solidFill>
              <a:srgbClr val="C98A2E"/>
            </a:solidFill>
            <a:prstDash val="solid"/>
          </a:ln>
        </p:spPr>
        <p:txBody>
          <a:bodyPr/>
          <a:lstStyle/>
          <a:p>
            <a:endParaRPr lang="en-IN"/>
          </a:p>
        </p:txBody>
      </p:sp>
      <p:sp>
        <p:nvSpPr>
          <p:cNvPr id="43" name="Text 37"/>
          <p:cNvSpPr txBox="1"/>
          <p:nvPr/>
        </p:nvSpPr>
        <p:spPr>
          <a:xfrm>
            <a:off x="6748272" y="4553712"/>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Homework support</a:t>
            </a:r>
            <a:endParaRPr lang="en-US" sz="1350" dirty="0"/>
          </a:p>
        </p:txBody>
      </p:sp>
      <p:sp>
        <p:nvSpPr>
          <p:cNvPr id="44" name="Shape 38"/>
          <p:cNvSpPr/>
          <p:nvPr/>
        </p:nvSpPr>
        <p:spPr>
          <a:xfrm>
            <a:off x="9098280" y="2103120"/>
            <a:ext cx="2569464" cy="2880360"/>
          </a:xfrm>
          <a:prstGeom prst="roundRect">
            <a:avLst>
              <a:gd name="adj" fmla="val 2847"/>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45" name="Shape 39"/>
          <p:cNvSpPr/>
          <p:nvPr/>
        </p:nvSpPr>
        <p:spPr>
          <a:xfrm>
            <a:off x="9354312" y="2359152"/>
            <a:ext cx="548640" cy="548640"/>
          </a:xfrm>
          <a:prstGeom prst="ellipse">
            <a:avLst/>
          </a:prstGeom>
          <a:solidFill>
            <a:srgbClr val="FBF3E3"/>
          </a:solidFill>
          <a:ln w="6350">
            <a:solidFill>
              <a:srgbClr val="FBF3E3"/>
            </a:solidFill>
            <a:prstDash val="solid"/>
          </a:ln>
        </p:spPr>
        <p:txBody>
          <a:bodyPr/>
          <a:lstStyle/>
          <a:p>
            <a:endParaRPr lang="en-IN"/>
          </a:p>
        </p:txBody>
      </p:sp>
      <p:pic>
        <p:nvPicPr>
          <p:cNvPr id="46" name="Image 4" descr="preencoded.png"/>
          <p:cNvPicPr>
            <a:picLocks noChangeAspect="1"/>
          </p:cNvPicPr>
          <p:nvPr/>
        </p:nvPicPr>
        <p:blipFill>
          <a:blip r:embed="rId7"/>
          <a:stretch>
            <a:fillRect/>
          </a:stretch>
        </p:blipFill>
        <p:spPr>
          <a:xfrm>
            <a:off x="9502445" y="2507285"/>
            <a:ext cx="252374" cy="252374"/>
          </a:xfrm>
          <a:prstGeom prst="rect">
            <a:avLst/>
          </a:prstGeom>
        </p:spPr>
      </p:pic>
      <p:sp>
        <p:nvSpPr>
          <p:cNvPr id="47" name="Text 40"/>
          <p:cNvSpPr txBox="1"/>
          <p:nvPr/>
        </p:nvSpPr>
        <p:spPr>
          <a:xfrm>
            <a:off x="9354312" y="3044952"/>
            <a:ext cx="2103120" cy="384048"/>
          </a:xfrm>
          <a:prstGeom prst="rect">
            <a:avLst/>
          </a:prstGeom>
          <a:noFill/>
          <a:ln/>
        </p:spPr>
        <p:txBody>
          <a:bodyPr wrap="square" lIns="0" tIns="0" rIns="0" bIns="0" rtlCol="0" anchor="ctr"/>
          <a:lstStyle/>
          <a:p>
            <a:pPr marL="0" indent="0">
              <a:buNone/>
            </a:pPr>
            <a:r>
              <a:rPr lang="en-US" sz="2000" b="1" dirty="0">
                <a:solidFill>
                  <a:srgbClr val="714B90"/>
                </a:solidFill>
                <a:latin typeface="Cambria" pitchFamily="34" charset="0"/>
                <a:ea typeface="Cambria" pitchFamily="34" charset="-122"/>
                <a:cs typeface="Cambria" pitchFamily="34" charset="-120"/>
              </a:rPr>
              <a:t>Assess</a:t>
            </a:r>
            <a:endParaRPr lang="en-US" sz="2000" dirty="0"/>
          </a:p>
        </p:txBody>
      </p:sp>
      <p:sp>
        <p:nvSpPr>
          <p:cNvPr id="48" name="Shape 41"/>
          <p:cNvSpPr/>
          <p:nvPr/>
        </p:nvSpPr>
        <p:spPr>
          <a:xfrm>
            <a:off x="9372600" y="3648456"/>
            <a:ext cx="91440" cy="91440"/>
          </a:xfrm>
          <a:prstGeom prst="ellipse">
            <a:avLst/>
          </a:prstGeom>
          <a:solidFill>
            <a:srgbClr val="C98A2E"/>
          </a:solidFill>
          <a:ln w="6350">
            <a:solidFill>
              <a:srgbClr val="C98A2E"/>
            </a:solidFill>
            <a:prstDash val="solid"/>
          </a:ln>
        </p:spPr>
        <p:txBody>
          <a:bodyPr/>
          <a:lstStyle/>
          <a:p>
            <a:endParaRPr lang="en-IN"/>
          </a:p>
        </p:txBody>
      </p:sp>
      <p:sp>
        <p:nvSpPr>
          <p:cNvPr id="49" name="Text 42"/>
          <p:cNvSpPr txBox="1"/>
          <p:nvPr/>
        </p:nvSpPr>
        <p:spPr>
          <a:xfrm>
            <a:off x="9592056" y="3566160"/>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Test papers</a:t>
            </a:r>
            <a:endParaRPr lang="en-US" sz="1350" dirty="0"/>
          </a:p>
        </p:txBody>
      </p:sp>
      <p:sp>
        <p:nvSpPr>
          <p:cNvPr id="50" name="Shape 43"/>
          <p:cNvSpPr/>
          <p:nvPr/>
        </p:nvSpPr>
        <p:spPr>
          <a:xfrm>
            <a:off x="9372600" y="3977640"/>
            <a:ext cx="91440" cy="91440"/>
          </a:xfrm>
          <a:prstGeom prst="ellipse">
            <a:avLst/>
          </a:prstGeom>
          <a:solidFill>
            <a:srgbClr val="C98A2E"/>
          </a:solidFill>
          <a:ln w="6350">
            <a:solidFill>
              <a:srgbClr val="C98A2E"/>
            </a:solidFill>
            <a:prstDash val="solid"/>
          </a:ln>
        </p:spPr>
        <p:txBody>
          <a:bodyPr/>
          <a:lstStyle/>
          <a:p>
            <a:endParaRPr lang="en-IN"/>
          </a:p>
        </p:txBody>
      </p:sp>
      <p:sp>
        <p:nvSpPr>
          <p:cNvPr id="51" name="Text 44"/>
          <p:cNvSpPr txBox="1"/>
          <p:nvPr/>
        </p:nvSpPr>
        <p:spPr>
          <a:xfrm>
            <a:off x="9592056" y="3895344"/>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Answer keys</a:t>
            </a:r>
            <a:endParaRPr lang="en-US" sz="1350" dirty="0"/>
          </a:p>
        </p:txBody>
      </p:sp>
      <p:sp>
        <p:nvSpPr>
          <p:cNvPr id="52" name="Shape 45"/>
          <p:cNvSpPr/>
          <p:nvPr/>
        </p:nvSpPr>
        <p:spPr>
          <a:xfrm>
            <a:off x="9372600" y="4306824"/>
            <a:ext cx="91440" cy="91440"/>
          </a:xfrm>
          <a:prstGeom prst="ellipse">
            <a:avLst/>
          </a:prstGeom>
          <a:solidFill>
            <a:srgbClr val="C98A2E"/>
          </a:solidFill>
          <a:ln w="6350">
            <a:solidFill>
              <a:srgbClr val="C98A2E"/>
            </a:solidFill>
            <a:prstDash val="solid"/>
          </a:ln>
        </p:spPr>
        <p:txBody>
          <a:bodyPr/>
          <a:lstStyle/>
          <a:p>
            <a:endParaRPr lang="en-IN"/>
          </a:p>
        </p:txBody>
      </p:sp>
      <p:sp>
        <p:nvSpPr>
          <p:cNvPr id="53" name="Text 46"/>
          <p:cNvSpPr txBox="1"/>
          <p:nvPr/>
        </p:nvSpPr>
        <p:spPr>
          <a:xfrm>
            <a:off x="9592056" y="4224528"/>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Rubrics</a:t>
            </a:r>
            <a:endParaRPr lang="en-US" sz="1350" dirty="0"/>
          </a:p>
        </p:txBody>
      </p:sp>
      <p:sp>
        <p:nvSpPr>
          <p:cNvPr id="54" name="Shape 47"/>
          <p:cNvSpPr/>
          <p:nvPr/>
        </p:nvSpPr>
        <p:spPr>
          <a:xfrm>
            <a:off x="9372600" y="4636008"/>
            <a:ext cx="91440" cy="91440"/>
          </a:xfrm>
          <a:prstGeom prst="ellipse">
            <a:avLst/>
          </a:prstGeom>
          <a:solidFill>
            <a:srgbClr val="C98A2E"/>
          </a:solidFill>
          <a:ln w="6350">
            <a:solidFill>
              <a:srgbClr val="C98A2E"/>
            </a:solidFill>
            <a:prstDash val="solid"/>
          </a:ln>
        </p:spPr>
        <p:txBody>
          <a:bodyPr/>
          <a:lstStyle/>
          <a:p>
            <a:endParaRPr lang="en-IN"/>
          </a:p>
        </p:txBody>
      </p:sp>
      <p:sp>
        <p:nvSpPr>
          <p:cNvPr id="55" name="Text 48"/>
          <p:cNvSpPr txBox="1"/>
          <p:nvPr/>
        </p:nvSpPr>
        <p:spPr>
          <a:xfrm>
            <a:off x="9592056" y="4553712"/>
            <a:ext cx="197510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Revision sheets</a:t>
            </a:r>
            <a:endParaRPr lang="en-US" sz="1350" dirty="0"/>
          </a:p>
        </p:txBody>
      </p:sp>
      <p:sp>
        <p:nvSpPr>
          <p:cNvPr id="56" name="Shape 49"/>
          <p:cNvSpPr/>
          <p:nvPr/>
        </p:nvSpPr>
        <p:spPr>
          <a:xfrm>
            <a:off x="566928" y="5257800"/>
            <a:ext cx="11064240" cy="777240"/>
          </a:xfrm>
          <a:prstGeom prst="roundRect">
            <a:avLst>
              <a:gd name="adj" fmla="val 9412"/>
            </a:avLst>
          </a:prstGeom>
          <a:solidFill>
            <a:srgbClr val="FBF3E3"/>
          </a:solidFill>
          <a:ln w="6350">
            <a:solidFill>
              <a:srgbClr val="FBF3E3"/>
            </a:solidFill>
            <a:prstDash val="solid"/>
          </a:ln>
        </p:spPr>
        <p:txBody>
          <a:bodyPr/>
          <a:lstStyle/>
          <a:p>
            <a:endParaRPr lang="en-IN"/>
          </a:p>
        </p:txBody>
      </p:sp>
      <p:sp>
        <p:nvSpPr>
          <p:cNvPr id="57" name="Text 50"/>
          <p:cNvSpPr txBox="1"/>
          <p:nvPr/>
        </p:nvSpPr>
        <p:spPr>
          <a:xfrm>
            <a:off x="566928" y="5257800"/>
            <a:ext cx="11064240" cy="777240"/>
          </a:xfrm>
          <a:prstGeom prst="rect">
            <a:avLst/>
          </a:prstGeom>
          <a:noFill/>
          <a:ln/>
        </p:spPr>
        <p:txBody>
          <a:bodyPr wrap="square" lIns="0" tIns="0" rIns="0" bIns="0" rtlCol="0" anchor="ctr"/>
          <a:lstStyle/>
          <a:p>
            <a:pPr marL="0" indent="0" algn="ctr">
              <a:buNone/>
            </a:pPr>
            <a:r>
              <a:rPr lang="en-US" sz="1700" b="1" dirty="0">
                <a:solidFill>
                  <a:srgbClr val="241E2A"/>
                </a:solidFill>
                <a:latin typeface="Calibri" pitchFamily="34" charset="0"/>
                <a:ea typeface="Calibri" pitchFamily="34" charset="-122"/>
                <a:cs typeface="Calibri" pitchFamily="34" charset="-120"/>
              </a:rPr>
              <a:t>Grounded in the school curriculum.  </a:t>
            </a:r>
            <a:r>
              <a:rPr lang="en-US" sz="1700" dirty="0">
                <a:solidFill>
                  <a:srgbClr val="241E2A"/>
                </a:solidFill>
                <a:latin typeface="Calibri" pitchFamily="34" charset="0"/>
                <a:ea typeface="Calibri" pitchFamily="34" charset="-122"/>
                <a:cs typeface="Calibri" pitchFamily="34" charset="-120"/>
              </a:rPr>
              <a:t>You review, edit and decide what reaches your class.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33888" y="356616"/>
            <a:ext cx="1060704" cy="393192"/>
          </a:xfrm>
          <a:prstGeom prst="rect">
            <a:avLst/>
          </a:prstGeom>
        </p:spPr>
      </p:pic>
      <p:sp>
        <p:nvSpPr>
          <p:cNvPr id="3"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98A2E"/>
                </a:solidFill>
                <a:latin typeface="Calibri" pitchFamily="34" charset="0"/>
                <a:ea typeface="Calibri" pitchFamily="34" charset="-122"/>
                <a:cs typeface="Calibri" pitchFamily="34" charset="-120"/>
              </a:rPr>
              <a:t>02  ·  DURING CLASS</a:t>
            </a:r>
            <a:endParaRPr lang="en-US" sz="1200" dirty="0"/>
          </a:p>
        </p:txBody>
      </p:sp>
      <p:sp>
        <p:nvSpPr>
          <p:cNvPr id="4" name="Text 1"/>
          <p:cNvSpPr txBox="1"/>
          <p:nvPr/>
        </p:nvSpPr>
        <p:spPr>
          <a:xfrm>
            <a:off x="548640" y="749808"/>
            <a:ext cx="9875520" cy="658368"/>
          </a:xfrm>
          <a:prstGeom prst="rect">
            <a:avLst/>
          </a:prstGeom>
          <a:noFill/>
          <a:ln/>
        </p:spPr>
        <p:txBody>
          <a:bodyPr wrap="square" lIns="0" tIns="0" rIns="0" bIns="0" rtlCol="0" anchor="ctr"/>
          <a:lstStyle/>
          <a:p>
            <a:pPr marL="0" indent="0">
              <a:buNone/>
            </a:pPr>
            <a:r>
              <a:rPr lang="en-US" sz="3200" b="1" dirty="0">
                <a:solidFill>
                  <a:srgbClr val="714B90"/>
                </a:solidFill>
                <a:latin typeface="Cambria" pitchFamily="34" charset="0"/>
                <a:ea typeface="Cambria" pitchFamily="34" charset="-122"/>
                <a:cs typeface="Cambria" pitchFamily="34" charset="-120"/>
              </a:rPr>
              <a:t>Classroom Mode: You Lead, Leoki Assists</a:t>
            </a:r>
            <a:endParaRPr lang="en-US" sz="3200" dirty="0"/>
          </a:p>
        </p:txBody>
      </p:sp>
      <p:sp>
        <p:nvSpPr>
          <p:cNvPr id="5" name="Text 2"/>
          <p:cNvSpPr txBox="1"/>
          <p:nvPr/>
        </p:nvSpPr>
        <p:spPr>
          <a:xfrm>
            <a:off x="548640" y="1444752"/>
            <a:ext cx="11064240" cy="402336"/>
          </a:xfrm>
          <a:prstGeom prst="rect">
            <a:avLst/>
          </a:prstGeom>
          <a:noFill/>
          <a:ln/>
        </p:spPr>
        <p:txBody>
          <a:bodyPr wrap="square" lIns="0" tIns="0" rIns="0" bIns="0" rtlCol="0" anchor="ctr"/>
          <a:lstStyle/>
          <a:p>
            <a:pPr marL="0" indent="0">
              <a:buNone/>
            </a:pPr>
            <a:r>
              <a:rPr lang="en-US" sz="1600" i="1" dirty="0">
                <a:solidFill>
                  <a:srgbClr val="6E6579"/>
                </a:solidFill>
                <a:latin typeface="Calibri" pitchFamily="34" charset="0"/>
                <a:ea typeface="Calibri" pitchFamily="34" charset="-122"/>
                <a:cs typeface="Calibri" pitchFamily="34" charset="-120"/>
              </a:rPr>
              <a:t>Runs on the shared classroom screen and responds when you ask. You stay in charge of the lesson.</a:t>
            </a:r>
            <a:endParaRPr lang="en-US" sz="1600" dirty="0"/>
          </a:p>
        </p:txBody>
      </p:sp>
      <p:sp>
        <p:nvSpPr>
          <p:cNvPr id="6" name="Text 3"/>
          <p:cNvSpPr txBox="1"/>
          <p:nvPr/>
        </p:nvSpPr>
        <p:spPr>
          <a:xfrm>
            <a:off x="548640" y="6419088"/>
            <a:ext cx="5943600" cy="256032"/>
          </a:xfrm>
          <a:prstGeom prst="rect">
            <a:avLst/>
          </a:prstGeom>
          <a:noFill/>
          <a:ln/>
        </p:spPr>
        <p:txBody>
          <a:bodyPr wrap="square" lIns="0" tIns="0" rIns="0" bIns="0" rtlCol="0" anchor="ctr"/>
          <a:lstStyle/>
          <a:p>
            <a:pPr marL="0" indent="0">
              <a:buNone/>
            </a:pPr>
            <a:r>
              <a:rPr lang="en-US" sz="950" dirty="0">
                <a:solidFill>
                  <a:srgbClr val="A79DB2"/>
                </a:solidFill>
                <a:latin typeface="Calibri" pitchFamily="34" charset="0"/>
                <a:ea typeface="Calibri" pitchFamily="34" charset="-122"/>
                <a:cs typeface="Calibri" pitchFamily="34" charset="-120"/>
              </a:rPr>
              <a:t>Karmel AI Learning Programme  ·  Teacher Orientation</a:t>
            </a:r>
            <a:endParaRPr lang="en-US" sz="950" dirty="0"/>
          </a:p>
        </p:txBody>
      </p:sp>
      <p:sp>
        <p:nvSpPr>
          <p:cNvPr id="7" name="Text 4"/>
          <p:cNvSpPr txBox="1"/>
          <p:nvPr/>
        </p:nvSpPr>
        <p:spPr>
          <a:xfrm>
            <a:off x="10881360" y="6419088"/>
            <a:ext cx="758952" cy="256032"/>
          </a:xfrm>
          <a:prstGeom prst="rect">
            <a:avLst/>
          </a:prstGeom>
          <a:noFill/>
          <a:ln/>
        </p:spPr>
        <p:txBody>
          <a:bodyPr wrap="square" lIns="0" tIns="0" rIns="0" bIns="0" rtlCol="0" anchor="ctr"/>
          <a:lstStyle/>
          <a:p>
            <a:pPr marL="0" indent="0" algn="r">
              <a:buNone/>
            </a:pPr>
            <a:r>
              <a:rPr lang="en-US" sz="950" dirty="0">
                <a:solidFill>
                  <a:srgbClr val="A79DB2"/>
                </a:solidFill>
                <a:latin typeface="Calibri" pitchFamily="34" charset="0"/>
                <a:ea typeface="Calibri" pitchFamily="34" charset="-122"/>
                <a:cs typeface="Calibri" pitchFamily="34" charset="-120"/>
              </a:rPr>
              <a:t>5</a:t>
            </a:r>
            <a:endParaRPr lang="en-US" sz="950" dirty="0"/>
          </a:p>
        </p:txBody>
      </p:sp>
      <p:sp>
        <p:nvSpPr>
          <p:cNvPr id="8" name="Shape 5"/>
          <p:cNvSpPr/>
          <p:nvPr/>
        </p:nvSpPr>
        <p:spPr>
          <a:xfrm>
            <a:off x="566928" y="2011680"/>
            <a:ext cx="5422392" cy="3246120"/>
          </a:xfrm>
          <a:prstGeom prst="roundRect">
            <a:avLst>
              <a:gd name="adj" fmla="val 2254"/>
            </a:avLst>
          </a:prstGeom>
          <a:solidFill>
            <a:srgbClr val="F4F0F9"/>
          </a:solidFill>
          <a:ln w="9525">
            <a:solidFill>
              <a:srgbClr val="F4F0F9"/>
            </a:solidFill>
            <a:prstDash val="solid"/>
          </a:ln>
          <a:effectLst>
            <a:outerShdw blurRad="101600" dist="25400" dir="5400000" algn="bl" rotWithShape="0">
              <a:srgbClr val="4A3560">
                <a:alpha val="12000"/>
              </a:srgbClr>
            </a:outerShdw>
          </a:effectLst>
        </p:spPr>
        <p:txBody>
          <a:bodyPr/>
          <a:lstStyle/>
          <a:p>
            <a:endParaRPr lang="en-IN"/>
          </a:p>
        </p:txBody>
      </p:sp>
      <p:sp>
        <p:nvSpPr>
          <p:cNvPr id="9" name="Shape 6"/>
          <p:cNvSpPr/>
          <p:nvPr/>
        </p:nvSpPr>
        <p:spPr>
          <a:xfrm>
            <a:off x="841248" y="2286000"/>
            <a:ext cx="603504" cy="603504"/>
          </a:xfrm>
          <a:prstGeom prst="ellipse">
            <a:avLst/>
          </a:prstGeom>
          <a:solidFill>
            <a:srgbClr val="714B90"/>
          </a:solidFill>
          <a:ln w="6350">
            <a:solidFill>
              <a:srgbClr val="714B90"/>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998159" y="2442911"/>
            <a:ext cx="289682" cy="289682"/>
          </a:xfrm>
          <a:prstGeom prst="rect">
            <a:avLst/>
          </a:prstGeom>
        </p:spPr>
      </p:pic>
      <p:sp>
        <p:nvSpPr>
          <p:cNvPr id="11" name="Text 7"/>
          <p:cNvSpPr txBox="1"/>
          <p:nvPr/>
        </p:nvSpPr>
        <p:spPr>
          <a:xfrm>
            <a:off x="1609344" y="2304288"/>
            <a:ext cx="4206240" cy="365760"/>
          </a:xfrm>
          <a:prstGeom prst="rect">
            <a:avLst/>
          </a:prstGeom>
          <a:noFill/>
          <a:ln/>
        </p:spPr>
        <p:txBody>
          <a:bodyPr wrap="square" lIns="0" tIns="0" rIns="0" bIns="0" rtlCol="0" anchor="ctr"/>
          <a:lstStyle/>
          <a:p>
            <a:pPr marL="0" indent="0">
              <a:buNone/>
            </a:pPr>
            <a:r>
              <a:rPr lang="en-US" sz="2000" b="1" dirty="0">
                <a:solidFill>
                  <a:srgbClr val="714B90"/>
                </a:solidFill>
                <a:latin typeface="Cambria" pitchFamily="34" charset="0"/>
                <a:ea typeface="Cambria" pitchFamily="34" charset="-122"/>
                <a:cs typeface="Cambria" pitchFamily="34" charset="-120"/>
              </a:rPr>
              <a:t>What Leoki can do in class</a:t>
            </a:r>
            <a:endParaRPr lang="en-US" sz="2000" dirty="0"/>
          </a:p>
        </p:txBody>
      </p:sp>
      <p:sp>
        <p:nvSpPr>
          <p:cNvPr id="12" name="Text 8"/>
          <p:cNvSpPr txBox="1"/>
          <p:nvPr/>
        </p:nvSpPr>
        <p:spPr>
          <a:xfrm>
            <a:off x="1609344" y="2651760"/>
            <a:ext cx="4206240" cy="256032"/>
          </a:xfrm>
          <a:prstGeom prst="rect">
            <a:avLst/>
          </a:prstGeom>
          <a:noFill/>
          <a:ln/>
        </p:spPr>
        <p:txBody>
          <a:bodyPr wrap="square" lIns="0" tIns="0" rIns="0" bIns="0" rtlCol="0" anchor="ctr"/>
          <a:lstStyle/>
          <a:p>
            <a:pPr marL="0" indent="0">
              <a:buNone/>
            </a:pPr>
            <a:r>
              <a:rPr lang="en-US" sz="1300" i="1" dirty="0">
                <a:solidFill>
                  <a:srgbClr val="BA802E"/>
                </a:solidFill>
                <a:latin typeface="Calibri" pitchFamily="34" charset="0"/>
                <a:ea typeface="Calibri" pitchFamily="34" charset="-122"/>
                <a:cs typeface="Calibri" pitchFamily="34" charset="-120"/>
              </a:rPr>
              <a:t>On request, with the teacher in control</a:t>
            </a:r>
            <a:endParaRPr lang="en-US" sz="1300" dirty="0"/>
          </a:p>
        </p:txBody>
      </p:sp>
      <p:sp>
        <p:nvSpPr>
          <p:cNvPr id="13" name="Shape 9"/>
          <p:cNvSpPr/>
          <p:nvPr/>
        </p:nvSpPr>
        <p:spPr>
          <a:xfrm>
            <a:off x="896112" y="3328416"/>
            <a:ext cx="91440" cy="91440"/>
          </a:xfrm>
          <a:prstGeom prst="ellipse">
            <a:avLst/>
          </a:prstGeom>
          <a:solidFill>
            <a:srgbClr val="C98A2E"/>
          </a:solidFill>
          <a:ln w="6350">
            <a:solidFill>
              <a:srgbClr val="C98A2E"/>
            </a:solidFill>
            <a:prstDash val="solid"/>
          </a:ln>
        </p:spPr>
        <p:txBody>
          <a:bodyPr/>
          <a:lstStyle/>
          <a:p>
            <a:endParaRPr lang="en-IN"/>
          </a:p>
        </p:txBody>
      </p:sp>
      <p:sp>
        <p:nvSpPr>
          <p:cNvPr id="14" name="Text 10"/>
          <p:cNvSpPr txBox="1"/>
          <p:nvPr/>
        </p:nvSpPr>
        <p:spPr>
          <a:xfrm>
            <a:off x="1115568" y="3246120"/>
            <a:ext cx="4626864" cy="256032"/>
          </a:xfrm>
          <a:prstGeom prst="rect">
            <a:avLst/>
          </a:prstGeom>
          <a:noFill/>
          <a:ln/>
        </p:spPr>
        <p:txBody>
          <a:bodyPr wrap="square" lIns="0" tIns="0" rIns="0" bIns="0" rtlCol="0" anchor="ctr"/>
          <a:lstStyle/>
          <a:p>
            <a:pPr marL="0" indent="0">
              <a:buNone/>
            </a:pPr>
            <a:r>
              <a:rPr lang="en-US" sz="1400" dirty="0">
                <a:solidFill>
                  <a:srgbClr val="241E2A"/>
                </a:solidFill>
                <a:latin typeface="Calibri" pitchFamily="34" charset="0"/>
                <a:ea typeface="Calibri" pitchFamily="34" charset="-122"/>
                <a:cs typeface="Calibri" pitchFamily="34" charset="-120"/>
              </a:rPr>
              <a:t>Explain a concept step by step</a:t>
            </a:r>
            <a:endParaRPr lang="en-US" sz="1400" dirty="0"/>
          </a:p>
        </p:txBody>
      </p:sp>
      <p:sp>
        <p:nvSpPr>
          <p:cNvPr id="15" name="Shape 11"/>
          <p:cNvSpPr/>
          <p:nvPr/>
        </p:nvSpPr>
        <p:spPr>
          <a:xfrm>
            <a:off x="896112" y="3712464"/>
            <a:ext cx="91440" cy="91440"/>
          </a:xfrm>
          <a:prstGeom prst="ellipse">
            <a:avLst/>
          </a:prstGeom>
          <a:solidFill>
            <a:srgbClr val="C98A2E"/>
          </a:solidFill>
          <a:ln w="6350">
            <a:solidFill>
              <a:srgbClr val="C98A2E"/>
            </a:solidFill>
            <a:prstDash val="solid"/>
          </a:ln>
        </p:spPr>
        <p:txBody>
          <a:bodyPr/>
          <a:lstStyle/>
          <a:p>
            <a:endParaRPr lang="en-IN"/>
          </a:p>
        </p:txBody>
      </p:sp>
      <p:sp>
        <p:nvSpPr>
          <p:cNvPr id="16" name="Text 12"/>
          <p:cNvSpPr txBox="1"/>
          <p:nvPr/>
        </p:nvSpPr>
        <p:spPr>
          <a:xfrm>
            <a:off x="1115568" y="3630168"/>
            <a:ext cx="4626864" cy="256032"/>
          </a:xfrm>
          <a:prstGeom prst="rect">
            <a:avLst/>
          </a:prstGeom>
          <a:noFill/>
          <a:ln/>
        </p:spPr>
        <p:txBody>
          <a:bodyPr wrap="square" lIns="0" tIns="0" rIns="0" bIns="0" rtlCol="0" anchor="ctr"/>
          <a:lstStyle/>
          <a:p>
            <a:pPr marL="0" indent="0">
              <a:buNone/>
            </a:pPr>
            <a:r>
              <a:rPr lang="en-US" sz="1400" dirty="0">
                <a:solidFill>
                  <a:srgbClr val="241E2A"/>
                </a:solidFill>
                <a:latin typeface="Calibri" pitchFamily="34" charset="0"/>
                <a:ea typeface="Calibri" pitchFamily="34" charset="-122"/>
                <a:cs typeface="Calibri" pitchFamily="34" charset="-120"/>
              </a:rPr>
              <a:t>Give examples and real-life analogies</a:t>
            </a:r>
            <a:endParaRPr lang="en-US" sz="1400" dirty="0"/>
          </a:p>
        </p:txBody>
      </p:sp>
      <p:sp>
        <p:nvSpPr>
          <p:cNvPr id="17" name="Shape 13"/>
          <p:cNvSpPr/>
          <p:nvPr/>
        </p:nvSpPr>
        <p:spPr>
          <a:xfrm>
            <a:off x="896112" y="4096512"/>
            <a:ext cx="91440" cy="91440"/>
          </a:xfrm>
          <a:prstGeom prst="ellipse">
            <a:avLst/>
          </a:prstGeom>
          <a:solidFill>
            <a:srgbClr val="C98A2E"/>
          </a:solidFill>
          <a:ln w="6350">
            <a:solidFill>
              <a:srgbClr val="C98A2E"/>
            </a:solidFill>
            <a:prstDash val="solid"/>
          </a:ln>
        </p:spPr>
        <p:txBody>
          <a:bodyPr/>
          <a:lstStyle/>
          <a:p>
            <a:endParaRPr lang="en-IN"/>
          </a:p>
        </p:txBody>
      </p:sp>
      <p:sp>
        <p:nvSpPr>
          <p:cNvPr id="18" name="Text 14"/>
          <p:cNvSpPr txBox="1"/>
          <p:nvPr/>
        </p:nvSpPr>
        <p:spPr>
          <a:xfrm>
            <a:off x="1115568" y="4014216"/>
            <a:ext cx="4626864" cy="256032"/>
          </a:xfrm>
          <a:prstGeom prst="rect">
            <a:avLst/>
          </a:prstGeom>
          <a:noFill/>
          <a:ln/>
        </p:spPr>
        <p:txBody>
          <a:bodyPr wrap="square" lIns="0" tIns="0" rIns="0" bIns="0" rtlCol="0" anchor="ctr"/>
          <a:lstStyle/>
          <a:p>
            <a:pPr marL="0" indent="0">
              <a:buNone/>
            </a:pPr>
            <a:r>
              <a:rPr lang="en-US" sz="1400" dirty="0">
                <a:solidFill>
                  <a:srgbClr val="241E2A"/>
                </a:solidFill>
                <a:latin typeface="Calibri" pitchFamily="34" charset="0"/>
                <a:ea typeface="Calibri" pitchFamily="34" charset="-122"/>
                <a:cs typeface="Calibri" pitchFamily="34" charset="-120"/>
              </a:rPr>
              <a:t>Re-explain more simply, or in another language</a:t>
            </a:r>
            <a:endParaRPr lang="en-US" sz="1400" dirty="0"/>
          </a:p>
        </p:txBody>
      </p:sp>
      <p:sp>
        <p:nvSpPr>
          <p:cNvPr id="19" name="Shape 15"/>
          <p:cNvSpPr/>
          <p:nvPr/>
        </p:nvSpPr>
        <p:spPr>
          <a:xfrm>
            <a:off x="896112" y="4480560"/>
            <a:ext cx="91440" cy="91440"/>
          </a:xfrm>
          <a:prstGeom prst="ellipse">
            <a:avLst/>
          </a:prstGeom>
          <a:solidFill>
            <a:srgbClr val="C98A2E"/>
          </a:solidFill>
          <a:ln w="6350">
            <a:solidFill>
              <a:srgbClr val="C98A2E"/>
            </a:solidFill>
            <a:prstDash val="solid"/>
          </a:ln>
        </p:spPr>
        <p:txBody>
          <a:bodyPr/>
          <a:lstStyle/>
          <a:p>
            <a:endParaRPr lang="en-IN"/>
          </a:p>
        </p:txBody>
      </p:sp>
      <p:sp>
        <p:nvSpPr>
          <p:cNvPr id="20" name="Text 16"/>
          <p:cNvSpPr txBox="1"/>
          <p:nvPr/>
        </p:nvSpPr>
        <p:spPr>
          <a:xfrm>
            <a:off x="1115568" y="4398264"/>
            <a:ext cx="4626864" cy="256032"/>
          </a:xfrm>
          <a:prstGeom prst="rect">
            <a:avLst/>
          </a:prstGeom>
          <a:noFill/>
          <a:ln/>
        </p:spPr>
        <p:txBody>
          <a:bodyPr wrap="square" lIns="0" tIns="0" rIns="0" bIns="0" rtlCol="0" anchor="ctr"/>
          <a:lstStyle/>
          <a:p>
            <a:pPr marL="0" indent="0">
              <a:buNone/>
            </a:pPr>
            <a:r>
              <a:rPr lang="en-US" sz="1400" dirty="0">
                <a:solidFill>
                  <a:srgbClr val="241E2A"/>
                </a:solidFill>
                <a:latin typeface="Calibri" pitchFamily="34" charset="0"/>
                <a:ea typeface="Calibri" pitchFamily="34" charset="-122"/>
                <a:cs typeface="Calibri" pitchFamily="34" charset="-120"/>
              </a:rPr>
              <a:t>Ask quick concept-check questions</a:t>
            </a:r>
            <a:endParaRPr lang="en-US" sz="1400" dirty="0"/>
          </a:p>
        </p:txBody>
      </p:sp>
      <p:sp>
        <p:nvSpPr>
          <p:cNvPr id="21" name="Shape 17"/>
          <p:cNvSpPr/>
          <p:nvPr/>
        </p:nvSpPr>
        <p:spPr>
          <a:xfrm>
            <a:off x="896112" y="4864608"/>
            <a:ext cx="91440" cy="91440"/>
          </a:xfrm>
          <a:prstGeom prst="ellipse">
            <a:avLst/>
          </a:prstGeom>
          <a:solidFill>
            <a:srgbClr val="C98A2E"/>
          </a:solidFill>
          <a:ln w="6350">
            <a:solidFill>
              <a:srgbClr val="C98A2E"/>
            </a:solidFill>
            <a:prstDash val="solid"/>
          </a:ln>
        </p:spPr>
        <p:txBody>
          <a:bodyPr/>
          <a:lstStyle/>
          <a:p>
            <a:endParaRPr lang="en-IN"/>
          </a:p>
        </p:txBody>
      </p:sp>
      <p:sp>
        <p:nvSpPr>
          <p:cNvPr id="22" name="Text 18"/>
          <p:cNvSpPr txBox="1"/>
          <p:nvPr/>
        </p:nvSpPr>
        <p:spPr>
          <a:xfrm>
            <a:off x="1115568" y="4782312"/>
            <a:ext cx="4626864" cy="256032"/>
          </a:xfrm>
          <a:prstGeom prst="rect">
            <a:avLst/>
          </a:prstGeom>
          <a:noFill/>
          <a:ln/>
        </p:spPr>
        <p:txBody>
          <a:bodyPr wrap="square" lIns="0" tIns="0" rIns="0" bIns="0" rtlCol="0" anchor="ctr"/>
          <a:lstStyle/>
          <a:p>
            <a:pPr marL="0" indent="0">
              <a:buNone/>
            </a:pPr>
            <a:r>
              <a:rPr lang="en-US" sz="1400" dirty="0">
                <a:solidFill>
                  <a:srgbClr val="241E2A"/>
                </a:solidFill>
                <a:latin typeface="Calibri" pitchFamily="34" charset="0"/>
                <a:ea typeface="Calibri" pitchFamily="34" charset="-122"/>
                <a:cs typeface="Calibri" pitchFamily="34" charset="-120"/>
              </a:rPr>
              <a:t>Let students interact through natural voice</a:t>
            </a:r>
            <a:endParaRPr lang="en-US" sz="1400" dirty="0"/>
          </a:p>
        </p:txBody>
      </p:sp>
      <p:sp>
        <p:nvSpPr>
          <p:cNvPr id="23" name="Shape 19"/>
          <p:cNvSpPr/>
          <p:nvPr/>
        </p:nvSpPr>
        <p:spPr>
          <a:xfrm>
            <a:off x="6208776" y="2011680"/>
            <a:ext cx="5422392" cy="3246120"/>
          </a:xfrm>
          <a:prstGeom prst="roundRect">
            <a:avLst>
              <a:gd name="adj" fmla="val 2254"/>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24" name="Shape 20"/>
          <p:cNvSpPr/>
          <p:nvPr/>
        </p:nvSpPr>
        <p:spPr>
          <a:xfrm>
            <a:off x="6483096" y="2286000"/>
            <a:ext cx="603504" cy="603504"/>
          </a:xfrm>
          <a:prstGeom prst="ellipse">
            <a:avLst/>
          </a:prstGeom>
          <a:solidFill>
            <a:srgbClr val="714B90"/>
          </a:solidFill>
          <a:ln w="6350">
            <a:solidFill>
              <a:srgbClr val="714B90"/>
            </a:solidFill>
            <a:prstDash val="solid"/>
          </a:ln>
        </p:spPr>
        <p:txBody>
          <a:bodyPr/>
          <a:lstStyle/>
          <a:p>
            <a:endParaRPr lang="en-IN"/>
          </a:p>
        </p:txBody>
      </p:sp>
      <p:pic>
        <p:nvPicPr>
          <p:cNvPr id="25" name="Image 2" descr="preencoded.png"/>
          <p:cNvPicPr>
            <a:picLocks noChangeAspect="1"/>
          </p:cNvPicPr>
          <p:nvPr/>
        </p:nvPicPr>
        <p:blipFill>
          <a:blip r:embed="rId5"/>
          <a:stretch>
            <a:fillRect/>
          </a:stretch>
        </p:blipFill>
        <p:spPr>
          <a:xfrm>
            <a:off x="6640007" y="2442911"/>
            <a:ext cx="289682" cy="289682"/>
          </a:xfrm>
          <a:prstGeom prst="rect">
            <a:avLst/>
          </a:prstGeom>
        </p:spPr>
      </p:pic>
      <p:sp>
        <p:nvSpPr>
          <p:cNvPr id="26" name="Text 21"/>
          <p:cNvSpPr txBox="1"/>
          <p:nvPr/>
        </p:nvSpPr>
        <p:spPr>
          <a:xfrm>
            <a:off x="7251192" y="2304288"/>
            <a:ext cx="4206240" cy="365760"/>
          </a:xfrm>
          <a:prstGeom prst="rect">
            <a:avLst/>
          </a:prstGeom>
          <a:noFill/>
          <a:ln/>
        </p:spPr>
        <p:txBody>
          <a:bodyPr wrap="square" lIns="0" tIns="0" rIns="0" bIns="0" rtlCol="0" anchor="ctr"/>
          <a:lstStyle/>
          <a:p>
            <a:pPr marL="0" indent="0">
              <a:buNone/>
            </a:pPr>
            <a:r>
              <a:rPr lang="en-US" sz="2000" b="1" dirty="0">
                <a:solidFill>
                  <a:srgbClr val="714B90"/>
                </a:solidFill>
                <a:latin typeface="Cambria" pitchFamily="34" charset="0"/>
                <a:ea typeface="Cambria" pitchFamily="34" charset="-122"/>
                <a:cs typeface="Cambria" pitchFamily="34" charset="-120"/>
              </a:rPr>
              <a:t>Just ask. For example:</a:t>
            </a:r>
            <a:endParaRPr lang="en-US" sz="2000" dirty="0"/>
          </a:p>
        </p:txBody>
      </p:sp>
      <p:sp>
        <p:nvSpPr>
          <p:cNvPr id="27" name="Text 22"/>
          <p:cNvSpPr txBox="1"/>
          <p:nvPr/>
        </p:nvSpPr>
        <p:spPr>
          <a:xfrm>
            <a:off x="7251192" y="2651760"/>
            <a:ext cx="4206240" cy="256032"/>
          </a:xfrm>
          <a:prstGeom prst="rect">
            <a:avLst/>
          </a:prstGeom>
          <a:noFill/>
          <a:ln/>
        </p:spPr>
        <p:txBody>
          <a:bodyPr wrap="square" lIns="0" tIns="0" rIns="0" bIns="0" rtlCol="0" anchor="ctr"/>
          <a:lstStyle/>
          <a:p>
            <a:pPr marL="0" indent="0">
              <a:buNone/>
            </a:pPr>
            <a:r>
              <a:rPr lang="en-US" sz="1300" i="1" dirty="0">
                <a:solidFill>
                  <a:srgbClr val="BA802E"/>
                </a:solidFill>
                <a:latin typeface="Calibri" pitchFamily="34" charset="0"/>
                <a:ea typeface="Calibri" pitchFamily="34" charset="-122"/>
                <a:cs typeface="Calibri" pitchFamily="34" charset="-120"/>
              </a:rPr>
              <a:t>Speak naturally, in English or Hindi</a:t>
            </a:r>
            <a:endParaRPr lang="en-US" sz="1300" dirty="0"/>
          </a:p>
        </p:txBody>
      </p:sp>
      <p:sp>
        <p:nvSpPr>
          <p:cNvPr id="28" name="Shape 23"/>
          <p:cNvSpPr/>
          <p:nvPr/>
        </p:nvSpPr>
        <p:spPr>
          <a:xfrm>
            <a:off x="6483096" y="3127248"/>
            <a:ext cx="4873752" cy="402336"/>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29" name="Text 24"/>
          <p:cNvSpPr txBox="1"/>
          <p:nvPr/>
        </p:nvSpPr>
        <p:spPr>
          <a:xfrm>
            <a:off x="6675120" y="3127248"/>
            <a:ext cx="4572000" cy="402336"/>
          </a:xfrm>
          <a:prstGeom prst="rect">
            <a:avLst/>
          </a:prstGeom>
          <a:noFill/>
          <a:ln/>
        </p:spPr>
        <p:txBody>
          <a:bodyPr wrap="square" lIns="0" tIns="0" rIns="0" bIns="0" rtlCol="0" anchor="ctr"/>
          <a:lstStyle/>
          <a:p>
            <a:pPr marL="0" indent="0">
              <a:buNone/>
            </a:pPr>
            <a:r>
              <a:rPr lang="en-US" sz="1350" i="1" dirty="0">
                <a:solidFill>
                  <a:srgbClr val="4A3560"/>
                </a:solidFill>
                <a:latin typeface="Calibri" pitchFamily="34" charset="0"/>
                <a:ea typeface="Calibri" pitchFamily="34" charset="-122"/>
                <a:cs typeface="Calibri" pitchFamily="34" charset="-120"/>
              </a:rPr>
              <a:t>“Give the class an example from daily life.”</a:t>
            </a:r>
            <a:endParaRPr lang="en-US" sz="1350" dirty="0"/>
          </a:p>
        </p:txBody>
      </p:sp>
      <p:sp>
        <p:nvSpPr>
          <p:cNvPr id="30" name="Shape 25"/>
          <p:cNvSpPr/>
          <p:nvPr/>
        </p:nvSpPr>
        <p:spPr>
          <a:xfrm>
            <a:off x="6483096" y="3639312"/>
            <a:ext cx="4873752" cy="402336"/>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31" name="Text 26"/>
          <p:cNvSpPr txBox="1"/>
          <p:nvPr/>
        </p:nvSpPr>
        <p:spPr>
          <a:xfrm>
            <a:off x="6675120" y="3639312"/>
            <a:ext cx="4572000" cy="402336"/>
          </a:xfrm>
          <a:prstGeom prst="rect">
            <a:avLst/>
          </a:prstGeom>
          <a:noFill/>
          <a:ln/>
        </p:spPr>
        <p:txBody>
          <a:bodyPr wrap="square" lIns="0" tIns="0" rIns="0" bIns="0" rtlCol="0" anchor="ctr"/>
          <a:lstStyle/>
          <a:p>
            <a:pPr marL="0" indent="0">
              <a:buNone/>
            </a:pPr>
            <a:r>
              <a:rPr lang="en-US" sz="1350" i="1" dirty="0">
                <a:solidFill>
                  <a:srgbClr val="4A3560"/>
                </a:solidFill>
                <a:latin typeface="Calibri" pitchFamily="34" charset="0"/>
                <a:ea typeface="Calibri" pitchFamily="34" charset="-122"/>
                <a:cs typeface="Calibri" pitchFamily="34" charset="-120"/>
              </a:rPr>
              <a:t>“Explain this once more, in Hindi.”</a:t>
            </a:r>
            <a:endParaRPr lang="en-US" sz="1350" dirty="0"/>
          </a:p>
        </p:txBody>
      </p:sp>
      <p:sp>
        <p:nvSpPr>
          <p:cNvPr id="32" name="Shape 27"/>
          <p:cNvSpPr/>
          <p:nvPr/>
        </p:nvSpPr>
        <p:spPr>
          <a:xfrm>
            <a:off x="6483096" y="4151376"/>
            <a:ext cx="4873752" cy="402336"/>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33" name="Text 28"/>
          <p:cNvSpPr txBox="1"/>
          <p:nvPr/>
        </p:nvSpPr>
        <p:spPr>
          <a:xfrm>
            <a:off x="6675120" y="4151376"/>
            <a:ext cx="4572000" cy="402336"/>
          </a:xfrm>
          <a:prstGeom prst="rect">
            <a:avLst/>
          </a:prstGeom>
          <a:noFill/>
          <a:ln/>
        </p:spPr>
        <p:txBody>
          <a:bodyPr wrap="square" lIns="0" tIns="0" rIns="0" bIns="0" rtlCol="0" anchor="ctr"/>
          <a:lstStyle/>
          <a:p>
            <a:pPr marL="0" indent="0">
              <a:buNone/>
            </a:pPr>
            <a:r>
              <a:rPr lang="en-US" sz="1350" i="1" dirty="0">
                <a:solidFill>
                  <a:srgbClr val="4A3560"/>
                </a:solidFill>
                <a:latin typeface="Calibri" pitchFamily="34" charset="0"/>
                <a:ea typeface="Calibri" pitchFamily="34" charset="-122"/>
                <a:cs typeface="Calibri" pitchFamily="34" charset="-120"/>
              </a:rPr>
              <a:t>“Ask three quick questions to check understanding.”</a:t>
            </a:r>
            <a:endParaRPr lang="en-US" sz="1350" dirty="0"/>
          </a:p>
        </p:txBody>
      </p:sp>
      <p:sp>
        <p:nvSpPr>
          <p:cNvPr id="34" name="Shape 29"/>
          <p:cNvSpPr/>
          <p:nvPr/>
        </p:nvSpPr>
        <p:spPr>
          <a:xfrm>
            <a:off x="6483096" y="4663440"/>
            <a:ext cx="4873752" cy="402336"/>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35" name="Text 30"/>
          <p:cNvSpPr txBox="1"/>
          <p:nvPr/>
        </p:nvSpPr>
        <p:spPr>
          <a:xfrm>
            <a:off x="6675120" y="4663440"/>
            <a:ext cx="4572000" cy="402336"/>
          </a:xfrm>
          <a:prstGeom prst="rect">
            <a:avLst/>
          </a:prstGeom>
          <a:noFill/>
          <a:ln/>
        </p:spPr>
        <p:txBody>
          <a:bodyPr wrap="square" lIns="0" tIns="0" rIns="0" bIns="0" rtlCol="0" anchor="ctr"/>
          <a:lstStyle/>
          <a:p>
            <a:pPr marL="0" indent="0">
              <a:buNone/>
            </a:pPr>
            <a:r>
              <a:rPr lang="en-US" sz="1350" i="1" dirty="0">
                <a:solidFill>
                  <a:srgbClr val="4A3560"/>
                </a:solidFill>
                <a:latin typeface="Calibri" pitchFamily="34" charset="0"/>
                <a:ea typeface="Calibri" pitchFamily="34" charset="-122"/>
                <a:cs typeface="Calibri" pitchFamily="34" charset="-120"/>
              </a:rPr>
              <a:t>“Make this simpler for my class.”</a:t>
            </a:r>
            <a:endParaRPr lang="en-US" sz="1350" dirty="0"/>
          </a:p>
        </p:txBody>
      </p:sp>
      <p:sp>
        <p:nvSpPr>
          <p:cNvPr id="36" name="Shape 31"/>
          <p:cNvSpPr/>
          <p:nvPr/>
        </p:nvSpPr>
        <p:spPr>
          <a:xfrm>
            <a:off x="566928" y="5394960"/>
            <a:ext cx="11064240" cy="749808"/>
          </a:xfrm>
          <a:prstGeom prst="roundRect">
            <a:avLst>
              <a:gd name="adj" fmla="val 9756"/>
            </a:avLst>
          </a:prstGeom>
          <a:solidFill>
            <a:srgbClr val="714B90"/>
          </a:solidFill>
          <a:ln w="6350">
            <a:solidFill>
              <a:srgbClr val="714B90"/>
            </a:solidFill>
            <a:prstDash val="solid"/>
          </a:ln>
        </p:spPr>
        <p:txBody>
          <a:bodyPr/>
          <a:lstStyle/>
          <a:p>
            <a:endParaRPr lang="en-IN"/>
          </a:p>
        </p:txBody>
      </p:sp>
      <p:sp>
        <p:nvSpPr>
          <p:cNvPr id="37" name="Text 32"/>
          <p:cNvSpPr txBox="1"/>
          <p:nvPr/>
        </p:nvSpPr>
        <p:spPr>
          <a:xfrm>
            <a:off x="566928" y="5422392"/>
            <a:ext cx="11064240" cy="420624"/>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AI supports the teacher. It does not replace the teacher.</a:t>
            </a:r>
            <a:endParaRPr lang="en-US" sz="1900" dirty="0"/>
          </a:p>
        </p:txBody>
      </p:sp>
      <p:sp>
        <p:nvSpPr>
          <p:cNvPr id="38" name="Text 33"/>
          <p:cNvSpPr txBox="1"/>
          <p:nvPr/>
        </p:nvSpPr>
        <p:spPr>
          <a:xfrm>
            <a:off x="566928" y="5815584"/>
            <a:ext cx="11064240" cy="274320"/>
          </a:xfrm>
          <a:prstGeom prst="rect">
            <a:avLst/>
          </a:prstGeom>
          <a:noFill/>
          <a:ln/>
        </p:spPr>
        <p:txBody>
          <a:bodyPr wrap="square" lIns="0" tIns="0" rIns="0" bIns="0" rtlCol="0" anchor="ctr"/>
          <a:lstStyle/>
          <a:p>
            <a:pPr marL="0" indent="0" algn="ctr">
              <a:buNone/>
            </a:pPr>
            <a:r>
              <a:rPr lang="en-US" sz="1300" dirty="0">
                <a:solidFill>
                  <a:srgbClr val="DED0EC"/>
                </a:solidFill>
                <a:latin typeface="Calibri" pitchFamily="34" charset="0"/>
                <a:ea typeface="Calibri" pitchFamily="34" charset="-122"/>
                <a:cs typeface="Calibri" pitchFamily="34" charset="-120"/>
              </a:rPr>
              <a:t>Voice-first   ·   Multilingual   ·   Curriculum-grounded   ·   Teacher-controlled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33888" y="356616"/>
            <a:ext cx="1060704" cy="393192"/>
          </a:xfrm>
          <a:prstGeom prst="rect">
            <a:avLst/>
          </a:prstGeom>
        </p:spPr>
      </p:pic>
      <p:sp>
        <p:nvSpPr>
          <p:cNvPr id="3"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98A2E"/>
                </a:solidFill>
                <a:latin typeface="Calibri" pitchFamily="34" charset="0"/>
                <a:ea typeface="Calibri" pitchFamily="34" charset="-122"/>
                <a:cs typeface="Calibri" pitchFamily="34" charset="-120"/>
              </a:rPr>
              <a:t>03  ·  AFTER CLASS</a:t>
            </a:r>
            <a:endParaRPr lang="en-US" sz="1200" dirty="0"/>
          </a:p>
        </p:txBody>
      </p:sp>
      <p:sp>
        <p:nvSpPr>
          <p:cNvPr id="4" name="Text 1"/>
          <p:cNvSpPr txBox="1"/>
          <p:nvPr/>
        </p:nvSpPr>
        <p:spPr>
          <a:xfrm>
            <a:off x="548640" y="749808"/>
            <a:ext cx="9875520" cy="658368"/>
          </a:xfrm>
          <a:prstGeom prst="rect">
            <a:avLst/>
          </a:prstGeom>
          <a:noFill/>
          <a:ln/>
        </p:spPr>
        <p:txBody>
          <a:bodyPr wrap="square" lIns="0" tIns="0" rIns="0" bIns="0" rtlCol="0" anchor="ctr"/>
          <a:lstStyle/>
          <a:p>
            <a:pPr marL="0" indent="0">
              <a:buNone/>
            </a:pPr>
            <a:r>
              <a:rPr lang="en-US" sz="3200" b="1" dirty="0">
                <a:solidFill>
                  <a:srgbClr val="714B90"/>
                </a:solidFill>
                <a:latin typeface="Cambria" pitchFamily="34" charset="0"/>
                <a:ea typeface="Cambria" pitchFamily="34" charset="-122"/>
                <a:cs typeface="Cambria" pitchFamily="34" charset="-120"/>
              </a:rPr>
              <a:t>Reflect: Insights for Your Next Lesson</a:t>
            </a:r>
            <a:endParaRPr lang="en-US" sz="3200" dirty="0"/>
          </a:p>
        </p:txBody>
      </p:sp>
      <p:sp>
        <p:nvSpPr>
          <p:cNvPr id="5" name="Text 2"/>
          <p:cNvSpPr txBox="1"/>
          <p:nvPr/>
        </p:nvSpPr>
        <p:spPr>
          <a:xfrm>
            <a:off x="548640" y="1444752"/>
            <a:ext cx="11064240" cy="402336"/>
          </a:xfrm>
          <a:prstGeom prst="rect">
            <a:avLst/>
          </a:prstGeom>
          <a:noFill/>
          <a:ln/>
        </p:spPr>
        <p:txBody>
          <a:bodyPr wrap="square" lIns="0" tIns="0" rIns="0" bIns="0" rtlCol="0" anchor="ctr"/>
          <a:lstStyle/>
          <a:p>
            <a:pPr marL="0" indent="0">
              <a:buNone/>
            </a:pPr>
            <a:r>
              <a:rPr lang="en-US" sz="1600" i="1" dirty="0">
                <a:solidFill>
                  <a:srgbClr val="6E6579"/>
                </a:solidFill>
                <a:latin typeface="Calibri" pitchFamily="34" charset="0"/>
                <a:ea typeface="Calibri" pitchFamily="34" charset="-122"/>
                <a:cs typeface="Calibri" pitchFamily="34" charset="-120"/>
              </a:rPr>
              <a:t>Teacher Copilot can listen to the classroom session and share actionable insights once the class ends.</a:t>
            </a:r>
            <a:endParaRPr lang="en-US" sz="1600" dirty="0"/>
          </a:p>
        </p:txBody>
      </p:sp>
      <p:sp>
        <p:nvSpPr>
          <p:cNvPr id="6" name="Text 3"/>
          <p:cNvSpPr txBox="1"/>
          <p:nvPr/>
        </p:nvSpPr>
        <p:spPr>
          <a:xfrm>
            <a:off x="548640" y="6419088"/>
            <a:ext cx="5943600" cy="256032"/>
          </a:xfrm>
          <a:prstGeom prst="rect">
            <a:avLst/>
          </a:prstGeom>
          <a:noFill/>
          <a:ln/>
        </p:spPr>
        <p:txBody>
          <a:bodyPr wrap="square" lIns="0" tIns="0" rIns="0" bIns="0" rtlCol="0" anchor="ctr"/>
          <a:lstStyle/>
          <a:p>
            <a:pPr marL="0" indent="0">
              <a:buNone/>
            </a:pPr>
            <a:r>
              <a:rPr lang="en-US" sz="950" dirty="0">
                <a:solidFill>
                  <a:srgbClr val="A79DB2"/>
                </a:solidFill>
                <a:latin typeface="Calibri" pitchFamily="34" charset="0"/>
                <a:ea typeface="Calibri" pitchFamily="34" charset="-122"/>
                <a:cs typeface="Calibri" pitchFamily="34" charset="-120"/>
              </a:rPr>
              <a:t>Karmel AI Learning Programme  ·  Teacher Orientation</a:t>
            </a:r>
            <a:endParaRPr lang="en-US" sz="950" dirty="0"/>
          </a:p>
        </p:txBody>
      </p:sp>
      <p:sp>
        <p:nvSpPr>
          <p:cNvPr id="7" name="Text 4"/>
          <p:cNvSpPr txBox="1"/>
          <p:nvPr/>
        </p:nvSpPr>
        <p:spPr>
          <a:xfrm>
            <a:off x="10881360" y="6419088"/>
            <a:ext cx="758952" cy="256032"/>
          </a:xfrm>
          <a:prstGeom prst="rect">
            <a:avLst/>
          </a:prstGeom>
          <a:noFill/>
          <a:ln/>
        </p:spPr>
        <p:txBody>
          <a:bodyPr wrap="square" lIns="0" tIns="0" rIns="0" bIns="0" rtlCol="0" anchor="ctr"/>
          <a:lstStyle/>
          <a:p>
            <a:pPr marL="0" indent="0" algn="r">
              <a:buNone/>
            </a:pPr>
            <a:r>
              <a:rPr lang="en-US" sz="950" dirty="0">
                <a:solidFill>
                  <a:srgbClr val="A79DB2"/>
                </a:solidFill>
                <a:latin typeface="Calibri" pitchFamily="34" charset="0"/>
                <a:ea typeface="Calibri" pitchFamily="34" charset="-122"/>
                <a:cs typeface="Calibri" pitchFamily="34" charset="-120"/>
              </a:rPr>
              <a:t>6</a:t>
            </a:r>
            <a:endParaRPr lang="en-US" sz="950" dirty="0"/>
          </a:p>
        </p:txBody>
      </p:sp>
      <p:sp>
        <p:nvSpPr>
          <p:cNvPr id="8" name="Shape 5"/>
          <p:cNvSpPr/>
          <p:nvPr/>
        </p:nvSpPr>
        <p:spPr>
          <a:xfrm>
            <a:off x="566928" y="2011680"/>
            <a:ext cx="3401568" cy="1645920"/>
          </a:xfrm>
          <a:prstGeom prst="roundRect">
            <a:avLst>
              <a:gd name="adj" fmla="val 4444"/>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9" name="Shape 6"/>
          <p:cNvSpPr/>
          <p:nvPr/>
        </p:nvSpPr>
        <p:spPr>
          <a:xfrm>
            <a:off x="795528" y="2267712"/>
            <a:ext cx="512064" cy="512064"/>
          </a:xfrm>
          <a:prstGeom prst="ellipse">
            <a:avLst/>
          </a:prstGeom>
          <a:solidFill>
            <a:srgbClr val="714B90"/>
          </a:solidFill>
          <a:ln w="6350">
            <a:solidFill>
              <a:srgbClr val="714B90"/>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928665" y="2400849"/>
            <a:ext cx="245791" cy="245791"/>
          </a:xfrm>
          <a:prstGeom prst="rect">
            <a:avLst/>
          </a:prstGeom>
        </p:spPr>
      </p:pic>
      <p:sp>
        <p:nvSpPr>
          <p:cNvPr id="11" name="Text 7"/>
          <p:cNvSpPr txBox="1"/>
          <p:nvPr/>
        </p:nvSpPr>
        <p:spPr>
          <a:xfrm>
            <a:off x="1463040" y="2286000"/>
            <a:ext cx="2377440" cy="457200"/>
          </a:xfrm>
          <a:prstGeom prst="rect">
            <a:avLst/>
          </a:prstGeom>
          <a:noFill/>
          <a:ln/>
        </p:spPr>
        <p:txBody>
          <a:bodyPr wrap="square" lIns="0" tIns="0" rIns="0" bIns="0" rtlCol="0" anchor="ctr"/>
          <a:lstStyle/>
          <a:p>
            <a:pPr marL="0" indent="0">
              <a:buNone/>
            </a:pPr>
            <a:r>
              <a:rPr lang="en-US" sz="1700" b="1" dirty="0">
                <a:solidFill>
                  <a:srgbClr val="714B90"/>
                </a:solidFill>
                <a:latin typeface="Cambria" pitchFamily="34" charset="0"/>
                <a:ea typeface="Cambria" pitchFamily="34" charset="-122"/>
                <a:cs typeface="Cambria" pitchFamily="34" charset="-120"/>
              </a:rPr>
              <a:t>What worked well</a:t>
            </a:r>
            <a:endParaRPr lang="en-US" sz="1700" dirty="0"/>
          </a:p>
        </p:txBody>
      </p:sp>
      <p:sp>
        <p:nvSpPr>
          <p:cNvPr id="12" name="Text 8"/>
          <p:cNvSpPr txBox="1"/>
          <p:nvPr/>
        </p:nvSpPr>
        <p:spPr>
          <a:xfrm>
            <a:off x="795528" y="2880360"/>
            <a:ext cx="2971800" cy="640080"/>
          </a:xfrm>
          <a:prstGeom prst="rect">
            <a:avLst/>
          </a:prstGeom>
          <a:noFill/>
          <a:ln/>
        </p:spPr>
        <p:txBody>
          <a:bodyPr wrap="square" lIns="0" tIns="0" rIns="0" bIns="0" rtlCol="0" anchor="t"/>
          <a:lstStyle/>
          <a:p>
            <a:pPr marL="0" indent="0">
              <a:buNone/>
            </a:pPr>
            <a:r>
              <a:rPr lang="en-US" sz="1350" dirty="0">
                <a:solidFill>
                  <a:srgbClr val="241E2A"/>
                </a:solidFill>
                <a:latin typeface="Calibri" pitchFamily="34" charset="0"/>
                <a:ea typeface="Calibri" pitchFamily="34" charset="-122"/>
                <a:cs typeface="Calibri" pitchFamily="34" charset="-120"/>
              </a:rPr>
              <a:t>Explanations, examples and moments that engaged the class.</a:t>
            </a:r>
            <a:endParaRPr lang="en-US" sz="1350" dirty="0"/>
          </a:p>
        </p:txBody>
      </p:sp>
      <p:sp>
        <p:nvSpPr>
          <p:cNvPr id="13" name="Shape 9"/>
          <p:cNvSpPr/>
          <p:nvPr/>
        </p:nvSpPr>
        <p:spPr>
          <a:xfrm>
            <a:off x="4197096" y="2011680"/>
            <a:ext cx="3401568" cy="1645920"/>
          </a:xfrm>
          <a:prstGeom prst="roundRect">
            <a:avLst>
              <a:gd name="adj" fmla="val 4444"/>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14" name="Shape 10"/>
          <p:cNvSpPr/>
          <p:nvPr/>
        </p:nvSpPr>
        <p:spPr>
          <a:xfrm>
            <a:off x="4425696" y="2267712"/>
            <a:ext cx="512064" cy="512064"/>
          </a:xfrm>
          <a:prstGeom prst="ellipse">
            <a:avLst/>
          </a:prstGeom>
          <a:solidFill>
            <a:srgbClr val="714B90"/>
          </a:solidFill>
          <a:ln w="6350">
            <a:solidFill>
              <a:srgbClr val="714B90"/>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4558833" y="2400849"/>
            <a:ext cx="245791" cy="245791"/>
          </a:xfrm>
          <a:prstGeom prst="rect">
            <a:avLst/>
          </a:prstGeom>
        </p:spPr>
      </p:pic>
      <p:sp>
        <p:nvSpPr>
          <p:cNvPr id="16" name="Text 11"/>
          <p:cNvSpPr txBox="1"/>
          <p:nvPr/>
        </p:nvSpPr>
        <p:spPr>
          <a:xfrm>
            <a:off x="5093208" y="2286000"/>
            <a:ext cx="2377440" cy="457200"/>
          </a:xfrm>
          <a:prstGeom prst="rect">
            <a:avLst/>
          </a:prstGeom>
          <a:noFill/>
          <a:ln/>
        </p:spPr>
        <p:txBody>
          <a:bodyPr wrap="square" lIns="0" tIns="0" rIns="0" bIns="0" rtlCol="0" anchor="ctr"/>
          <a:lstStyle/>
          <a:p>
            <a:pPr marL="0" indent="0">
              <a:buNone/>
            </a:pPr>
            <a:r>
              <a:rPr lang="en-US" sz="1700" b="1" dirty="0">
                <a:solidFill>
                  <a:srgbClr val="714B90"/>
                </a:solidFill>
                <a:latin typeface="Cambria" pitchFamily="34" charset="0"/>
                <a:ea typeface="Cambria" pitchFamily="34" charset="-122"/>
                <a:cs typeface="Cambria" pitchFamily="34" charset="-120"/>
              </a:rPr>
              <a:t>Concepts to reinforce</a:t>
            </a:r>
            <a:endParaRPr lang="en-US" sz="1700" dirty="0"/>
          </a:p>
        </p:txBody>
      </p:sp>
      <p:sp>
        <p:nvSpPr>
          <p:cNvPr id="17" name="Text 12"/>
          <p:cNvSpPr txBox="1"/>
          <p:nvPr/>
        </p:nvSpPr>
        <p:spPr>
          <a:xfrm>
            <a:off x="4425696" y="2880360"/>
            <a:ext cx="2971800" cy="640080"/>
          </a:xfrm>
          <a:prstGeom prst="rect">
            <a:avLst/>
          </a:prstGeom>
          <a:noFill/>
          <a:ln/>
        </p:spPr>
        <p:txBody>
          <a:bodyPr wrap="square" lIns="0" tIns="0" rIns="0" bIns="0" rtlCol="0" anchor="t"/>
          <a:lstStyle/>
          <a:p>
            <a:pPr marL="0" indent="0">
              <a:buNone/>
            </a:pPr>
            <a:r>
              <a:rPr lang="en-US" sz="1350" dirty="0">
                <a:solidFill>
                  <a:srgbClr val="241E2A"/>
                </a:solidFill>
                <a:latin typeface="Calibri" pitchFamily="34" charset="0"/>
                <a:ea typeface="Calibri" pitchFamily="34" charset="-122"/>
                <a:cs typeface="Calibri" pitchFamily="34" charset="-120"/>
              </a:rPr>
              <a:t>Topics where students may need another explanation or more practice.</a:t>
            </a:r>
            <a:endParaRPr lang="en-US" sz="1350" dirty="0"/>
          </a:p>
        </p:txBody>
      </p:sp>
      <p:sp>
        <p:nvSpPr>
          <p:cNvPr id="18" name="Shape 13"/>
          <p:cNvSpPr/>
          <p:nvPr/>
        </p:nvSpPr>
        <p:spPr>
          <a:xfrm>
            <a:off x="566928" y="3886200"/>
            <a:ext cx="3401568" cy="1645920"/>
          </a:xfrm>
          <a:prstGeom prst="roundRect">
            <a:avLst>
              <a:gd name="adj" fmla="val 4444"/>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19" name="Shape 14"/>
          <p:cNvSpPr/>
          <p:nvPr/>
        </p:nvSpPr>
        <p:spPr>
          <a:xfrm>
            <a:off x="795528" y="4142232"/>
            <a:ext cx="512064" cy="512064"/>
          </a:xfrm>
          <a:prstGeom prst="ellipse">
            <a:avLst/>
          </a:prstGeom>
          <a:solidFill>
            <a:srgbClr val="714B90"/>
          </a:solidFill>
          <a:ln w="6350">
            <a:solidFill>
              <a:srgbClr val="714B90"/>
            </a:solidFill>
            <a:prstDash val="solid"/>
          </a:ln>
        </p:spPr>
        <p:txBody>
          <a:bodyPr/>
          <a:lstStyle/>
          <a:p>
            <a:endParaRPr lang="en-IN"/>
          </a:p>
        </p:txBody>
      </p:sp>
      <p:pic>
        <p:nvPicPr>
          <p:cNvPr id="20" name="Image 3" descr="preencoded.png"/>
          <p:cNvPicPr>
            <a:picLocks noChangeAspect="1"/>
          </p:cNvPicPr>
          <p:nvPr/>
        </p:nvPicPr>
        <p:blipFill>
          <a:blip r:embed="rId6"/>
          <a:stretch>
            <a:fillRect/>
          </a:stretch>
        </p:blipFill>
        <p:spPr>
          <a:xfrm>
            <a:off x="928665" y="4275369"/>
            <a:ext cx="245791" cy="245791"/>
          </a:xfrm>
          <a:prstGeom prst="rect">
            <a:avLst/>
          </a:prstGeom>
        </p:spPr>
      </p:pic>
      <p:sp>
        <p:nvSpPr>
          <p:cNvPr id="21" name="Text 15"/>
          <p:cNvSpPr txBox="1"/>
          <p:nvPr/>
        </p:nvSpPr>
        <p:spPr>
          <a:xfrm>
            <a:off x="1463040" y="4160520"/>
            <a:ext cx="2377440" cy="457200"/>
          </a:xfrm>
          <a:prstGeom prst="rect">
            <a:avLst/>
          </a:prstGeom>
          <a:noFill/>
          <a:ln/>
        </p:spPr>
        <p:txBody>
          <a:bodyPr wrap="square" lIns="0" tIns="0" rIns="0" bIns="0" rtlCol="0" anchor="ctr"/>
          <a:lstStyle/>
          <a:p>
            <a:pPr marL="0" indent="0">
              <a:buNone/>
            </a:pPr>
            <a:r>
              <a:rPr lang="en-US" sz="1700" b="1" dirty="0">
                <a:solidFill>
                  <a:srgbClr val="714B90"/>
                </a:solidFill>
                <a:latin typeface="Cambria" pitchFamily="34" charset="0"/>
                <a:ea typeface="Cambria" pitchFamily="34" charset="-122"/>
                <a:cs typeface="Cambria" pitchFamily="34" charset="-120"/>
              </a:rPr>
              <a:t>Student questions</a:t>
            </a:r>
            <a:endParaRPr lang="en-US" sz="1700" dirty="0"/>
          </a:p>
        </p:txBody>
      </p:sp>
      <p:sp>
        <p:nvSpPr>
          <p:cNvPr id="22" name="Text 16"/>
          <p:cNvSpPr txBox="1"/>
          <p:nvPr/>
        </p:nvSpPr>
        <p:spPr>
          <a:xfrm>
            <a:off x="795528" y="4754880"/>
            <a:ext cx="2971800" cy="640080"/>
          </a:xfrm>
          <a:prstGeom prst="rect">
            <a:avLst/>
          </a:prstGeom>
          <a:noFill/>
          <a:ln/>
        </p:spPr>
        <p:txBody>
          <a:bodyPr wrap="square" lIns="0" tIns="0" rIns="0" bIns="0" rtlCol="0" anchor="t"/>
          <a:lstStyle/>
          <a:p>
            <a:pPr marL="0" indent="0">
              <a:buNone/>
            </a:pPr>
            <a:r>
              <a:rPr lang="en-US" sz="1350" dirty="0">
                <a:solidFill>
                  <a:srgbClr val="241E2A"/>
                </a:solidFill>
                <a:latin typeface="Calibri" pitchFamily="34" charset="0"/>
                <a:ea typeface="Calibri" pitchFamily="34" charset="-122"/>
                <a:cs typeface="Calibri" pitchFamily="34" charset="-120"/>
              </a:rPr>
              <a:t>Questions students asked and patterns of confusion across the class.</a:t>
            </a:r>
            <a:endParaRPr lang="en-US" sz="1350" dirty="0"/>
          </a:p>
        </p:txBody>
      </p:sp>
      <p:sp>
        <p:nvSpPr>
          <p:cNvPr id="23" name="Shape 17"/>
          <p:cNvSpPr/>
          <p:nvPr/>
        </p:nvSpPr>
        <p:spPr>
          <a:xfrm>
            <a:off x="4197096" y="3886200"/>
            <a:ext cx="3401568" cy="1645920"/>
          </a:xfrm>
          <a:prstGeom prst="roundRect">
            <a:avLst>
              <a:gd name="adj" fmla="val 4444"/>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24" name="Shape 18"/>
          <p:cNvSpPr/>
          <p:nvPr/>
        </p:nvSpPr>
        <p:spPr>
          <a:xfrm>
            <a:off x="4425696" y="4142232"/>
            <a:ext cx="512064" cy="512064"/>
          </a:xfrm>
          <a:prstGeom prst="ellipse">
            <a:avLst/>
          </a:prstGeom>
          <a:solidFill>
            <a:srgbClr val="714B90"/>
          </a:solidFill>
          <a:ln w="6350">
            <a:solidFill>
              <a:srgbClr val="714B90"/>
            </a:solidFill>
            <a:prstDash val="solid"/>
          </a:ln>
        </p:spPr>
        <p:txBody>
          <a:bodyPr/>
          <a:lstStyle/>
          <a:p>
            <a:endParaRPr lang="en-IN"/>
          </a:p>
        </p:txBody>
      </p:sp>
      <p:pic>
        <p:nvPicPr>
          <p:cNvPr id="25" name="Image 4" descr="preencoded.png"/>
          <p:cNvPicPr>
            <a:picLocks noChangeAspect="1"/>
          </p:cNvPicPr>
          <p:nvPr/>
        </p:nvPicPr>
        <p:blipFill>
          <a:blip r:embed="rId7"/>
          <a:stretch>
            <a:fillRect/>
          </a:stretch>
        </p:blipFill>
        <p:spPr>
          <a:xfrm>
            <a:off x="4558833" y="4275369"/>
            <a:ext cx="245791" cy="245791"/>
          </a:xfrm>
          <a:prstGeom prst="rect">
            <a:avLst/>
          </a:prstGeom>
        </p:spPr>
      </p:pic>
      <p:sp>
        <p:nvSpPr>
          <p:cNvPr id="26" name="Text 19"/>
          <p:cNvSpPr txBox="1"/>
          <p:nvPr/>
        </p:nvSpPr>
        <p:spPr>
          <a:xfrm>
            <a:off x="5093208" y="4160520"/>
            <a:ext cx="2377440" cy="457200"/>
          </a:xfrm>
          <a:prstGeom prst="rect">
            <a:avLst/>
          </a:prstGeom>
          <a:noFill/>
          <a:ln/>
        </p:spPr>
        <p:txBody>
          <a:bodyPr wrap="square" lIns="0" tIns="0" rIns="0" bIns="0" rtlCol="0" anchor="ctr"/>
          <a:lstStyle/>
          <a:p>
            <a:pPr marL="0" indent="0">
              <a:buNone/>
            </a:pPr>
            <a:r>
              <a:rPr lang="en-US" sz="1700" b="1" dirty="0">
                <a:solidFill>
                  <a:srgbClr val="714B90"/>
                </a:solidFill>
                <a:latin typeface="Cambria" pitchFamily="34" charset="0"/>
                <a:ea typeface="Cambria" pitchFamily="34" charset="-122"/>
                <a:cs typeface="Cambria" pitchFamily="34" charset="-120"/>
              </a:rPr>
              <a:t>Ideas for next time</a:t>
            </a:r>
            <a:endParaRPr lang="en-US" sz="1700" dirty="0"/>
          </a:p>
        </p:txBody>
      </p:sp>
      <p:sp>
        <p:nvSpPr>
          <p:cNvPr id="27" name="Text 20"/>
          <p:cNvSpPr txBox="1"/>
          <p:nvPr/>
        </p:nvSpPr>
        <p:spPr>
          <a:xfrm>
            <a:off x="4425696" y="4754880"/>
            <a:ext cx="2971800" cy="640080"/>
          </a:xfrm>
          <a:prstGeom prst="rect">
            <a:avLst/>
          </a:prstGeom>
          <a:noFill/>
          <a:ln/>
        </p:spPr>
        <p:txBody>
          <a:bodyPr wrap="square" lIns="0" tIns="0" rIns="0" bIns="0" rtlCol="0" anchor="t"/>
          <a:lstStyle/>
          <a:p>
            <a:pPr marL="0" indent="0">
              <a:buNone/>
            </a:pPr>
            <a:r>
              <a:rPr lang="en-US" sz="1350" dirty="0">
                <a:solidFill>
                  <a:srgbClr val="241E2A"/>
                </a:solidFill>
                <a:latin typeface="Calibri" pitchFamily="34" charset="0"/>
                <a:ea typeface="Calibri" pitchFamily="34" charset="-122"/>
                <a:cs typeface="Calibri" pitchFamily="34" charset="-120"/>
              </a:rPr>
              <a:t>Suggestions to adjust pace, examples or activities in the next lesson.</a:t>
            </a:r>
            <a:endParaRPr lang="en-US" sz="1350" dirty="0"/>
          </a:p>
        </p:txBody>
      </p:sp>
      <p:sp>
        <p:nvSpPr>
          <p:cNvPr id="28" name="Shape 21"/>
          <p:cNvSpPr/>
          <p:nvPr/>
        </p:nvSpPr>
        <p:spPr>
          <a:xfrm>
            <a:off x="7882128" y="2011680"/>
            <a:ext cx="3749040" cy="3520440"/>
          </a:xfrm>
          <a:prstGeom prst="roundRect">
            <a:avLst>
              <a:gd name="adj" fmla="val 2078"/>
            </a:avLst>
          </a:prstGeom>
          <a:solidFill>
            <a:srgbClr val="714B90"/>
          </a:solidFill>
          <a:ln w="6350">
            <a:solidFill>
              <a:srgbClr val="714B90"/>
            </a:solidFill>
            <a:prstDash val="solid"/>
          </a:ln>
          <a:effectLst>
            <a:outerShdw blurRad="101600" dist="25400" dir="5400000" algn="bl" rotWithShape="0">
              <a:srgbClr val="4A3560">
                <a:alpha val="12000"/>
              </a:srgbClr>
            </a:outerShdw>
          </a:effectLst>
        </p:spPr>
        <p:txBody>
          <a:bodyPr/>
          <a:lstStyle/>
          <a:p>
            <a:endParaRPr lang="en-IN"/>
          </a:p>
        </p:txBody>
      </p:sp>
      <p:sp>
        <p:nvSpPr>
          <p:cNvPr id="29" name="Shape 22"/>
          <p:cNvSpPr/>
          <p:nvPr/>
        </p:nvSpPr>
        <p:spPr>
          <a:xfrm>
            <a:off x="8156448" y="2304288"/>
            <a:ext cx="603504" cy="603504"/>
          </a:xfrm>
          <a:prstGeom prst="ellipse">
            <a:avLst/>
          </a:prstGeom>
          <a:solidFill>
            <a:srgbClr val="FFFFFF"/>
          </a:solidFill>
          <a:ln w="6350">
            <a:solidFill>
              <a:srgbClr val="FFFFFF"/>
            </a:solidFill>
            <a:prstDash val="solid"/>
          </a:ln>
        </p:spPr>
        <p:txBody>
          <a:bodyPr/>
          <a:lstStyle/>
          <a:p>
            <a:endParaRPr lang="en-IN"/>
          </a:p>
        </p:txBody>
      </p:sp>
      <p:pic>
        <p:nvPicPr>
          <p:cNvPr id="30" name="Image 5" descr="preencoded.png"/>
          <p:cNvPicPr>
            <a:picLocks noChangeAspect="1"/>
          </p:cNvPicPr>
          <p:nvPr/>
        </p:nvPicPr>
        <p:blipFill>
          <a:blip r:embed="rId8"/>
          <a:stretch>
            <a:fillRect/>
          </a:stretch>
        </p:blipFill>
        <p:spPr>
          <a:xfrm>
            <a:off x="8313359" y="2461199"/>
            <a:ext cx="289682" cy="289682"/>
          </a:xfrm>
          <a:prstGeom prst="rect">
            <a:avLst/>
          </a:prstGeom>
        </p:spPr>
      </p:pic>
      <p:sp>
        <p:nvSpPr>
          <p:cNvPr id="31" name="Text 23"/>
          <p:cNvSpPr txBox="1"/>
          <p:nvPr/>
        </p:nvSpPr>
        <p:spPr>
          <a:xfrm>
            <a:off x="8156448" y="3063240"/>
            <a:ext cx="3246120" cy="777240"/>
          </a:xfrm>
          <a:prstGeom prst="rect">
            <a:avLst/>
          </a:prstGeom>
          <a:noFill/>
          <a:ln/>
        </p:spPr>
        <p:txBody>
          <a:bodyPr wrap="square" lIns="0" tIns="0" rIns="0" bIns="0" rtlCol="0" anchor="t"/>
          <a:lstStyle/>
          <a:p>
            <a:pPr marL="0" indent="0">
              <a:buNone/>
            </a:pPr>
            <a:r>
              <a:rPr lang="en-US" sz="2000" b="1" dirty="0">
                <a:solidFill>
                  <a:srgbClr val="FFFFFF"/>
                </a:solidFill>
                <a:latin typeface="Cambria" pitchFamily="34" charset="0"/>
                <a:ea typeface="Cambria" pitchFamily="34" charset="-122"/>
                <a:cs typeface="Cambria" pitchFamily="34" charset="-120"/>
              </a:rPr>
              <a:t>Your next lesson, better informed</a:t>
            </a:r>
            <a:endParaRPr lang="en-US" sz="2000" dirty="0"/>
          </a:p>
        </p:txBody>
      </p:sp>
      <p:sp>
        <p:nvSpPr>
          <p:cNvPr id="32" name="Text 24"/>
          <p:cNvSpPr txBox="1"/>
          <p:nvPr/>
        </p:nvSpPr>
        <p:spPr>
          <a:xfrm>
            <a:off x="8156448" y="3886200"/>
            <a:ext cx="3246120" cy="1005840"/>
          </a:xfrm>
          <a:prstGeom prst="rect">
            <a:avLst/>
          </a:prstGeom>
          <a:noFill/>
          <a:ln/>
        </p:spPr>
        <p:txBody>
          <a:bodyPr wrap="square" lIns="0" tIns="0" rIns="0" bIns="0" rtlCol="0" anchor="t"/>
          <a:lstStyle/>
          <a:p>
            <a:pPr marL="0" indent="0">
              <a:buNone/>
            </a:pPr>
            <a:r>
              <a:rPr lang="en-US" sz="1400" dirty="0">
                <a:solidFill>
                  <a:srgbClr val="DED0EC"/>
                </a:solidFill>
                <a:latin typeface="Calibri" pitchFamily="34" charset="0"/>
                <a:ea typeface="Calibri" pitchFamily="34" charset="-122"/>
                <a:cs typeface="Calibri" pitchFamily="34" charset="-120"/>
              </a:rPr>
              <a:t>A reflection aid for the teacher: what to revisit, which examples landed, and where students need more support.</a:t>
            </a:r>
            <a:endParaRPr lang="en-US" sz="1400" dirty="0"/>
          </a:p>
        </p:txBody>
      </p:sp>
      <p:sp>
        <p:nvSpPr>
          <p:cNvPr id="33" name="Shape 25"/>
          <p:cNvSpPr/>
          <p:nvPr/>
        </p:nvSpPr>
        <p:spPr>
          <a:xfrm>
            <a:off x="8156448" y="4983480"/>
            <a:ext cx="1920240" cy="329184"/>
          </a:xfrm>
          <a:prstGeom prst="roundRect">
            <a:avLst>
              <a:gd name="adj" fmla="val 50000"/>
            </a:avLst>
          </a:prstGeom>
          <a:solidFill>
            <a:srgbClr val="C98A2E"/>
          </a:solidFill>
          <a:ln w="6350">
            <a:solidFill>
              <a:srgbClr val="C98A2E"/>
            </a:solidFill>
            <a:prstDash val="solid"/>
          </a:ln>
        </p:spPr>
        <p:txBody>
          <a:bodyPr/>
          <a:lstStyle/>
          <a:p>
            <a:endParaRPr lang="en-IN"/>
          </a:p>
        </p:txBody>
      </p:sp>
      <p:sp>
        <p:nvSpPr>
          <p:cNvPr id="34" name="Text 26"/>
          <p:cNvSpPr txBox="1"/>
          <p:nvPr/>
        </p:nvSpPr>
        <p:spPr>
          <a:xfrm>
            <a:off x="8156448" y="4983480"/>
            <a:ext cx="192024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Rolling out in phases</a:t>
            </a:r>
            <a:endParaRPr lang="en-US" sz="1150" dirty="0"/>
          </a:p>
        </p:txBody>
      </p:sp>
      <p:sp>
        <p:nvSpPr>
          <p:cNvPr id="35" name="Text 27"/>
          <p:cNvSpPr txBox="1"/>
          <p:nvPr/>
        </p:nvSpPr>
        <p:spPr>
          <a:xfrm>
            <a:off x="566928" y="5760720"/>
            <a:ext cx="11064240" cy="329184"/>
          </a:xfrm>
          <a:prstGeom prst="rect">
            <a:avLst/>
          </a:prstGeom>
          <a:noFill/>
          <a:ln/>
        </p:spPr>
        <p:txBody>
          <a:bodyPr wrap="square" lIns="0" tIns="0" rIns="0" bIns="0" rtlCol="0" anchor="ctr"/>
          <a:lstStyle/>
          <a:p>
            <a:pPr marL="0" indent="0" algn="ctr">
              <a:buNone/>
            </a:pPr>
            <a:r>
              <a:rPr lang="en-US" sz="1400" i="1" dirty="0">
                <a:solidFill>
                  <a:srgbClr val="6E6579"/>
                </a:solidFill>
                <a:latin typeface="Calibri" pitchFamily="34" charset="0"/>
                <a:ea typeface="Calibri" pitchFamily="34" charset="-122"/>
                <a:cs typeface="Calibri" pitchFamily="34" charset="-120"/>
              </a:rPr>
              <a:t>Leoki connects classroom, teacher and home activity so every lesson can inform the next.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33888" y="356616"/>
            <a:ext cx="1060704" cy="393192"/>
          </a:xfrm>
          <a:prstGeom prst="rect">
            <a:avLst/>
          </a:prstGeom>
        </p:spPr>
      </p:pic>
      <p:sp>
        <p:nvSpPr>
          <p:cNvPr id="3"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98A2E"/>
                </a:solidFill>
                <a:latin typeface="Calibri" pitchFamily="34" charset="0"/>
                <a:ea typeface="Calibri" pitchFamily="34" charset="-122"/>
                <a:cs typeface="Calibri" pitchFamily="34" charset="-120"/>
              </a:rPr>
              <a:t>04  ·  BEYOND SCHOOL</a:t>
            </a:r>
            <a:endParaRPr lang="en-US" sz="1200" dirty="0"/>
          </a:p>
        </p:txBody>
      </p:sp>
      <p:sp>
        <p:nvSpPr>
          <p:cNvPr id="4" name="Text 1"/>
          <p:cNvSpPr txBox="1"/>
          <p:nvPr/>
        </p:nvSpPr>
        <p:spPr>
          <a:xfrm>
            <a:off x="548640" y="749808"/>
            <a:ext cx="9875520" cy="658368"/>
          </a:xfrm>
          <a:prstGeom prst="rect">
            <a:avLst/>
          </a:prstGeom>
          <a:noFill/>
          <a:ln/>
        </p:spPr>
        <p:txBody>
          <a:bodyPr wrap="square" lIns="0" tIns="0" rIns="0" bIns="0" rtlCol="0" anchor="ctr"/>
          <a:lstStyle/>
          <a:p>
            <a:pPr marL="0" indent="0">
              <a:buNone/>
            </a:pPr>
            <a:r>
              <a:rPr lang="en-US" sz="3200" b="1" dirty="0">
                <a:solidFill>
                  <a:srgbClr val="714B90"/>
                </a:solidFill>
                <a:latin typeface="Cambria" pitchFamily="34" charset="0"/>
                <a:ea typeface="Cambria" pitchFamily="34" charset="-122"/>
                <a:cs typeface="Cambria" pitchFamily="34" charset="-120"/>
              </a:rPr>
              <a:t>For Students: Learning Continues at Home</a:t>
            </a:r>
            <a:endParaRPr lang="en-US" sz="3200" dirty="0"/>
          </a:p>
        </p:txBody>
      </p:sp>
      <p:sp>
        <p:nvSpPr>
          <p:cNvPr id="5" name="Text 2"/>
          <p:cNvSpPr txBox="1"/>
          <p:nvPr/>
        </p:nvSpPr>
        <p:spPr>
          <a:xfrm>
            <a:off x="548640" y="1444752"/>
            <a:ext cx="11064240" cy="402336"/>
          </a:xfrm>
          <a:prstGeom prst="rect">
            <a:avLst/>
          </a:prstGeom>
          <a:noFill/>
          <a:ln/>
        </p:spPr>
        <p:txBody>
          <a:bodyPr wrap="square" lIns="0" tIns="0" rIns="0" bIns="0" rtlCol="0" anchor="ctr"/>
          <a:lstStyle/>
          <a:p>
            <a:pPr marL="0" indent="0">
              <a:buNone/>
            </a:pPr>
            <a:r>
              <a:rPr lang="en-US" sz="1600" i="1" dirty="0">
                <a:solidFill>
                  <a:srgbClr val="6E6579"/>
                </a:solidFill>
                <a:latin typeface="Calibri" pitchFamily="34" charset="0"/>
                <a:ea typeface="Calibri" pitchFamily="34" charset="-122"/>
                <a:cs typeface="Calibri" pitchFamily="34" charset="-120"/>
              </a:rPr>
              <a:t>Same curriculum, same school ecosystem. Practice at home builds on what was taught in class.</a:t>
            </a:r>
            <a:endParaRPr lang="en-US" sz="1600" dirty="0"/>
          </a:p>
        </p:txBody>
      </p:sp>
      <p:sp>
        <p:nvSpPr>
          <p:cNvPr id="6" name="Text 3"/>
          <p:cNvSpPr txBox="1"/>
          <p:nvPr/>
        </p:nvSpPr>
        <p:spPr>
          <a:xfrm>
            <a:off x="548640" y="6419088"/>
            <a:ext cx="5943600" cy="256032"/>
          </a:xfrm>
          <a:prstGeom prst="rect">
            <a:avLst/>
          </a:prstGeom>
          <a:noFill/>
          <a:ln/>
        </p:spPr>
        <p:txBody>
          <a:bodyPr wrap="square" lIns="0" tIns="0" rIns="0" bIns="0" rtlCol="0" anchor="ctr"/>
          <a:lstStyle/>
          <a:p>
            <a:pPr marL="0" indent="0">
              <a:buNone/>
            </a:pPr>
            <a:r>
              <a:rPr lang="en-US" sz="950" dirty="0">
                <a:solidFill>
                  <a:srgbClr val="A79DB2"/>
                </a:solidFill>
                <a:latin typeface="Calibri" pitchFamily="34" charset="0"/>
                <a:ea typeface="Calibri" pitchFamily="34" charset="-122"/>
                <a:cs typeface="Calibri" pitchFamily="34" charset="-120"/>
              </a:rPr>
              <a:t>Karmel AI Learning Programme  ·  Teacher Orientation</a:t>
            </a:r>
            <a:endParaRPr lang="en-US" sz="950" dirty="0"/>
          </a:p>
        </p:txBody>
      </p:sp>
      <p:sp>
        <p:nvSpPr>
          <p:cNvPr id="7" name="Text 4"/>
          <p:cNvSpPr txBox="1"/>
          <p:nvPr/>
        </p:nvSpPr>
        <p:spPr>
          <a:xfrm>
            <a:off x="10881360" y="6419088"/>
            <a:ext cx="758952" cy="256032"/>
          </a:xfrm>
          <a:prstGeom prst="rect">
            <a:avLst/>
          </a:prstGeom>
          <a:noFill/>
          <a:ln/>
        </p:spPr>
        <p:txBody>
          <a:bodyPr wrap="square" lIns="0" tIns="0" rIns="0" bIns="0" rtlCol="0" anchor="ctr"/>
          <a:lstStyle/>
          <a:p>
            <a:pPr marL="0" indent="0" algn="r">
              <a:buNone/>
            </a:pPr>
            <a:r>
              <a:rPr lang="en-US" sz="950" dirty="0">
                <a:solidFill>
                  <a:srgbClr val="A79DB2"/>
                </a:solidFill>
                <a:latin typeface="Calibri" pitchFamily="34" charset="0"/>
                <a:ea typeface="Calibri" pitchFamily="34" charset="-122"/>
                <a:cs typeface="Calibri" pitchFamily="34" charset="-120"/>
              </a:rPr>
              <a:t>7</a:t>
            </a:r>
            <a:endParaRPr lang="en-US" sz="950" dirty="0"/>
          </a:p>
        </p:txBody>
      </p:sp>
      <p:sp>
        <p:nvSpPr>
          <p:cNvPr id="8" name="Shape 5"/>
          <p:cNvSpPr/>
          <p:nvPr/>
        </p:nvSpPr>
        <p:spPr>
          <a:xfrm>
            <a:off x="566928" y="2011680"/>
            <a:ext cx="6720840" cy="3520440"/>
          </a:xfrm>
          <a:prstGeom prst="roundRect">
            <a:avLst>
              <a:gd name="adj" fmla="val 2078"/>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9" name="Text 6"/>
          <p:cNvSpPr txBox="1"/>
          <p:nvPr/>
        </p:nvSpPr>
        <p:spPr>
          <a:xfrm>
            <a:off x="868680" y="2240280"/>
            <a:ext cx="5943600" cy="365760"/>
          </a:xfrm>
          <a:prstGeom prst="rect">
            <a:avLst/>
          </a:prstGeom>
          <a:noFill/>
          <a:ln/>
        </p:spPr>
        <p:txBody>
          <a:bodyPr wrap="square" lIns="0" tIns="0" rIns="0" bIns="0" rtlCol="0" anchor="ctr"/>
          <a:lstStyle/>
          <a:p>
            <a:pPr marL="0" indent="0">
              <a:buNone/>
            </a:pPr>
            <a:r>
              <a:rPr lang="en-US" sz="1800" b="1" dirty="0">
                <a:solidFill>
                  <a:srgbClr val="714B90"/>
                </a:solidFill>
                <a:latin typeface="Cambria" pitchFamily="34" charset="0"/>
                <a:ea typeface="Cambria" pitchFamily="34" charset="-122"/>
                <a:cs typeface="Cambria" pitchFamily="34" charset="-120"/>
              </a:rPr>
              <a:t>Students can use Leoki for</a:t>
            </a:r>
            <a:endParaRPr lang="en-US" sz="1800" dirty="0"/>
          </a:p>
        </p:txBody>
      </p:sp>
      <p:sp>
        <p:nvSpPr>
          <p:cNvPr id="10" name="Shape 7"/>
          <p:cNvSpPr/>
          <p:nvPr/>
        </p:nvSpPr>
        <p:spPr>
          <a:xfrm>
            <a:off x="868680" y="2926080"/>
            <a:ext cx="512064" cy="512064"/>
          </a:xfrm>
          <a:prstGeom prst="ellipse">
            <a:avLst/>
          </a:prstGeom>
          <a:solidFill>
            <a:srgbClr val="F4F0F9"/>
          </a:solidFill>
          <a:ln w="6350">
            <a:solidFill>
              <a:srgbClr val="F4F0F9"/>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1006937" y="3064337"/>
            <a:ext cx="235549" cy="235549"/>
          </a:xfrm>
          <a:prstGeom prst="rect">
            <a:avLst/>
          </a:prstGeom>
        </p:spPr>
      </p:pic>
      <p:sp>
        <p:nvSpPr>
          <p:cNvPr id="12" name="Text 8"/>
          <p:cNvSpPr txBox="1"/>
          <p:nvPr/>
        </p:nvSpPr>
        <p:spPr>
          <a:xfrm>
            <a:off x="1527048" y="2926080"/>
            <a:ext cx="2377440" cy="512064"/>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Structured chapter learning</a:t>
            </a:r>
            <a:endParaRPr lang="en-US" sz="1450" dirty="0"/>
          </a:p>
        </p:txBody>
      </p:sp>
      <p:sp>
        <p:nvSpPr>
          <p:cNvPr id="13" name="Shape 9"/>
          <p:cNvSpPr/>
          <p:nvPr/>
        </p:nvSpPr>
        <p:spPr>
          <a:xfrm>
            <a:off x="4023360" y="2926080"/>
            <a:ext cx="512064" cy="512064"/>
          </a:xfrm>
          <a:prstGeom prst="ellipse">
            <a:avLst/>
          </a:prstGeom>
          <a:solidFill>
            <a:srgbClr val="F4F0F9"/>
          </a:solidFill>
          <a:ln w="6350">
            <a:solidFill>
              <a:srgbClr val="F4F0F9"/>
            </a:solidFill>
            <a:prstDash val="solid"/>
          </a:ln>
        </p:spPr>
        <p:txBody>
          <a:bodyPr/>
          <a:lstStyle/>
          <a:p>
            <a:endParaRPr lang="en-IN"/>
          </a:p>
        </p:txBody>
      </p:sp>
      <p:pic>
        <p:nvPicPr>
          <p:cNvPr id="14" name="Image 2" descr="preencoded.png"/>
          <p:cNvPicPr>
            <a:picLocks noChangeAspect="1"/>
          </p:cNvPicPr>
          <p:nvPr/>
        </p:nvPicPr>
        <p:blipFill>
          <a:blip r:embed="rId5"/>
          <a:stretch>
            <a:fillRect/>
          </a:stretch>
        </p:blipFill>
        <p:spPr>
          <a:xfrm>
            <a:off x="4161617" y="3064337"/>
            <a:ext cx="235549" cy="235549"/>
          </a:xfrm>
          <a:prstGeom prst="rect">
            <a:avLst/>
          </a:prstGeom>
        </p:spPr>
      </p:pic>
      <p:sp>
        <p:nvSpPr>
          <p:cNvPr id="15" name="Text 10"/>
          <p:cNvSpPr txBox="1"/>
          <p:nvPr/>
        </p:nvSpPr>
        <p:spPr>
          <a:xfrm>
            <a:off x="4681728" y="2926080"/>
            <a:ext cx="2377440" cy="512064"/>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Doubt solving</a:t>
            </a:r>
            <a:endParaRPr lang="en-US" sz="1450" dirty="0"/>
          </a:p>
        </p:txBody>
      </p:sp>
      <p:sp>
        <p:nvSpPr>
          <p:cNvPr id="16" name="Shape 11"/>
          <p:cNvSpPr/>
          <p:nvPr/>
        </p:nvSpPr>
        <p:spPr>
          <a:xfrm>
            <a:off x="868680" y="3822192"/>
            <a:ext cx="512064" cy="512064"/>
          </a:xfrm>
          <a:prstGeom prst="ellipse">
            <a:avLst/>
          </a:prstGeom>
          <a:solidFill>
            <a:srgbClr val="F4F0F9"/>
          </a:solidFill>
          <a:ln w="6350">
            <a:solidFill>
              <a:srgbClr val="F4F0F9"/>
            </a:solidFill>
            <a:prstDash val="solid"/>
          </a:ln>
        </p:spPr>
        <p:txBody>
          <a:bodyPr/>
          <a:lstStyle/>
          <a:p>
            <a:endParaRPr lang="en-IN"/>
          </a:p>
        </p:txBody>
      </p:sp>
      <p:pic>
        <p:nvPicPr>
          <p:cNvPr id="17" name="Image 3" descr="preencoded.png"/>
          <p:cNvPicPr>
            <a:picLocks noChangeAspect="1"/>
          </p:cNvPicPr>
          <p:nvPr/>
        </p:nvPicPr>
        <p:blipFill>
          <a:blip r:embed="rId6"/>
          <a:stretch>
            <a:fillRect/>
          </a:stretch>
        </p:blipFill>
        <p:spPr>
          <a:xfrm>
            <a:off x="1006937" y="3960449"/>
            <a:ext cx="235549" cy="235549"/>
          </a:xfrm>
          <a:prstGeom prst="rect">
            <a:avLst/>
          </a:prstGeom>
        </p:spPr>
      </p:pic>
      <p:sp>
        <p:nvSpPr>
          <p:cNvPr id="18" name="Text 12"/>
          <p:cNvSpPr txBox="1"/>
          <p:nvPr/>
        </p:nvSpPr>
        <p:spPr>
          <a:xfrm>
            <a:off x="1527048" y="3822192"/>
            <a:ext cx="2377440" cy="512064"/>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Revision</a:t>
            </a:r>
            <a:endParaRPr lang="en-US" sz="1450" dirty="0"/>
          </a:p>
        </p:txBody>
      </p:sp>
      <p:sp>
        <p:nvSpPr>
          <p:cNvPr id="19" name="Shape 13"/>
          <p:cNvSpPr/>
          <p:nvPr/>
        </p:nvSpPr>
        <p:spPr>
          <a:xfrm>
            <a:off x="4023360" y="3822192"/>
            <a:ext cx="512064" cy="512064"/>
          </a:xfrm>
          <a:prstGeom prst="ellipse">
            <a:avLst/>
          </a:prstGeom>
          <a:solidFill>
            <a:srgbClr val="F4F0F9"/>
          </a:solidFill>
          <a:ln w="6350">
            <a:solidFill>
              <a:srgbClr val="F4F0F9"/>
            </a:solidFill>
            <a:prstDash val="solid"/>
          </a:ln>
        </p:spPr>
        <p:txBody>
          <a:bodyPr/>
          <a:lstStyle/>
          <a:p>
            <a:endParaRPr lang="en-IN"/>
          </a:p>
        </p:txBody>
      </p:sp>
      <p:pic>
        <p:nvPicPr>
          <p:cNvPr id="20" name="Image 4" descr="preencoded.png"/>
          <p:cNvPicPr>
            <a:picLocks noChangeAspect="1"/>
          </p:cNvPicPr>
          <p:nvPr/>
        </p:nvPicPr>
        <p:blipFill>
          <a:blip r:embed="rId7"/>
          <a:stretch>
            <a:fillRect/>
          </a:stretch>
        </p:blipFill>
        <p:spPr>
          <a:xfrm>
            <a:off x="4161617" y="3960449"/>
            <a:ext cx="235549" cy="235549"/>
          </a:xfrm>
          <a:prstGeom prst="rect">
            <a:avLst/>
          </a:prstGeom>
        </p:spPr>
      </p:pic>
      <p:sp>
        <p:nvSpPr>
          <p:cNvPr id="21" name="Text 14"/>
          <p:cNvSpPr txBox="1"/>
          <p:nvPr/>
        </p:nvSpPr>
        <p:spPr>
          <a:xfrm>
            <a:off x="4681728" y="3822192"/>
            <a:ext cx="2377440" cy="512064"/>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Practice &amp; assessments</a:t>
            </a:r>
            <a:endParaRPr lang="en-US" sz="1450" dirty="0"/>
          </a:p>
        </p:txBody>
      </p:sp>
      <p:sp>
        <p:nvSpPr>
          <p:cNvPr id="22" name="Shape 15"/>
          <p:cNvSpPr/>
          <p:nvPr/>
        </p:nvSpPr>
        <p:spPr>
          <a:xfrm>
            <a:off x="868680" y="4718304"/>
            <a:ext cx="512064" cy="512064"/>
          </a:xfrm>
          <a:prstGeom prst="ellipse">
            <a:avLst/>
          </a:prstGeom>
          <a:solidFill>
            <a:srgbClr val="F4F0F9"/>
          </a:solidFill>
          <a:ln w="6350">
            <a:solidFill>
              <a:srgbClr val="F4F0F9"/>
            </a:solidFill>
            <a:prstDash val="solid"/>
          </a:ln>
        </p:spPr>
        <p:txBody>
          <a:bodyPr/>
          <a:lstStyle/>
          <a:p>
            <a:endParaRPr lang="en-IN"/>
          </a:p>
        </p:txBody>
      </p:sp>
      <p:pic>
        <p:nvPicPr>
          <p:cNvPr id="23" name="Image 5" descr="preencoded.png"/>
          <p:cNvPicPr>
            <a:picLocks noChangeAspect="1"/>
          </p:cNvPicPr>
          <p:nvPr/>
        </p:nvPicPr>
        <p:blipFill>
          <a:blip r:embed="rId8"/>
          <a:stretch>
            <a:fillRect/>
          </a:stretch>
        </p:blipFill>
        <p:spPr>
          <a:xfrm>
            <a:off x="1006937" y="4856561"/>
            <a:ext cx="235549" cy="235549"/>
          </a:xfrm>
          <a:prstGeom prst="rect">
            <a:avLst/>
          </a:prstGeom>
        </p:spPr>
      </p:pic>
      <p:sp>
        <p:nvSpPr>
          <p:cNvPr id="24" name="Text 16"/>
          <p:cNvSpPr txBox="1"/>
          <p:nvPr/>
        </p:nvSpPr>
        <p:spPr>
          <a:xfrm>
            <a:off x="1527048" y="4718304"/>
            <a:ext cx="2377440" cy="512064"/>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Exam preparation</a:t>
            </a:r>
            <a:endParaRPr lang="en-US" sz="1450" dirty="0"/>
          </a:p>
        </p:txBody>
      </p:sp>
      <p:sp>
        <p:nvSpPr>
          <p:cNvPr id="25" name="Shape 17"/>
          <p:cNvSpPr/>
          <p:nvPr/>
        </p:nvSpPr>
        <p:spPr>
          <a:xfrm>
            <a:off x="4023360" y="4718304"/>
            <a:ext cx="512064" cy="512064"/>
          </a:xfrm>
          <a:prstGeom prst="ellipse">
            <a:avLst/>
          </a:prstGeom>
          <a:solidFill>
            <a:srgbClr val="F4F0F9"/>
          </a:solidFill>
          <a:ln w="6350">
            <a:solidFill>
              <a:srgbClr val="F4F0F9"/>
            </a:solidFill>
            <a:prstDash val="solid"/>
          </a:ln>
        </p:spPr>
        <p:txBody>
          <a:bodyPr/>
          <a:lstStyle/>
          <a:p>
            <a:endParaRPr lang="en-IN"/>
          </a:p>
        </p:txBody>
      </p:sp>
      <p:pic>
        <p:nvPicPr>
          <p:cNvPr id="26" name="Image 6" descr="preencoded.png"/>
          <p:cNvPicPr>
            <a:picLocks noChangeAspect="1"/>
          </p:cNvPicPr>
          <p:nvPr/>
        </p:nvPicPr>
        <p:blipFill>
          <a:blip r:embed="rId9"/>
          <a:stretch>
            <a:fillRect/>
          </a:stretch>
        </p:blipFill>
        <p:spPr>
          <a:xfrm>
            <a:off x="4161617" y="4856561"/>
            <a:ext cx="235549" cy="235549"/>
          </a:xfrm>
          <a:prstGeom prst="rect">
            <a:avLst/>
          </a:prstGeom>
        </p:spPr>
      </p:pic>
      <p:sp>
        <p:nvSpPr>
          <p:cNvPr id="27" name="Text 18"/>
          <p:cNvSpPr txBox="1"/>
          <p:nvPr/>
        </p:nvSpPr>
        <p:spPr>
          <a:xfrm>
            <a:off x="4681728" y="4718304"/>
            <a:ext cx="2377440" cy="512064"/>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Progress &amp; mastery tracking</a:t>
            </a:r>
            <a:endParaRPr lang="en-US" sz="1450" dirty="0"/>
          </a:p>
        </p:txBody>
      </p:sp>
      <p:sp>
        <p:nvSpPr>
          <p:cNvPr id="28" name="Shape 19"/>
          <p:cNvSpPr/>
          <p:nvPr/>
        </p:nvSpPr>
        <p:spPr>
          <a:xfrm>
            <a:off x="7562088" y="2011680"/>
            <a:ext cx="4069080" cy="3520440"/>
          </a:xfrm>
          <a:prstGeom prst="roundRect">
            <a:avLst>
              <a:gd name="adj" fmla="val 2078"/>
            </a:avLst>
          </a:prstGeom>
          <a:solidFill>
            <a:srgbClr val="714B90"/>
          </a:solidFill>
          <a:ln w="6350">
            <a:solidFill>
              <a:srgbClr val="714B90"/>
            </a:solidFill>
            <a:prstDash val="solid"/>
          </a:ln>
          <a:effectLst>
            <a:outerShdw blurRad="101600" dist="25400" dir="5400000" algn="bl" rotWithShape="0">
              <a:srgbClr val="4A3560">
                <a:alpha val="12000"/>
              </a:srgbClr>
            </a:outerShdw>
          </a:effectLst>
        </p:spPr>
        <p:txBody>
          <a:bodyPr/>
          <a:lstStyle/>
          <a:p>
            <a:endParaRPr lang="en-IN"/>
          </a:p>
        </p:txBody>
      </p:sp>
      <p:sp>
        <p:nvSpPr>
          <p:cNvPr id="29" name="Shape 20"/>
          <p:cNvSpPr/>
          <p:nvPr/>
        </p:nvSpPr>
        <p:spPr>
          <a:xfrm>
            <a:off x="7836408" y="2304288"/>
            <a:ext cx="603504" cy="603504"/>
          </a:xfrm>
          <a:prstGeom prst="ellipse">
            <a:avLst/>
          </a:prstGeom>
          <a:solidFill>
            <a:srgbClr val="FFFFFF"/>
          </a:solidFill>
          <a:ln w="6350">
            <a:solidFill>
              <a:srgbClr val="FFFFFF"/>
            </a:solidFill>
            <a:prstDash val="solid"/>
          </a:ln>
        </p:spPr>
        <p:txBody>
          <a:bodyPr/>
          <a:lstStyle/>
          <a:p>
            <a:endParaRPr lang="en-IN"/>
          </a:p>
        </p:txBody>
      </p:sp>
      <p:pic>
        <p:nvPicPr>
          <p:cNvPr id="30" name="Image 7" descr="preencoded.png"/>
          <p:cNvPicPr>
            <a:picLocks noChangeAspect="1"/>
          </p:cNvPicPr>
          <p:nvPr/>
        </p:nvPicPr>
        <p:blipFill>
          <a:blip r:embed="rId10"/>
          <a:stretch>
            <a:fillRect/>
          </a:stretch>
        </p:blipFill>
        <p:spPr>
          <a:xfrm>
            <a:off x="7993319" y="2461199"/>
            <a:ext cx="289682" cy="289682"/>
          </a:xfrm>
          <a:prstGeom prst="rect">
            <a:avLst/>
          </a:prstGeom>
        </p:spPr>
      </p:pic>
      <p:sp>
        <p:nvSpPr>
          <p:cNvPr id="31" name="Text 21"/>
          <p:cNvSpPr txBox="1"/>
          <p:nvPr/>
        </p:nvSpPr>
        <p:spPr>
          <a:xfrm>
            <a:off x="7836408" y="3063240"/>
            <a:ext cx="3566160" cy="256032"/>
          </a:xfrm>
          <a:prstGeom prst="rect">
            <a:avLst/>
          </a:prstGeom>
          <a:noFill/>
          <a:ln/>
        </p:spPr>
        <p:txBody>
          <a:bodyPr wrap="square" lIns="0" tIns="0" rIns="0" bIns="0" rtlCol="0" anchor="ctr"/>
          <a:lstStyle/>
          <a:p>
            <a:pPr marL="0" indent="0">
              <a:buNone/>
            </a:pPr>
            <a:r>
              <a:rPr lang="en-US" sz="1100" b="1" kern="0" spc="150" dirty="0">
                <a:solidFill>
                  <a:srgbClr val="C98A2E"/>
                </a:solidFill>
                <a:latin typeface="Calibri" pitchFamily="34" charset="0"/>
                <a:ea typeface="Calibri" pitchFamily="34" charset="-122"/>
                <a:cs typeface="Calibri" pitchFamily="34" charset="-120"/>
              </a:rPr>
              <a:t>KEY DIFFERENTIATOR</a:t>
            </a:r>
            <a:endParaRPr lang="en-US" sz="1100" dirty="0"/>
          </a:p>
        </p:txBody>
      </p:sp>
      <p:sp>
        <p:nvSpPr>
          <p:cNvPr id="32" name="Text 22"/>
          <p:cNvSpPr txBox="1"/>
          <p:nvPr/>
        </p:nvSpPr>
        <p:spPr>
          <a:xfrm>
            <a:off x="7836408" y="3346704"/>
            <a:ext cx="3566160" cy="777240"/>
          </a:xfrm>
          <a:prstGeom prst="rect">
            <a:avLst/>
          </a:prstGeom>
          <a:noFill/>
          <a:ln/>
        </p:spPr>
        <p:txBody>
          <a:bodyPr wrap="square" lIns="0" tIns="0" rIns="0" bIns="0" rtlCol="0" anchor="t"/>
          <a:lstStyle/>
          <a:p>
            <a:pPr marL="0" indent="0">
              <a:buNone/>
            </a:pPr>
            <a:r>
              <a:rPr lang="en-US" sz="2000" b="1" dirty="0">
                <a:solidFill>
                  <a:srgbClr val="FFFFFF"/>
                </a:solidFill>
                <a:latin typeface="Cambria" pitchFamily="34" charset="0"/>
                <a:ea typeface="Cambria" pitchFamily="34" charset="-122"/>
                <a:cs typeface="Cambria" pitchFamily="34" charset="-120"/>
              </a:rPr>
              <a:t>Voice, text and images in 12+ Indian languages</a:t>
            </a:r>
            <a:endParaRPr lang="en-US" sz="2000" dirty="0"/>
          </a:p>
        </p:txBody>
      </p:sp>
      <p:sp>
        <p:nvSpPr>
          <p:cNvPr id="33" name="Text 23"/>
          <p:cNvSpPr txBox="1"/>
          <p:nvPr/>
        </p:nvSpPr>
        <p:spPr>
          <a:xfrm>
            <a:off x="7836408" y="4206240"/>
            <a:ext cx="3566160" cy="914400"/>
          </a:xfrm>
          <a:prstGeom prst="rect">
            <a:avLst/>
          </a:prstGeom>
          <a:noFill/>
          <a:ln/>
        </p:spPr>
        <p:txBody>
          <a:bodyPr wrap="square" lIns="0" tIns="0" rIns="0" bIns="0" rtlCol="0" anchor="t"/>
          <a:lstStyle/>
          <a:p>
            <a:pPr marL="0" indent="0">
              <a:buNone/>
            </a:pPr>
            <a:r>
              <a:rPr lang="en-US" sz="1400" dirty="0">
                <a:solidFill>
                  <a:srgbClr val="DED0EC"/>
                </a:solidFill>
                <a:latin typeface="Calibri" pitchFamily="34" charset="0"/>
                <a:ea typeface="Calibri" pitchFamily="34" charset="-122"/>
                <a:cs typeface="Calibri" pitchFamily="34" charset="-120"/>
              </a:rPr>
              <a:t>Students can speak, type or share a photo of a problem, in the language they are most comfortable with.</a:t>
            </a:r>
            <a:endParaRPr lang="en-US" sz="1400" dirty="0"/>
          </a:p>
        </p:txBody>
      </p:sp>
      <p:sp>
        <p:nvSpPr>
          <p:cNvPr id="34" name="Text 24"/>
          <p:cNvSpPr txBox="1"/>
          <p:nvPr/>
        </p:nvSpPr>
        <p:spPr>
          <a:xfrm>
            <a:off x="566928" y="5760720"/>
            <a:ext cx="11064240" cy="329184"/>
          </a:xfrm>
          <a:prstGeom prst="rect">
            <a:avLst/>
          </a:prstGeom>
          <a:noFill/>
          <a:ln/>
        </p:spPr>
        <p:txBody>
          <a:bodyPr wrap="square" lIns="0" tIns="0" rIns="0" bIns="0" rtlCol="0" anchor="ctr"/>
          <a:lstStyle/>
          <a:p>
            <a:pPr marL="0" indent="0" algn="ctr">
              <a:buNone/>
            </a:pPr>
            <a:r>
              <a:rPr lang="en-US" sz="1400" b="1" i="1" dirty="0">
                <a:solidFill>
                  <a:srgbClr val="714B90"/>
                </a:solidFill>
                <a:latin typeface="Calibri" pitchFamily="34" charset="0"/>
                <a:ea typeface="Calibri" pitchFamily="34" charset="-122"/>
                <a:cs typeface="Calibri" pitchFamily="34" charset="-120"/>
              </a:rPr>
              <a:t>For you: </a:t>
            </a:r>
            <a:r>
              <a:rPr lang="en-US" sz="1400" i="1" dirty="0">
                <a:solidFill>
                  <a:srgbClr val="6E6579"/>
                </a:solidFill>
                <a:latin typeface="Calibri" pitchFamily="34" charset="0"/>
                <a:ea typeface="Calibri" pitchFamily="34" charset="-122"/>
                <a:cs typeface="Calibri" pitchFamily="34" charset="-120"/>
              </a:rPr>
              <a:t>students come to class better prepared, routine doubts get answered at home, and you can see what they practised.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33888" y="356616"/>
            <a:ext cx="1060704" cy="393192"/>
          </a:xfrm>
          <a:prstGeom prst="rect">
            <a:avLst/>
          </a:prstGeom>
        </p:spPr>
      </p:pic>
      <p:sp>
        <p:nvSpPr>
          <p:cNvPr id="3"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98A2E"/>
                </a:solidFill>
                <a:latin typeface="Calibri" pitchFamily="34" charset="0"/>
                <a:ea typeface="Calibri" pitchFamily="34" charset="-122"/>
                <a:cs typeface="Calibri" pitchFamily="34" charset="-120"/>
              </a:rPr>
              <a:t>05  ·  LEARNING INTELLIGENCE</a:t>
            </a:r>
            <a:endParaRPr lang="en-US" sz="1200" dirty="0"/>
          </a:p>
        </p:txBody>
      </p:sp>
      <p:sp>
        <p:nvSpPr>
          <p:cNvPr id="4" name="Text 1"/>
          <p:cNvSpPr txBox="1"/>
          <p:nvPr/>
        </p:nvSpPr>
        <p:spPr>
          <a:xfrm>
            <a:off x="548640" y="749808"/>
            <a:ext cx="9875520" cy="658368"/>
          </a:xfrm>
          <a:prstGeom prst="rect">
            <a:avLst/>
          </a:prstGeom>
          <a:noFill/>
          <a:ln/>
        </p:spPr>
        <p:txBody>
          <a:bodyPr wrap="square" lIns="0" tIns="0" rIns="0" bIns="0" rtlCol="0" anchor="ctr"/>
          <a:lstStyle/>
          <a:p>
            <a:pPr marL="0" indent="0">
              <a:buNone/>
            </a:pPr>
            <a:r>
              <a:rPr lang="en-US" sz="3200" b="1" dirty="0">
                <a:solidFill>
                  <a:srgbClr val="714B90"/>
                </a:solidFill>
                <a:latin typeface="Cambria" pitchFamily="34" charset="0"/>
                <a:ea typeface="Cambria" pitchFamily="34" charset="-122"/>
                <a:cs typeface="Cambria" pitchFamily="34" charset="-120"/>
              </a:rPr>
              <a:t>Know Where Every Student Stands</a:t>
            </a:r>
            <a:endParaRPr lang="en-US" sz="3200" dirty="0"/>
          </a:p>
        </p:txBody>
      </p:sp>
      <p:sp>
        <p:nvSpPr>
          <p:cNvPr id="5" name="Text 2"/>
          <p:cNvSpPr txBox="1"/>
          <p:nvPr/>
        </p:nvSpPr>
        <p:spPr>
          <a:xfrm>
            <a:off x="548640" y="1444752"/>
            <a:ext cx="11064240" cy="402336"/>
          </a:xfrm>
          <a:prstGeom prst="rect">
            <a:avLst/>
          </a:prstGeom>
          <a:noFill/>
          <a:ln/>
        </p:spPr>
        <p:txBody>
          <a:bodyPr wrap="square" lIns="0" tIns="0" rIns="0" bIns="0" rtlCol="0" anchor="ctr"/>
          <a:lstStyle/>
          <a:p>
            <a:pPr marL="0" indent="0">
              <a:buNone/>
            </a:pPr>
            <a:r>
              <a:rPr lang="en-US" sz="1600" i="1" dirty="0">
                <a:solidFill>
                  <a:srgbClr val="6E6579"/>
                </a:solidFill>
                <a:latin typeface="Calibri" pitchFamily="34" charset="0"/>
                <a:ea typeface="Calibri" pitchFamily="34" charset="-122"/>
                <a:cs typeface="Calibri" pitchFamily="34" charset="-120"/>
              </a:rPr>
              <a:t>Classroom, practice and home-learning activity come together into one view of progress, mastery and learning needs.</a:t>
            </a:r>
            <a:endParaRPr lang="en-US" sz="1600" dirty="0"/>
          </a:p>
        </p:txBody>
      </p:sp>
      <p:sp>
        <p:nvSpPr>
          <p:cNvPr id="6" name="Text 3"/>
          <p:cNvSpPr txBox="1"/>
          <p:nvPr/>
        </p:nvSpPr>
        <p:spPr>
          <a:xfrm>
            <a:off x="548640" y="6419088"/>
            <a:ext cx="5943600" cy="256032"/>
          </a:xfrm>
          <a:prstGeom prst="rect">
            <a:avLst/>
          </a:prstGeom>
          <a:noFill/>
          <a:ln/>
        </p:spPr>
        <p:txBody>
          <a:bodyPr wrap="square" lIns="0" tIns="0" rIns="0" bIns="0" rtlCol="0" anchor="ctr"/>
          <a:lstStyle/>
          <a:p>
            <a:pPr marL="0" indent="0">
              <a:buNone/>
            </a:pPr>
            <a:r>
              <a:rPr lang="en-US" sz="950" dirty="0">
                <a:solidFill>
                  <a:srgbClr val="A79DB2"/>
                </a:solidFill>
                <a:latin typeface="Calibri" pitchFamily="34" charset="0"/>
                <a:ea typeface="Calibri" pitchFamily="34" charset="-122"/>
                <a:cs typeface="Calibri" pitchFamily="34" charset="-120"/>
              </a:rPr>
              <a:t>Karmel AI Learning Programme  ·  Teacher Orientation</a:t>
            </a:r>
            <a:endParaRPr lang="en-US" sz="950" dirty="0"/>
          </a:p>
        </p:txBody>
      </p:sp>
      <p:sp>
        <p:nvSpPr>
          <p:cNvPr id="7" name="Text 4"/>
          <p:cNvSpPr txBox="1"/>
          <p:nvPr/>
        </p:nvSpPr>
        <p:spPr>
          <a:xfrm>
            <a:off x="10881360" y="6419088"/>
            <a:ext cx="758952" cy="256032"/>
          </a:xfrm>
          <a:prstGeom prst="rect">
            <a:avLst/>
          </a:prstGeom>
          <a:noFill/>
          <a:ln/>
        </p:spPr>
        <p:txBody>
          <a:bodyPr wrap="square" lIns="0" tIns="0" rIns="0" bIns="0" rtlCol="0" anchor="ctr"/>
          <a:lstStyle/>
          <a:p>
            <a:pPr marL="0" indent="0" algn="r">
              <a:buNone/>
            </a:pPr>
            <a:r>
              <a:rPr lang="en-US" sz="950" dirty="0">
                <a:solidFill>
                  <a:srgbClr val="A79DB2"/>
                </a:solidFill>
                <a:latin typeface="Calibri" pitchFamily="34" charset="0"/>
                <a:ea typeface="Calibri" pitchFamily="34" charset="-122"/>
                <a:cs typeface="Calibri" pitchFamily="34" charset="-120"/>
              </a:rPr>
              <a:t>8</a:t>
            </a:r>
            <a:endParaRPr lang="en-US" sz="950" dirty="0"/>
          </a:p>
        </p:txBody>
      </p:sp>
      <p:sp>
        <p:nvSpPr>
          <p:cNvPr id="8" name="Text 5"/>
          <p:cNvSpPr txBox="1"/>
          <p:nvPr/>
        </p:nvSpPr>
        <p:spPr>
          <a:xfrm>
            <a:off x="566928" y="2011680"/>
            <a:ext cx="1280160" cy="365760"/>
          </a:xfrm>
          <a:prstGeom prst="rect">
            <a:avLst/>
          </a:prstGeom>
          <a:noFill/>
          <a:ln/>
        </p:spPr>
        <p:txBody>
          <a:bodyPr wrap="square" lIns="0" tIns="0" rIns="0" bIns="0" rtlCol="0" anchor="ctr"/>
          <a:lstStyle/>
          <a:p>
            <a:pPr marL="0" indent="0">
              <a:buNone/>
            </a:pPr>
            <a:r>
              <a:rPr lang="en-US" sz="1100" b="1" kern="0" spc="150" dirty="0">
                <a:solidFill>
                  <a:srgbClr val="BA802E"/>
                </a:solidFill>
                <a:latin typeface="Calibri" pitchFamily="34" charset="0"/>
                <a:ea typeface="Calibri" pitchFamily="34" charset="-122"/>
                <a:cs typeface="Calibri" pitchFamily="34" charset="-120"/>
              </a:rPr>
              <a:t>BUILT FROM</a:t>
            </a:r>
            <a:endParaRPr lang="en-US" sz="1100" dirty="0"/>
          </a:p>
        </p:txBody>
      </p:sp>
      <p:sp>
        <p:nvSpPr>
          <p:cNvPr id="9" name="Shape 6"/>
          <p:cNvSpPr/>
          <p:nvPr/>
        </p:nvSpPr>
        <p:spPr>
          <a:xfrm>
            <a:off x="1828800" y="2011680"/>
            <a:ext cx="2286000" cy="365760"/>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10" name="Text 7"/>
          <p:cNvSpPr txBox="1"/>
          <p:nvPr/>
        </p:nvSpPr>
        <p:spPr>
          <a:xfrm>
            <a:off x="1828800" y="2011680"/>
            <a:ext cx="2286000" cy="365760"/>
          </a:xfrm>
          <a:prstGeom prst="rect">
            <a:avLst/>
          </a:prstGeom>
          <a:noFill/>
          <a:ln/>
        </p:spPr>
        <p:txBody>
          <a:bodyPr wrap="square" lIns="0" tIns="0" rIns="0" bIns="0" rtlCol="0" anchor="ctr"/>
          <a:lstStyle/>
          <a:p>
            <a:pPr marL="0" indent="0" algn="ctr">
              <a:buNone/>
            </a:pPr>
            <a:r>
              <a:rPr lang="en-US" sz="1250" b="1" dirty="0">
                <a:solidFill>
                  <a:srgbClr val="714B90"/>
                </a:solidFill>
                <a:latin typeface="Calibri" pitchFamily="34" charset="0"/>
                <a:ea typeface="Calibri" pitchFamily="34" charset="-122"/>
                <a:cs typeface="Calibri" pitchFamily="34" charset="-120"/>
              </a:rPr>
              <a:t>Classroom sessions</a:t>
            </a:r>
            <a:endParaRPr lang="en-US" sz="1250" dirty="0"/>
          </a:p>
        </p:txBody>
      </p:sp>
      <p:sp>
        <p:nvSpPr>
          <p:cNvPr id="11" name="Shape 8"/>
          <p:cNvSpPr/>
          <p:nvPr/>
        </p:nvSpPr>
        <p:spPr>
          <a:xfrm>
            <a:off x="4343400" y="2011680"/>
            <a:ext cx="2286000" cy="365760"/>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12" name="Text 9"/>
          <p:cNvSpPr txBox="1"/>
          <p:nvPr/>
        </p:nvSpPr>
        <p:spPr>
          <a:xfrm>
            <a:off x="4343400" y="2011680"/>
            <a:ext cx="2286000" cy="365760"/>
          </a:xfrm>
          <a:prstGeom prst="rect">
            <a:avLst/>
          </a:prstGeom>
          <a:noFill/>
          <a:ln/>
        </p:spPr>
        <p:txBody>
          <a:bodyPr wrap="square" lIns="0" tIns="0" rIns="0" bIns="0" rtlCol="0" anchor="ctr"/>
          <a:lstStyle/>
          <a:p>
            <a:pPr marL="0" indent="0" algn="ctr">
              <a:buNone/>
            </a:pPr>
            <a:r>
              <a:rPr lang="en-US" sz="1250" b="1" dirty="0">
                <a:solidFill>
                  <a:srgbClr val="714B90"/>
                </a:solidFill>
                <a:latin typeface="Calibri" pitchFamily="34" charset="0"/>
                <a:ea typeface="Calibri" pitchFamily="34" charset="-122"/>
                <a:cs typeface="Calibri" pitchFamily="34" charset="-120"/>
              </a:rPr>
              <a:t>Assessments &amp; practice</a:t>
            </a:r>
            <a:endParaRPr lang="en-US" sz="1250" dirty="0"/>
          </a:p>
        </p:txBody>
      </p:sp>
      <p:sp>
        <p:nvSpPr>
          <p:cNvPr id="13" name="Shape 10"/>
          <p:cNvSpPr/>
          <p:nvPr/>
        </p:nvSpPr>
        <p:spPr>
          <a:xfrm>
            <a:off x="6858000" y="2011680"/>
            <a:ext cx="2286000" cy="365760"/>
          </a:xfrm>
          <a:prstGeom prst="roundRect">
            <a:avLst>
              <a:gd name="adj" fmla="val 50000"/>
            </a:avLst>
          </a:prstGeom>
          <a:solidFill>
            <a:srgbClr val="F4F0F9"/>
          </a:solidFill>
          <a:ln w="9525">
            <a:solidFill>
              <a:srgbClr val="E3DAEC"/>
            </a:solidFill>
            <a:prstDash val="solid"/>
          </a:ln>
        </p:spPr>
        <p:txBody>
          <a:bodyPr/>
          <a:lstStyle/>
          <a:p>
            <a:endParaRPr lang="en-IN"/>
          </a:p>
        </p:txBody>
      </p:sp>
      <p:sp>
        <p:nvSpPr>
          <p:cNvPr id="14" name="Text 11"/>
          <p:cNvSpPr txBox="1"/>
          <p:nvPr/>
        </p:nvSpPr>
        <p:spPr>
          <a:xfrm>
            <a:off x="6858000" y="2011680"/>
            <a:ext cx="2286000" cy="365760"/>
          </a:xfrm>
          <a:prstGeom prst="rect">
            <a:avLst/>
          </a:prstGeom>
          <a:noFill/>
          <a:ln/>
        </p:spPr>
        <p:txBody>
          <a:bodyPr wrap="square" lIns="0" tIns="0" rIns="0" bIns="0" rtlCol="0" anchor="ctr"/>
          <a:lstStyle/>
          <a:p>
            <a:pPr marL="0" indent="0" algn="ctr">
              <a:buNone/>
            </a:pPr>
            <a:r>
              <a:rPr lang="en-US" sz="1250" b="1" dirty="0">
                <a:solidFill>
                  <a:srgbClr val="714B90"/>
                </a:solidFill>
                <a:latin typeface="Calibri" pitchFamily="34" charset="0"/>
                <a:ea typeface="Calibri" pitchFamily="34" charset="-122"/>
                <a:cs typeface="Calibri" pitchFamily="34" charset="-120"/>
              </a:rPr>
              <a:t>Home learning &amp; doubts</a:t>
            </a:r>
            <a:endParaRPr lang="en-US" sz="1250" dirty="0"/>
          </a:p>
        </p:txBody>
      </p:sp>
      <p:sp>
        <p:nvSpPr>
          <p:cNvPr id="15" name="Shape 12"/>
          <p:cNvSpPr/>
          <p:nvPr/>
        </p:nvSpPr>
        <p:spPr>
          <a:xfrm>
            <a:off x="566928" y="2606040"/>
            <a:ext cx="3502152" cy="2606040"/>
          </a:xfrm>
          <a:prstGeom prst="roundRect">
            <a:avLst>
              <a:gd name="adj" fmla="val 2807"/>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16" name="Shape 13"/>
          <p:cNvSpPr/>
          <p:nvPr/>
        </p:nvSpPr>
        <p:spPr>
          <a:xfrm>
            <a:off x="841248" y="2834640"/>
            <a:ext cx="566928" cy="566928"/>
          </a:xfrm>
          <a:prstGeom prst="ellipse">
            <a:avLst/>
          </a:prstGeom>
          <a:solidFill>
            <a:srgbClr val="714B90"/>
          </a:solidFill>
          <a:ln w="6350">
            <a:solidFill>
              <a:srgbClr val="714B90"/>
            </a:solidFill>
            <a:prstDash val="solid"/>
          </a:ln>
        </p:spPr>
        <p:txBody>
          <a:bodyPr/>
          <a:lstStyle/>
          <a:p>
            <a:endParaRPr lang="en-IN"/>
          </a:p>
        </p:txBody>
      </p:sp>
      <p:pic>
        <p:nvPicPr>
          <p:cNvPr id="17" name="Image 1" descr="preencoded.png"/>
          <p:cNvPicPr>
            <a:picLocks noChangeAspect="1"/>
          </p:cNvPicPr>
          <p:nvPr/>
        </p:nvPicPr>
        <p:blipFill>
          <a:blip r:embed="rId4"/>
          <a:stretch>
            <a:fillRect/>
          </a:stretch>
        </p:blipFill>
        <p:spPr>
          <a:xfrm>
            <a:off x="988649" y="2982041"/>
            <a:ext cx="272125" cy="272125"/>
          </a:xfrm>
          <a:prstGeom prst="rect">
            <a:avLst/>
          </a:prstGeom>
        </p:spPr>
      </p:pic>
      <p:sp>
        <p:nvSpPr>
          <p:cNvPr id="18" name="Text 14"/>
          <p:cNvSpPr txBox="1"/>
          <p:nvPr/>
        </p:nvSpPr>
        <p:spPr>
          <a:xfrm>
            <a:off x="1554480" y="2834640"/>
            <a:ext cx="2377440" cy="566928"/>
          </a:xfrm>
          <a:prstGeom prst="rect">
            <a:avLst/>
          </a:prstGeom>
          <a:noFill/>
          <a:ln/>
        </p:spPr>
        <p:txBody>
          <a:bodyPr wrap="square" lIns="0" tIns="0" rIns="0" bIns="0" rtlCol="0" anchor="ctr"/>
          <a:lstStyle/>
          <a:p>
            <a:pPr marL="0" indent="0">
              <a:buNone/>
            </a:pPr>
            <a:r>
              <a:rPr lang="en-US" sz="2000" b="1" dirty="0">
                <a:solidFill>
                  <a:srgbClr val="714B90"/>
                </a:solidFill>
                <a:latin typeface="Cambria" pitchFamily="34" charset="0"/>
                <a:ea typeface="Cambria" pitchFamily="34" charset="-122"/>
                <a:cs typeface="Cambria" pitchFamily="34" charset="-120"/>
              </a:rPr>
              <a:t>Each student</a:t>
            </a:r>
            <a:endParaRPr lang="en-US" sz="2000" dirty="0"/>
          </a:p>
        </p:txBody>
      </p:sp>
      <p:sp>
        <p:nvSpPr>
          <p:cNvPr id="19" name="Shape 15"/>
          <p:cNvSpPr/>
          <p:nvPr/>
        </p:nvSpPr>
        <p:spPr>
          <a:xfrm>
            <a:off x="877824" y="3721608"/>
            <a:ext cx="91440" cy="91440"/>
          </a:xfrm>
          <a:prstGeom prst="ellipse">
            <a:avLst/>
          </a:prstGeom>
          <a:solidFill>
            <a:srgbClr val="C98A2E"/>
          </a:solidFill>
          <a:ln w="6350">
            <a:solidFill>
              <a:srgbClr val="C98A2E"/>
            </a:solidFill>
            <a:prstDash val="solid"/>
          </a:ln>
        </p:spPr>
        <p:txBody>
          <a:bodyPr/>
          <a:lstStyle/>
          <a:p>
            <a:endParaRPr lang="en-IN"/>
          </a:p>
        </p:txBody>
      </p:sp>
      <p:sp>
        <p:nvSpPr>
          <p:cNvPr id="20" name="Text 16"/>
          <p:cNvSpPr txBox="1"/>
          <p:nvPr/>
        </p:nvSpPr>
        <p:spPr>
          <a:xfrm>
            <a:off x="1097280" y="3639312"/>
            <a:ext cx="284378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Progress and mastery by chapter</a:t>
            </a:r>
            <a:endParaRPr lang="en-US" sz="1350" dirty="0"/>
          </a:p>
        </p:txBody>
      </p:sp>
      <p:sp>
        <p:nvSpPr>
          <p:cNvPr id="21" name="Shape 17"/>
          <p:cNvSpPr/>
          <p:nvPr/>
        </p:nvSpPr>
        <p:spPr>
          <a:xfrm>
            <a:off x="877824" y="4087368"/>
            <a:ext cx="91440" cy="91440"/>
          </a:xfrm>
          <a:prstGeom prst="ellipse">
            <a:avLst/>
          </a:prstGeom>
          <a:solidFill>
            <a:srgbClr val="C98A2E"/>
          </a:solidFill>
          <a:ln w="6350">
            <a:solidFill>
              <a:srgbClr val="C98A2E"/>
            </a:solidFill>
            <a:prstDash val="solid"/>
          </a:ln>
        </p:spPr>
        <p:txBody>
          <a:bodyPr/>
          <a:lstStyle/>
          <a:p>
            <a:endParaRPr lang="en-IN"/>
          </a:p>
        </p:txBody>
      </p:sp>
      <p:sp>
        <p:nvSpPr>
          <p:cNvPr id="22" name="Text 18"/>
          <p:cNvSpPr txBox="1"/>
          <p:nvPr/>
        </p:nvSpPr>
        <p:spPr>
          <a:xfrm>
            <a:off x="1097280" y="4005072"/>
            <a:ext cx="284378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Strengths and areas to reinforce</a:t>
            </a:r>
            <a:endParaRPr lang="en-US" sz="1350" dirty="0"/>
          </a:p>
        </p:txBody>
      </p:sp>
      <p:sp>
        <p:nvSpPr>
          <p:cNvPr id="23" name="Shape 19"/>
          <p:cNvSpPr/>
          <p:nvPr/>
        </p:nvSpPr>
        <p:spPr>
          <a:xfrm>
            <a:off x="877824" y="4453128"/>
            <a:ext cx="91440" cy="91440"/>
          </a:xfrm>
          <a:prstGeom prst="ellipse">
            <a:avLst/>
          </a:prstGeom>
          <a:solidFill>
            <a:srgbClr val="C98A2E"/>
          </a:solidFill>
          <a:ln w="6350">
            <a:solidFill>
              <a:srgbClr val="C98A2E"/>
            </a:solidFill>
            <a:prstDash val="solid"/>
          </a:ln>
        </p:spPr>
        <p:txBody>
          <a:bodyPr/>
          <a:lstStyle/>
          <a:p>
            <a:endParaRPr lang="en-IN"/>
          </a:p>
        </p:txBody>
      </p:sp>
      <p:sp>
        <p:nvSpPr>
          <p:cNvPr id="24" name="Text 20"/>
          <p:cNvSpPr txBox="1"/>
          <p:nvPr/>
        </p:nvSpPr>
        <p:spPr>
          <a:xfrm>
            <a:off x="1097280" y="4370832"/>
            <a:ext cx="284378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Practice and assessment performance</a:t>
            </a:r>
            <a:endParaRPr lang="en-US" sz="1350" dirty="0"/>
          </a:p>
        </p:txBody>
      </p:sp>
      <p:sp>
        <p:nvSpPr>
          <p:cNvPr id="25" name="Shape 21"/>
          <p:cNvSpPr/>
          <p:nvPr/>
        </p:nvSpPr>
        <p:spPr>
          <a:xfrm>
            <a:off x="877824" y="4818888"/>
            <a:ext cx="91440" cy="91440"/>
          </a:xfrm>
          <a:prstGeom prst="ellipse">
            <a:avLst/>
          </a:prstGeom>
          <a:solidFill>
            <a:srgbClr val="C98A2E"/>
          </a:solidFill>
          <a:ln w="6350">
            <a:solidFill>
              <a:srgbClr val="C98A2E"/>
            </a:solidFill>
            <a:prstDash val="solid"/>
          </a:ln>
        </p:spPr>
        <p:txBody>
          <a:bodyPr/>
          <a:lstStyle/>
          <a:p>
            <a:endParaRPr lang="en-IN"/>
          </a:p>
        </p:txBody>
      </p:sp>
      <p:sp>
        <p:nvSpPr>
          <p:cNvPr id="26" name="Text 22"/>
          <p:cNvSpPr txBox="1"/>
          <p:nvPr/>
        </p:nvSpPr>
        <p:spPr>
          <a:xfrm>
            <a:off x="1097280" y="4736592"/>
            <a:ext cx="284378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Doubts raised while studying at home</a:t>
            </a:r>
            <a:endParaRPr lang="en-US" sz="1350" dirty="0"/>
          </a:p>
        </p:txBody>
      </p:sp>
      <p:sp>
        <p:nvSpPr>
          <p:cNvPr id="27" name="Shape 23"/>
          <p:cNvSpPr/>
          <p:nvPr/>
        </p:nvSpPr>
        <p:spPr>
          <a:xfrm>
            <a:off x="4347972" y="2606040"/>
            <a:ext cx="3502152" cy="2606040"/>
          </a:xfrm>
          <a:prstGeom prst="roundRect">
            <a:avLst>
              <a:gd name="adj" fmla="val 2807"/>
            </a:avLst>
          </a:prstGeom>
          <a:solidFill>
            <a:srgbClr val="F4F0F9"/>
          </a:solidFill>
          <a:ln w="9525">
            <a:solidFill>
              <a:srgbClr val="F4F0F9"/>
            </a:solidFill>
            <a:prstDash val="solid"/>
          </a:ln>
          <a:effectLst>
            <a:outerShdw blurRad="101600" dist="25400" dir="5400000" algn="bl" rotWithShape="0">
              <a:srgbClr val="4A3560">
                <a:alpha val="12000"/>
              </a:srgbClr>
            </a:outerShdw>
          </a:effectLst>
        </p:spPr>
        <p:txBody>
          <a:bodyPr/>
          <a:lstStyle/>
          <a:p>
            <a:endParaRPr lang="en-IN"/>
          </a:p>
        </p:txBody>
      </p:sp>
      <p:sp>
        <p:nvSpPr>
          <p:cNvPr id="28" name="Shape 24"/>
          <p:cNvSpPr/>
          <p:nvPr/>
        </p:nvSpPr>
        <p:spPr>
          <a:xfrm>
            <a:off x="4622292" y="2834640"/>
            <a:ext cx="566928" cy="566928"/>
          </a:xfrm>
          <a:prstGeom prst="ellipse">
            <a:avLst/>
          </a:prstGeom>
          <a:solidFill>
            <a:srgbClr val="714B90"/>
          </a:solidFill>
          <a:ln w="6350">
            <a:solidFill>
              <a:srgbClr val="714B90"/>
            </a:solidFill>
            <a:prstDash val="solid"/>
          </a:ln>
        </p:spPr>
        <p:txBody>
          <a:bodyPr/>
          <a:lstStyle/>
          <a:p>
            <a:endParaRPr lang="en-IN"/>
          </a:p>
        </p:txBody>
      </p:sp>
      <p:pic>
        <p:nvPicPr>
          <p:cNvPr id="29" name="Image 2" descr="preencoded.png"/>
          <p:cNvPicPr>
            <a:picLocks noChangeAspect="1"/>
          </p:cNvPicPr>
          <p:nvPr/>
        </p:nvPicPr>
        <p:blipFill>
          <a:blip r:embed="rId5"/>
          <a:stretch>
            <a:fillRect/>
          </a:stretch>
        </p:blipFill>
        <p:spPr>
          <a:xfrm>
            <a:off x="4769693" y="2982041"/>
            <a:ext cx="272125" cy="272125"/>
          </a:xfrm>
          <a:prstGeom prst="rect">
            <a:avLst/>
          </a:prstGeom>
        </p:spPr>
      </p:pic>
      <p:sp>
        <p:nvSpPr>
          <p:cNvPr id="30" name="Text 25"/>
          <p:cNvSpPr txBox="1"/>
          <p:nvPr/>
        </p:nvSpPr>
        <p:spPr>
          <a:xfrm>
            <a:off x="5335524" y="2834640"/>
            <a:ext cx="2377440" cy="566928"/>
          </a:xfrm>
          <a:prstGeom prst="rect">
            <a:avLst/>
          </a:prstGeom>
          <a:noFill/>
          <a:ln/>
        </p:spPr>
        <p:txBody>
          <a:bodyPr wrap="square" lIns="0" tIns="0" rIns="0" bIns="0" rtlCol="0" anchor="ctr"/>
          <a:lstStyle/>
          <a:p>
            <a:pPr marL="0" indent="0">
              <a:buNone/>
            </a:pPr>
            <a:r>
              <a:rPr lang="en-US" sz="2000" b="1" dirty="0">
                <a:solidFill>
                  <a:srgbClr val="714B90"/>
                </a:solidFill>
                <a:latin typeface="Cambria" pitchFamily="34" charset="0"/>
                <a:ea typeface="Cambria" pitchFamily="34" charset="-122"/>
                <a:cs typeface="Cambria" pitchFamily="34" charset="-120"/>
              </a:rPr>
              <a:t>Your class</a:t>
            </a:r>
            <a:endParaRPr lang="en-US" sz="2000" dirty="0"/>
          </a:p>
        </p:txBody>
      </p:sp>
      <p:sp>
        <p:nvSpPr>
          <p:cNvPr id="31" name="Shape 26"/>
          <p:cNvSpPr/>
          <p:nvPr/>
        </p:nvSpPr>
        <p:spPr>
          <a:xfrm>
            <a:off x="4658868" y="3721608"/>
            <a:ext cx="91440" cy="91440"/>
          </a:xfrm>
          <a:prstGeom prst="ellipse">
            <a:avLst/>
          </a:prstGeom>
          <a:solidFill>
            <a:srgbClr val="C98A2E"/>
          </a:solidFill>
          <a:ln w="6350">
            <a:solidFill>
              <a:srgbClr val="C98A2E"/>
            </a:solidFill>
            <a:prstDash val="solid"/>
          </a:ln>
        </p:spPr>
        <p:txBody>
          <a:bodyPr/>
          <a:lstStyle/>
          <a:p>
            <a:endParaRPr lang="en-IN"/>
          </a:p>
        </p:txBody>
      </p:sp>
      <p:sp>
        <p:nvSpPr>
          <p:cNvPr id="32" name="Text 27"/>
          <p:cNvSpPr txBox="1"/>
          <p:nvPr/>
        </p:nvSpPr>
        <p:spPr>
          <a:xfrm>
            <a:off x="4878324" y="3639312"/>
            <a:ext cx="284378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Common learning gaps</a:t>
            </a:r>
            <a:endParaRPr lang="en-US" sz="1350" dirty="0"/>
          </a:p>
        </p:txBody>
      </p:sp>
      <p:sp>
        <p:nvSpPr>
          <p:cNvPr id="33" name="Shape 28"/>
          <p:cNvSpPr/>
          <p:nvPr/>
        </p:nvSpPr>
        <p:spPr>
          <a:xfrm>
            <a:off x="4658868" y="4087368"/>
            <a:ext cx="91440" cy="91440"/>
          </a:xfrm>
          <a:prstGeom prst="ellipse">
            <a:avLst/>
          </a:prstGeom>
          <a:solidFill>
            <a:srgbClr val="C98A2E"/>
          </a:solidFill>
          <a:ln w="6350">
            <a:solidFill>
              <a:srgbClr val="C98A2E"/>
            </a:solidFill>
            <a:prstDash val="solid"/>
          </a:ln>
        </p:spPr>
        <p:txBody>
          <a:bodyPr/>
          <a:lstStyle/>
          <a:p>
            <a:endParaRPr lang="en-IN"/>
          </a:p>
        </p:txBody>
      </p:sp>
      <p:sp>
        <p:nvSpPr>
          <p:cNvPr id="34" name="Text 29"/>
          <p:cNvSpPr txBox="1"/>
          <p:nvPr/>
        </p:nvSpPr>
        <p:spPr>
          <a:xfrm>
            <a:off x="4878324" y="4005072"/>
            <a:ext cx="284378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Misconceptions shared across students</a:t>
            </a:r>
            <a:endParaRPr lang="en-US" sz="1350" dirty="0"/>
          </a:p>
        </p:txBody>
      </p:sp>
      <p:sp>
        <p:nvSpPr>
          <p:cNvPr id="35" name="Shape 30"/>
          <p:cNvSpPr/>
          <p:nvPr/>
        </p:nvSpPr>
        <p:spPr>
          <a:xfrm>
            <a:off x="4658868" y="4453128"/>
            <a:ext cx="91440" cy="91440"/>
          </a:xfrm>
          <a:prstGeom prst="ellipse">
            <a:avLst/>
          </a:prstGeom>
          <a:solidFill>
            <a:srgbClr val="C98A2E"/>
          </a:solidFill>
          <a:ln w="6350">
            <a:solidFill>
              <a:srgbClr val="C98A2E"/>
            </a:solidFill>
            <a:prstDash val="solid"/>
          </a:ln>
        </p:spPr>
        <p:txBody>
          <a:bodyPr/>
          <a:lstStyle/>
          <a:p>
            <a:endParaRPr lang="en-IN"/>
          </a:p>
        </p:txBody>
      </p:sp>
      <p:sp>
        <p:nvSpPr>
          <p:cNvPr id="36" name="Text 31"/>
          <p:cNvSpPr txBox="1"/>
          <p:nvPr/>
        </p:nvSpPr>
        <p:spPr>
          <a:xfrm>
            <a:off x="4878324" y="4370832"/>
            <a:ext cx="284378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Concepts the class found hardest</a:t>
            </a:r>
            <a:endParaRPr lang="en-US" sz="1350" dirty="0"/>
          </a:p>
        </p:txBody>
      </p:sp>
      <p:sp>
        <p:nvSpPr>
          <p:cNvPr id="37" name="Shape 32"/>
          <p:cNvSpPr/>
          <p:nvPr/>
        </p:nvSpPr>
        <p:spPr>
          <a:xfrm>
            <a:off x="4658868" y="4818888"/>
            <a:ext cx="91440" cy="91440"/>
          </a:xfrm>
          <a:prstGeom prst="ellipse">
            <a:avLst/>
          </a:prstGeom>
          <a:solidFill>
            <a:srgbClr val="C98A2E"/>
          </a:solidFill>
          <a:ln w="6350">
            <a:solidFill>
              <a:srgbClr val="C98A2E"/>
            </a:solidFill>
            <a:prstDash val="solid"/>
          </a:ln>
        </p:spPr>
        <p:txBody>
          <a:bodyPr/>
          <a:lstStyle/>
          <a:p>
            <a:endParaRPr lang="en-IN"/>
          </a:p>
        </p:txBody>
      </p:sp>
      <p:sp>
        <p:nvSpPr>
          <p:cNvPr id="38" name="Text 33"/>
          <p:cNvSpPr txBox="1"/>
          <p:nvPr/>
        </p:nvSpPr>
        <p:spPr>
          <a:xfrm>
            <a:off x="4878324" y="4736592"/>
            <a:ext cx="2843784" cy="256032"/>
          </a:xfrm>
          <a:prstGeom prst="rect">
            <a:avLst/>
          </a:prstGeom>
          <a:noFill/>
          <a:ln/>
        </p:spPr>
        <p:txBody>
          <a:bodyPr wrap="square" lIns="0" tIns="0" rIns="0" bIns="0" rtlCol="0" anchor="ctr"/>
          <a:lstStyle/>
          <a:p>
            <a:pPr marL="0" indent="0">
              <a:buNone/>
            </a:pPr>
            <a:r>
              <a:rPr lang="en-US" sz="1350" dirty="0">
                <a:solidFill>
                  <a:srgbClr val="241E2A"/>
                </a:solidFill>
                <a:latin typeface="Calibri" pitchFamily="34" charset="0"/>
                <a:ea typeface="Calibri" pitchFamily="34" charset="-122"/>
                <a:cs typeface="Calibri" pitchFamily="34" charset="-120"/>
              </a:rPr>
              <a:t>Assessment patterns over time</a:t>
            </a:r>
            <a:endParaRPr lang="en-US" sz="1350" dirty="0"/>
          </a:p>
        </p:txBody>
      </p:sp>
      <p:sp>
        <p:nvSpPr>
          <p:cNvPr id="39" name="Shape 34"/>
          <p:cNvSpPr/>
          <p:nvPr/>
        </p:nvSpPr>
        <p:spPr>
          <a:xfrm>
            <a:off x="8129016" y="2606040"/>
            <a:ext cx="3502152" cy="2606040"/>
          </a:xfrm>
          <a:prstGeom prst="roundRect">
            <a:avLst>
              <a:gd name="adj" fmla="val 2807"/>
            </a:avLst>
          </a:prstGeom>
          <a:solidFill>
            <a:srgbClr val="714B90"/>
          </a:solidFill>
          <a:ln w="9525">
            <a:solidFill>
              <a:srgbClr val="714B90"/>
            </a:solidFill>
            <a:prstDash val="solid"/>
          </a:ln>
          <a:effectLst>
            <a:outerShdw blurRad="101600" dist="25400" dir="5400000" algn="bl" rotWithShape="0">
              <a:srgbClr val="4A3560">
                <a:alpha val="12000"/>
              </a:srgbClr>
            </a:outerShdw>
          </a:effectLst>
        </p:spPr>
        <p:txBody>
          <a:bodyPr/>
          <a:lstStyle/>
          <a:p>
            <a:endParaRPr lang="en-IN"/>
          </a:p>
        </p:txBody>
      </p:sp>
      <p:sp>
        <p:nvSpPr>
          <p:cNvPr id="40" name="Shape 35"/>
          <p:cNvSpPr/>
          <p:nvPr/>
        </p:nvSpPr>
        <p:spPr>
          <a:xfrm>
            <a:off x="8403336" y="2834640"/>
            <a:ext cx="566928" cy="566928"/>
          </a:xfrm>
          <a:prstGeom prst="ellipse">
            <a:avLst/>
          </a:prstGeom>
          <a:solidFill>
            <a:srgbClr val="FFFFFF"/>
          </a:solidFill>
          <a:ln w="6350">
            <a:solidFill>
              <a:srgbClr val="FFFFFF"/>
            </a:solidFill>
            <a:prstDash val="solid"/>
          </a:ln>
        </p:spPr>
        <p:txBody>
          <a:bodyPr/>
          <a:lstStyle/>
          <a:p>
            <a:endParaRPr lang="en-IN"/>
          </a:p>
        </p:txBody>
      </p:sp>
      <p:pic>
        <p:nvPicPr>
          <p:cNvPr id="41" name="Image 3" descr="preencoded.png"/>
          <p:cNvPicPr>
            <a:picLocks noChangeAspect="1"/>
          </p:cNvPicPr>
          <p:nvPr/>
        </p:nvPicPr>
        <p:blipFill>
          <a:blip r:embed="rId6"/>
          <a:stretch>
            <a:fillRect/>
          </a:stretch>
        </p:blipFill>
        <p:spPr>
          <a:xfrm>
            <a:off x="8550737" y="2982041"/>
            <a:ext cx="272125" cy="272125"/>
          </a:xfrm>
          <a:prstGeom prst="rect">
            <a:avLst/>
          </a:prstGeom>
        </p:spPr>
      </p:pic>
      <p:sp>
        <p:nvSpPr>
          <p:cNvPr id="42" name="Text 36"/>
          <p:cNvSpPr txBox="1"/>
          <p:nvPr/>
        </p:nvSpPr>
        <p:spPr>
          <a:xfrm>
            <a:off x="9116568" y="2834640"/>
            <a:ext cx="2377440" cy="56692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Where to act</a:t>
            </a:r>
            <a:endParaRPr lang="en-US" sz="2000" dirty="0"/>
          </a:p>
        </p:txBody>
      </p:sp>
      <p:sp>
        <p:nvSpPr>
          <p:cNvPr id="43" name="Shape 37"/>
          <p:cNvSpPr/>
          <p:nvPr/>
        </p:nvSpPr>
        <p:spPr>
          <a:xfrm>
            <a:off x="8439912" y="3721608"/>
            <a:ext cx="91440" cy="91440"/>
          </a:xfrm>
          <a:prstGeom prst="ellipse">
            <a:avLst/>
          </a:prstGeom>
          <a:solidFill>
            <a:srgbClr val="C98A2E"/>
          </a:solidFill>
          <a:ln w="6350">
            <a:solidFill>
              <a:srgbClr val="C98A2E"/>
            </a:solidFill>
            <a:prstDash val="solid"/>
          </a:ln>
        </p:spPr>
        <p:txBody>
          <a:bodyPr/>
          <a:lstStyle/>
          <a:p>
            <a:endParaRPr lang="en-IN"/>
          </a:p>
        </p:txBody>
      </p:sp>
      <p:sp>
        <p:nvSpPr>
          <p:cNvPr id="44" name="Text 38"/>
          <p:cNvSpPr txBox="1"/>
          <p:nvPr/>
        </p:nvSpPr>
        <p:spPr>
          <a:xfrm>
            <a:off x="8659368" y="3639312"/>
            <a:ext cx="2843784" cy="25603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Who needs support, and on what</a:t>
            </a:r>
            <a:endParaRPr lang="en-US" sz="1350" dirty="0"/>
          </a:p>
        </p:txBody>
      </p:sp>
      <p:sp>
        <p:nvSpPr>
          <p:cNvPr id="45" name="Shape 39"/>
          <p:cNvSpPr/>
          <p:nvPr/>
        </p:nvSpPr>
        <p:spPr>
          <a:xfrm>
            <a:off x="8439912" y="4087368"/>
            <a:ext cx="91440" cy="91440"/>
          </a:xfrm>
          <a:prstGeom prst="ellipse">
            <a:avLst/>
          </a:prstGeom>
          <a:solidFill>
            <a:srgbClr val="C98A2E"/>
          </a:solidFill>
          <a:ln w="6350">
            <a:solidFill>
              <a:srgbClr val="C98A2E"/>
            </a:solidFill>
            <a:prstDash val="solid"/>
          </a:ln>
        </p:spPr>
        <p:txBody>
          <a:bodyPr/>
          <a:lstStyle/>
          <a:p>
            <a:endParaRPr lang="en-IN"/>
          </a:p>
        </p:txBody>
      </p:sp>
      <p:sp>
        <p:nvSpPr>
          <p:cNvPr id="46" name="Text 40"/>
          <p:cNvSpPr txBox="1"/>
          <p:nvPr/>
        </p:nvSpPr>
        <p:spPr>
          <a:xfrm>
            <a:off x="8659368" y="4005072"/>
            <a:ext cx="2843784" cy="25603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What to revise before the next test</a:t>
            </a:r>
            <a:endParaRPr lang="en-US" sz="1350" dirty="0"/>
          </a:p>
        </p:txBody>
      </p:sp>
      <p:sp>
        <p:nvSpPr>
          <p:cNvPr id="47" name="Shape 41"/>
          <p:cNvSpPr/>
          <p:nvPr/>
        </p:nvSpPr>
        <p:spPr>
          <a:xfrm>
            <a:off x="8439912" y="4453128"/>
            <a:ext cx="91440" cy="91440"/>
          </a:xfrm>
          <a:prstGeom prst="ellipse">
            <a:avLst/>
          </a:prstGeom>
          <a:solidFill>
            <a:srgbClr val="C98A2E"/>
          </a:solidFill>
          <a:ln w="6350">
            <a:solidFill>
              <a:srgbClr val="C98A2E"/>
            </a:solidFill>
            <a:prstDash val="solid"/>
          </a:ln>
        </p:spPr>
        <p:txBody>
          <a:bodyPr/>
          <a:lstStyle/>
          <a:p>
            <a:endParaRPr lang="en-IN"/>
          </a:p>
        </p:txBody>
      </p:sp>
      <p:sp>
        <p:nvSpPr>
          <p:cNvPr id="48" name="Text 42"/>
          <p:cNvSpPr txBox="1"/>
          <p:nvPr/>
        </p:nvSpPr>
        <p:spPr>
          <a:xfrm>
            <a:off x="8659368" y="4370832"/>
            <a:ext cx="2843784" cy="25603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Which concepts to re-teach differently</a:t>
            </a:r>
            <a:endParaRPr lang="en-US" sz="1350" dirty="0"/>
          </a:p>
        </p:txBody>
      </p:sp>
      <p:sp>
        <p:nvSpPr>
          <p:cNvPr id="49" name="Shape 43"/>
          <p:cNvSpPr/>
          <p:nvPr/>
        </p:nvSpPr>
        <p:spPr>
          <a:xfrm>
            <a:off x="8439912" y="4818888"/>
            <a:ext cx="91440" cy="91440"/>
          </a:xfrm>
          <a:prstGeom prst="ellipse">
            <a:avLst/>
          </a:prstGeom>
          <a:solidFill>
            <a:srgbClr val="C98A2E"/>
          </a:solidFill>
          <a:ln w="6350">
            <a:solidFill>
              <a:srgbClr val="C98A2E"/>
            </a:solidFill>
            <a:prstDash val="solid"/>
          </a:ln>
        </p:spPr>
        <p:txBody>
          <a:bodyPr/>
          <a:lstStyle/>
          <a:p>
            <a:endParaRPr lang="en-IN"/>
          </a:p>
        </p:txBody>
      </p:sp>
      <p:sp>
        <p:nvSpPr>
          <p:cNvPr id="50" name="Text 44"/>
          <p:cNvSpPr txBox="1"/>
          <p:nvPr/>
        </p:nvSpPr>
        <p:spPr>
          <a:xfrm>
            <a:off x="8659368" y="4736592"/>
            <a:ext cx="2843784" cy="25603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Where to focus remedial practice</a:t>
            </a:r>
            <a:endParaRPr lang="en-US" sz="1350" dirty="0"/>
          </a:p>
        </p:txBody>
      </p:sp>
      <p:sp>
        <p:nvSpPr>
          <p:cNvPr id="51" name="Shape 45"/>
          <p:cNvSpPr/>
          <p:nvPr/>
        </p:nvSpPr>
        <p:spPr>
          <a:xfrm>
            <a:off x="566928" y="5413248"/>
            <a:ext cx="11064240" cy="685800"/>
          </a:xfrm>
          <a:prstGeom prst="roundRect">
            <a:avLst>
              <a:gd name="adj" fmla="val 10667"/>
            </a:avLst>
          </a:prstGeom>
          <a:solidFill>
            <a:srgbClr val="FBF3E3"/>
          </a:solidFill>
          <a:ln w="6350">
            <a:solidFill>
              <a:srgbClr val="FBF3E3"/>
            </a:solidFill>
            <a:prstDash val="solid"/>
          </a:ln>
        </p:spPr>
        <p:txBody>
          <a:bodyPr/>
          <a:lstStyle/>
          <a:p>
            <a:endParaRPr lang="en-IN"/>
          </a:p>
        </p:txBody>
      </p:sp>
      <p:sp>
        <p:nvSpPr>
          <p:cNvPr id="52" name="Text 46"/>
          <p:cNvSpPr txBox="1"/>
          <p:nvPr/>
        </p:nvSpPr>
        <p:spPr>
          <a:xfrm>
            <a:off x="566928" y="5413248"/>
            <a:ext cx="11064240" cy="685800"/>
          </a:xfrm>
          <a:prstGeom prst="rect">
            <a:avLst/>
          </a:prstGeom>
          <a:noFill/>
          <a:ln/>
        </p:spPr>
        <p:txBody>
          <a:bodyPr wrap="square" lIns="0" tIns="0" rIns="0" bIns="0" rtlCol="0" anchor="ctr"/>
          <a:lstStyle/>
          <a:p>
            <a:pPr marL="0" indent="0" algn="ctr">
              <a:buNone/>
            </a:pPr>
            <a:r>
              <a:rPr lang="en-US" sz="1700" b="1" dirty="0">
                <a:solidFill>
                  <a:srgbClr val="241E2A"/>
                </a:solidFill>
                <a:latin typeface="Calibri" pitchFamily="34" charset="0"/>
                <a:ea typeface="Calibri" pitchFamily="34" charset="-122"/>
                <a:cs typeface="Calibri" pitchFamily="34" charset="-120"/>
              </a:rPr>
              <a:t>See learning gaps while they are forming, </a:t>
            </a:r>
            <a:r>
              <a:rPr lang="en-US" sz="1700" dirty="0">
                <a:solidFill>
                  <a:srgbClr val="241E2A"/>
                </a:solidFill>
                <a:latin typeface="Calibri" pitchFamily="34" charset="0"/>
                <a:ea typeface="Calibri" pitchFamily="34" charset="-122"/>
                <a:cs typeface="Calibri" pitchFamily="34" charset="-120"/>
              </a:rPr>
              <a:t>not after the exam results.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33888" y="356616"/>
            <a:ext cx="1060704" cy="393192"/>
          </a:xfrm>
          <a:prstGeom prst="rect">
            <a:avLst/>
          </a:prstGeom>
        </p:spPr>
      </p:pic>
      <p:sp>
        <p:nvSpPr>
          <p:cNvPr id="3"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98A2E"/>
                </a:solidFill>
                <a:latin typeface="Calibri" pitchFamily="34" charset="0"/>
                <a:ea typeface="Calibri" pitchFamily="34" charset="-122"/>
                <a:cs typeface="Calibri" pitchFamily="34" charset="-120"/>
              </a:rPr>
              <a:t>DESIGNED FOR TEACHERS</a:t>
            </a:r>
            <a:endParaRPr lang="en-US" sz="1200" dirty="0"/>
          </a:p>
        </p:txBody>
      </p:sp>
      <p:sp>
        <p:nvSpPr>
          <p:cNvPr id="4" name="Text 1"/>
          <p:cNvSpPr txBox="1"/>
          <p:nvPr/>
        </p:nvSpPr>
        <p:spPr>
          <a:xfrm>
            <a:off x="548640" y="749808"/>
            <a:ext cx="9875520" cy="658368"/>
          </a:xfrm>
          <a:prstGeom prst="rect">
            <a:avLst/>
          </a:prstGeom>
          <a:noFill/>
          <a:ln/>
        </p:spPr>
        <p:txBody>
          <a:bodyPr wrap="square" lIns="0" tIns="0" rIns="0" bIns="0" rtlCol="0" anchor="ctr"/>
          <a:lstStyle/>
          <a:p>
            <a:pPr marL="0" indent="0">
              <a:buNone/>
            </a:pPr>
            <a:r>
              <a:rPr lang="en-US" sz="3200" b="1" dirty="0">
                <a:solidFill>
                  <a:srgbClr val="714B90"/>
                </a:solidFill>
                <a:latin typeface="Cambria" pitchFamily="34" charset="0"/>
                <a:ea typeface="Cambria" pitchFamily="34" charset="-122"/>
                <a:cs typeface="Cambria" pitchFamily="34" charset="-120"/>
              </a:rPr>
              <a:t>The Teacher Remains at the Centre</a:t>
            </a:r>
            <a:endParaRPr lang="en-US" sz="3200" dirty="0"/>
          </a:p>
        </p:txBody>
      </p:sp>
      <p:sp>
        <p:nvSpPr>
          <p:cNvPr id="5" name="Text 2"/>
          <p:cNvSpPr txBox="1"/>
          <p:nvPr/>
        </p:nvSpPr>
        <p:spPr>
          <a:xfrm>
            <a:off x="548640" y="1444752"/>
            <a:ext cx="11064240" cy="402336"/>
          </a:xfrm>
          <a:prstGeom prst="rect">
            <a:avLst/>
          </a:prstGeom>
          <a:noFill/>
          <a:ln/>
        </p:spPr>
        <p:txBody>
          <a:bodyPr wrap="square" lIns="0" tIns="0" rIns="0" bIns="0" rtlCol="0" anchor="ctr"/>
          <a:lstStyle/>
          <a:p>
            <a:pPr marL="0" indent="0">
              <a:buNone/>
            </a:pPr>
            <a:r>
              <a:rPr lang="en-US" sz="1600" i="1" dirty="0">
                <a:solidFill>
                  <a:srgbClr val="6E6579"/>
                </a:solidFill>
                <a:latin typeface="Calibri" pitchFamily="34" charset="0"/>
                <a:ea typeface="Calibri" pitchFamily="34" charset="-122"/>
                <a:cs typeface="Calibri" pitchFamily="34" charset="-120"/>
              </a:rPr>
              <a:t>Leoki is designed to strengthen great teaching, not replace the judgment, empathy and leadership of teachers.</a:t>
            </a:r>
            <a:endParaRPr lang="en-US" sz="1600" dirty="0"/>
          </a:p>
        </p:txBody>
      </p:sp>
      <p:sp>
        <p:nvSpPr>
          <p:cNvPr id="6" name="Text 3"/>
          <p:cNvSpPr txBox="1"/>
          <p:nvPr/>
        </p:nvSpPr>
        <p:spPr>
          <a:xfrm>
            <a:off x="548640" y="6419088"/>
            <a:ext cx="5943600" cy="256032"/>
          </a:xfrm>
          <a:prstGeom prst="rect">
            <a:avLst/>
          </a:prstGeom>
          <a:noFill/>
          <a:ln/>
        </p:spPr>
        <p:txBody>
          <a:bodyPr wrap="square" lIns="0" tIns="0" rIns="0" bIns="0" rtlCol="0" anchor="ctr"/>
          <a:lstStyle/>
          <a:p>
            <a:pPr marL="0" indent="0">
              <a:buNone/>
            </a:pPr>
            <a:r>
              <a:rPr lang="en-US" sz="950" dirty="0">
                <a:solidFill>
                  <a:srgbClr val="A79DB2"/>
                </a:solidFill>
                <a:latin typeface="Calibri" pitchFamily="34" charset="0"/>
                <a:ea typeface="Calibri" pitchFamily="34" charset="-122"/>
                <a:cs typeface="Calibri" pitchFamily="34" charset="-120"/>
              </a:rPr>
              <a:t>Karmel AI Learning Programme  ·  Teacher Orientation</a:t>
            </a:r>
            <a:endParaRPr lang="en-US" sz="950" dirty="0"/>
          </a:p>
        </p:txBody>
      </p:sp>
      <p:sp>
        <p:nvSpPr>
          <p:cNvPr id="7" name="Text 4"/>
          <p:cNvSpPr txBox="1"/>
          <p:nvPr/>
        </p:nvSpPr>
        <p:spPr>
          <a:xfrm>
            <a:off x="10881360" y="6419088"/>
            <a:ext cx="758952" cy="256032"/>
          </a:xfrm>
          <a:prstGeom prst="rect">
            <a:avLst/>
          </a:prstGeom>
          <a:noFill/>
          <a:ln/>
        </p:spPr>
        <p:txBody>
          <a:bodyPr wrap="square" lIns="0" tIns="0" rIns="0" bIns="0" rtlCol="0" anchor="ctr"/>
          <a:lstStyle/>
          <a:p>
            <a:pPr marL="0" indent="0" algn="r">
              <a:buNone/>
            </a:pPr>
            <a:r>
              <a:rPr lang="en-US" sz="950" dirty="0">
                <a:solidFill>
                  <a:srgbClr val="A79DB2"/>
                </a:solidFill>
                <a:latin typeface="Calibri" pitchFamily="34" charset="0"/>
                <a:ea typeface="Calibri" pitchFamily="34" charset="-122"/>
                <a:cs typeface="Calibri" pitchFamily="34" charset="-120"/>
              </a:rPr>
              <a:t>9</a:t>
            </a:r>
            <a:endParaRPr lang="en-US" sz="950" dirty="0"/>
          </a:p>
        </p:txBody>
      </p:sp>
      <p:sp>
        <p:nvSpPr>
          <p:cNvPr id="8" name="Shape 5"/>
          <p:cNvSpPr/>
          <p:nvPr/>
        </p:nvSpPr>
        <p:spPr>
          <a:xfrm>
            <a:off x="566928" y="2011680"/>
            <a:ext cx="5422392" cy="3154680"/>
          </a:xfrm>
          <a:prstGeom prst="roundRect">
            <a:avLst>
              <a:gd name="adj" fmla="val 2319"/>
            </a:avLst>
          </a:prstGeom>
          <a:solidFill>
            <a:srgbClr val="F4F0F9"/>
          </a:solidFill>
          <a:ln w="9525">
            <a:solidFill>
              <a:srgbClr val="F4F0F9"/>
            </a:solidFill>
            <a:prstDash val="solid"/>
          </a:ln>
          <a:effectLst>
            <a:outerShdw blurRad="101600" dist="25400" dir="5400000" algn="bl" rotWithShape="0">
              <a:srgbClr val="4A3560">
                <a:alpha val="12000"/>
              </a:srgbClr>
            </a:outerShdw>
          </a:effectLst>
        </p:spPr>
        <p:txBody>
          <a:bodyPr/>
          <a:lstStyle/>
          <a:p>
            <a:endParaRPr lang="en-IN"/>
          </a:p>
        </p:txBody>
      </p:sp>
      <p:sp>
        <p:nvSpPr>
          <p:cNvPr id="9" name="Shape 6"/>
          <p:cNvSpPr/>
          <p:nvPr/>
        </p:nvSpPr>
        <p:spPr>
          <a:xfrm>
            <a:off x="841248" y="2286000"/>
            <a:ext cx="603504" cy="603504"/>
          </a:xfrm>
          <a:prstGeom prst="ellipse">
            <a:avLst/>
          </a:prstGeom>
          <a:solidFill>
            <a:srgbClr val="714B90"/>
          </a:solidFill>
          <a:ln w="6350">
            <a:solidFill>
              <a:srgbClr val="714B90"/>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998159" y="2442911"/>
            <a:ext cx="289682" cy="289682"/>
          </a:xfrm>
          <a:prstGeom prst="rect">
            <a:avLst/>
          </a:prstGeom>
        </p:spPr>
      </p:pic>
      <p:sp>
        <p:nvSpPr>
          <p:cNvPr id="11" name="Text 7"/>
          <p:cNvSpPr txBox="1"/>
          <p:nvPr/>
        </p:nvSpPr>
        <p:spPr>
          <a:xfrm>
            <a:off x="1609344" y="2395728"/>
            <a:ext cx="4206240" cy="384048"/>
          </a:xfrm>
          <a:prstGeom prst="rect">
            <a:avLst/>
          </a:prstGeom>
          <a:noFill/>
          <a:ln/>
        </p:spPr>
        <p:txBody>
          <a:bodyPr wrap="square" lIns="0" tIns="0" rIns="0" bIns="0" rtlCol="0" anchor="ctr"/>
          <a:lstStyle/>
          <a:p>
            <a:pPr marL="0" indent="0">
              <a:buNone/>
            </a:pPr>
            <a:r>
              <a:rPr lang="en-US" sz="2000" b="1" dirty="0">
                <a:solidFill>
                  <a:srgbClr val="714B90"/>
                </a:solidFill>
                <a:latin typeface="Cambria" pitchFamily="34" charset="0"/>
                <a:ea typeface="Cambria" pitchFamily="34" charset="-122"/>
                <a:cs typeface="Cambria" pitchFamily="34" charset="-120"/>
              </a:rPr>
              <a:t>What Leoki can assist with</a:t>
            </a:r>
            <a:endParaRPr lang="en-US" sz="2000" dirty="0"/>
          </a:p>
        </p:txBody>
      </p:sp>
      <p:sp>
        <p:nvSpPr>
          <p:cNvPr id="12" name="Shape 8"/>
          <p:cNvSpPr/>
          <p:nvPr/>
        </p:nvSpPr>
        <p:spPr>
          <a:xfrm>
            <a:off x="896112" y="3236976"/>
            <a:ext cx="91440" cy="91440"/>
          </a:xfrm>
          <a:prstGeom prst="ellipse">
            <a:avLst/>
          </a:prstGeom>
          <a:solidFill>
            <a:srgbClr val="C98A2E"/>
          </a:solidFill>
          <a:ln w="6350">
            <a:solidFill>
              <a:srgbClr val="C98A2E"/>
            </a:solidFill>
            <a:prstDash val="solid"/>
          </a:ln>
        </p:spPr>
        <p:txBody>
          <a:bodyPr/>
          <a:lstStyle/>
          <a:p>
            <a:endParaRPr lang="en-IN"/>
          </a:p>
        </p:txBody>
      </p:sp>
      <p:sp>
        <p:nvSpPr>
          <p:cNvPr id="13" name="Text 9"/>
          <p:cNvSpPr txBox="1"/>
          <p:nvPr/>
        </p:nvSpPr>
        <p:spPr>
          <a:xfrm>
            <a:off x="1115568" y="3154680"/>
            <a:ext cx="4626864" cy="256032"/>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Explain and re-explain concepts</a:t>
            </a:r>
            <a:endParaRPr lang="en-US" sz="1450" dirty="0"/>
          </a:p>
        </p:txBody>
      </p:sp>
      <p:sp>
        <p:nvSpPr>
          <p:cNvPr id="14" name="Shape 10"/>
          <p:cNvSpPr/>
          <p:nvPr/>
        </p:nvSpPr>
        <p:spPr>
          <a:xfrm>
            <a:off x="896112" y="3621024"/>
            <a:ext cx="91440" cy="91440"/>
          </a:xfrm>
          <a:prstGeom prst="ellipse">
            <a:avLst/>
          </a:prstGeom>
          <a:solidFill>
            <a:srgbClr val="C98A2E"/>
          </a:solidFill>
          <a:ln w="6350">
            <a:solidFill>
              <a:srgbClr val="C98A2E"/>
            </a:solidFill>
            <a:prstDash val="solid"/>
          </a:ln>
        </p:spPr>
        <p:txBody>
          <a:bodyPr/>
          <a:lstStyle/>
          <a:p>
            <a:endParaRPr lang="en-IN"/>
          </a:p>
        </p:txBody>
      </p:sp>
      <p:sp>
        <p:nvSpPr>
          <p:cNvPr id="15" name="Text 11"/>
          <p:cNvSpPr txBox="1"/>
          <p:nvPr/>
        </p:nvSpPr>
        <p:spPr>
          <a:xfrm>
            <a:off x="1115568" y="3538728"/>
            <a:ext cx="4626864" cy="256032"/>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Give examples and analogies</a:t>
            </a:r>
            <a:endParaRPr lang="en-US" sz="1450" dirty="0"/>
          </a:p>
        </p:txBody>
      </p:sp>
      <p:sp>
        <p:nvSpPr>
          <p:cNvPr id="16" name="Shape 12"/>
          <p:cNvSpPr/>
          <p:nvPr/>
        </p:nvSpPr>
        <p:spPr>
          <a:xfrm>
            <a:off x="896112" y="4005072"/>
            <a:ext cx="91440" cy="91440"/>
          </a:xfrm>
          <a:prstGeom prst="ellipse">
            <a:avLst/>
          </a:prstGeom>
          <a:solidFill>
            <a:srgbClr val="C98A2E"/>
          </a:solidFill>
          <a:ln w="6350">
            <a:solidFill>
              <a:srgbClr val="C98A2E"/>
            </a:solidFill>
            <a:prstDash val="solid"/>
          </a:ln>
        </p:spPr>
        <p:txBody>
          <a:bodyPr/>
          <a:lstStyle/>
          <a:p>
            <a:endParaRPr lang="en-IN"/>
          </a:p>
        </p:txBody>
      </p:sp>
      <p:sp>
        <p:nvSpPr>
          <p:cNvPr id="17" name="Text 13"/>
          <p:cNvSpPr txBox="1"/>
          <p:nvPr/>
        </p:nvSpPr>
        <p:spPr>
          <a:xfrm>
            <a:off x="1115568" y="3922776"/>
            <a:ext cx="4626864" cy="256032"/>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Generate questions and practice material</a:t>
            </a:r>
            <a:endParaRPr lang="en-US" sz="1450" dirty="0"/>
          </a:p>
        </p:txBody>
      </p:sp>
      <p:sp>
        <p:nvSpPr>
          <p:cNvPr id="18" name="Shape 14"/>
          <p:cNvSpPr/>
          <p:nvPr/>
        </p:nvSpPr>
        <p:spPr>
          <a:xfrm>
            <a:off x="896112" y="4389120"/>
            <a:ext cx="91440" cy="91440"/>
          </a:xfrm>
          <a:prstGeom prst="ellipse">
            <a:avLst/>
          </a:prstGeom>
          <a:solidFill>
            <a:srgbClr val="C98A2E"/>
          </a:solidFill>
          <a:ln w="6350">
            <a:solidFill>
              <a:srgbClr val="C98A2E"/>
            </a:solidFill>
            <a:prstDash val="solid"/>
          </a:ln>
        </p:spPr>
        <p:txBody>
          <a:bodyPr/>
          <a:lstStyle/>
          <a:p>
            <a:endParaRPr lang="en-IN"/>
          </a:p>
        </p:txBody>
      </p:sp>
      <p:sp>
        <p:nvSpPr>
          <p:cNvPr id="19" name="Text 15"/>
          <p:cNvSpPr txBox="1"/>
          <p:nvPr/>
        </p:nvSpPr>
        <p:spPr>
          <a:xfrm>
            <a:off x="1115568" y="4306824"/>
            <a:ext cx="4626864" cy="256032"/>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Support multilingual understanding</a:t>
            </a:r>
            <a:endParaRPr lang="en-US" sz="1450" dirty="0"/>
          </a:p>
        </p:txBody>
      </p:sp>
      <p:sp>
        <p:nvSpPr>
          <p:cNvPr id="20" name="Shape 16"/>
          <p:cNvSpPr/>
          <p:nvPr/>
        </p:nvSpPr>
        <p:spPr>
          <a:xfrm>
            <a:off x="896112" y="4773168"/>
            <a:ext cx="91440" cy="91440"/>
          </a:xfrm>
          <a:prstGeom prst="ellipse">
            <a:avLst/>
          </a:prstGeom>
          <a:solidFill>
            <a:srgbClr val="C98A2E"/>
          </a:solidFill>
          <a:ln w="6350">
            <a:solidFill>
              <a:srgbClr val="C98A2E"/>
            </a:solidFill>
            <a:prstDash val="solid"/>
          </a:ln>
        </p:spPr>
        <p:txBody>
          <a:bodyPr/>
          <a:lstStyle/>
          <a:p>
            <a:endParaRPr lang="en-IN"/>
          </a:p>
        </p:txBody>
      </p:sp>
      <p:sp>
        <p:nvSpPr>
          <p:cNvPr id="21" name="Text 17"/>
          <p:cNvSpPr txBox="1"/>
          <p:nvPr/>
        </p:nvSpPr>
        <p:spPr>
          <a:xfrm>
            <a:off x="1115568" y="4690872"/>
            <a:ext cx="4626864" cy="256032"/>
          </a:xfrm>
          <a:prstGeom prst="rect">
            <a:avLst/>
          </a:prstGeom>
          <a:noFill/>
          <a:ln/>
        </p:spPr>
        <p:txBody>
          <a:bodyPr wrap="square" lIns="0" tIns="0" rIns="0" bIns="0" rtlCol="0" anchor="ctr"/>
          <a:lstStyle/>
          <a:p>
            <a:pPr marL="0" indent="0">
              <a:buNone/>
            </a:pPr>
            <a:r>
              <a:rPr lang="en-US" sz="1450" dirty="0">
                <a:solidFill>
                  <a:srgbClr val="241E2A"/>
                </a:solidFill>
                <a:latin typeface="Calibri" pitchFamily="34" charset="0"/>
                <a:ea typeface="Calibri" pitchFamily="34" charset="-122"/>
                <a:cs typeface="Calibri" pitchFamily="34" charset="-120"/>
              </a:rPr>
              <a:t>Share insights after class</a:t>
            </a:r>
            <a:endParaRPr lang="en-US" sz="1450" dirty="0"/>
          </a:p>
        </p:txBody>
      </p:sp>
      <p:sp>
        <p:nvSpPr>
          <p:cNvPr id="22" name="Shape 18"/>
          <p:cNvSpPr/>
          <p:nvPr/>
        </p:nvSpPr>
        <p:spPr>
          <a:xfrm>
            <a:off x="6208776" y="2011680"/>
            <a:ext cx="5422392" cy="3154680"/>
          </a:xfrm>
          <a:prstGeom prst="roundRect">
            <a:avLst>
              <a:gd name="adj" fmla="val 2319"/>
            </a:avLst>
          </a:prstGeom>
          <a:solidFill>
            <a:srgbClr val="714B90"/>
          </a:solidFill>
          <a:ln w="6350">
            <a:solidFill>
              <a:srgbClr val="714B90"/>
            </a:solidFill>
            <a:prstDash val="solid"/>
          </a:ln>
          <a:effectLst>
            <a:outerShdw blurRad="101600" dist="25400" dir="5400000" algn="bl" rotWithShape="0">
              <a:srgbClr val="4A3560">
                <a:alpha val="12000"/>
              </a:srgbClr>
            </a:outerShdw>
          </a:effectLst>
        </p:spPr>
        <p:txBody>
          <a:bodyPr/>
          <a:lstStyle/>
          <a:p>
            <a:endParaRPr lang="en-IN"/>
          </a:p>
        </p:txBody>
      </p:sp>
      <p:sp>
        <p:nvSpPr>
          <p:cNvPr id="23" name="Shape 19"/>
          <p:cNvSpPr/>
          <p:nvPr/>
        </p:nvSpPr>
        <p:spPr>
          <a:xfrm>
            <a:off x="6483096" y="2286000"/>
            <a:ext cx="603504" cy="603504"/>
          </a:xfrm>
          <a:prstGeom prst="ellipse">
            <a:avLst/>
          </a:prstGeom>
          <a:solidFill>
            <a:srgbClr val="FFFFFF"/>
          </a:solidFill>
          <a:ln w="6350">
            <a:solidFill>
              <a:srgbClr val="FFFFFF"/>
            </a:solidFill>
            <a:prstDash val="solid"/>
          </a:ln>
        </p:spPr>
        <p:txBody>
          <a:bodyPr/>
          <a:lstStyle/>
          <a:p>
            <a:endParaRPr lang="en-IN"/>
          </a:p>
        </p:txBody>
      </p:sp>
      <p:pic>
        <p:nvPicPr>
          <p:cNvPr id="24" name="Image 2" descr="preencoded.png"/>
          <p:cNvPicPr>
            <a:picLocks noChangeAspect="1"/>
          </p:cNvPicPr>
          <p:nvPr/>
        </p:nvPicPr>
        <p:blipFill>
          <a:blip r:embed="rId5"/>
          <a:stretch>
            <a:fillRect/>
          </a:stretch>
        </p:blipFill>
        <p:spPr>
          <a:xfrm>
            <a:off x="6640007" y="2442911"/>
            <a:ext cx="289682" cy="289682"/>
          </a:xfrm>
          <a:prstGeom prst="rect">
            <a:avLst/>
          </a:prstGeom>
        </p:spPr>
      </p:pic>
      <p:sp>
        <p:nvSpPr>
          <p:cNvPr id="25" name="Text 20"/>
          <p:cNvSpPr txBox="1"/>
          <p:nvPr/>
        </p:nvSpPr>
        <p:spPr>
          <a:xfrm>
            <a:off x="7251192" y="2395728"/>
            <a:ext cx="420624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What teachers continue to lead</a:t>
            </a:r>
            <a:endParaRPr lang="en-US" sz="2000" dirty="0"/>
          </a:p>
        </p:txBody>
      </p:sp>
      <p:sp>
        <p:nvSpPr>
          <p:cNvPr id="26" name="Shape 21"/>
          <p:cNvSpPr/>
          <p:nvPr/>
        </p:nvSpPr>
        <p:spPr>
          <a:xfrm>
            <a:off x="6537960" y="3236976"/>
            <a:ext cx="91440" cy="91440"/>
          </a:xfrm>
          <a:prstGeom prst="ellipse">
            <a:avLst/>
          </a:prstGeom>
          <a:solidFill>
            <a:srgbClr val="C98A2E"/>
          </a:solidFill>
          <a:ln w="6350">
            <a:solidFill>
              <a:srgbClr val="C98A2E"/>
            </a:solidFill>
            <a:prstDash val="solid"/>
          </a:ln>
        </p:spPr>
        <p:txBody>
          <a:bodyPr/>
          <a:lstStyle/>
          <a:p>
            <a:endParaRPr lang="en-IN"/>
          </a:p>
        </p:txBody>
      </p:sp>
      <p:sp>
        <p:nvSpPr>
          <p:cNvPr id="27" name="Text 22"/>
          <p:cNvSpPr txBox="1"/>
          <p:nvPr/>
        </p:nvSpPr>
        <p:spPr>
          <a:xfrm>
            <a:off x="6757416" y="3154680"/>
            <a:ext cx="4626864" cy="256032"/>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Lesson intent and academic judgment</a:t>
            </a:r>
            <a:endParaRPr lang="en-US" sz="1450" dirty="0"/>
          </a:p>
        </p:txBody>
      </p:sp>
      <p:sp>
        <p:nvSpPr>
          <p:cNvPr id="28" name="Shape 23"/>
          <p:cNvSpPr/>
          <p:nvPr/>
        </p:nvSpPr>
        <p:spPr>
          <a:xfrm>
            <a:off x="6537960" y="3621024"/>
            <a:ext cx="91440" cy="91440"/>
          </a:xfrm>
          <a:prstGeom prst="ellipse">
            <a:avLst/>
          </a:prstGeom>
          <a:solidFill>
            <a:srgbClr val="C98A2E"/>
          </a:solidFill>
          <a:ln w="6350">
            <a:solidFill>
              <a:srgbClr val="C98A2E"/>
            </a:solidFill>
            <a:prstDash val="solid"/>
          </a:ln>
        </p:spPr>
        <p:txBody>
          <a:bodyPr/>
          <a:lstStyle/>
          <a:p>
            <a:endParaRPr lang="en-IN"/>
          </a:p>
        </p:txBody>
      </p:sp>
      <p:sp>
        <p:nvSpPr>
          <p:cNvPr id="29" name="Text 24"/>
          <p:cNvSpPr txBox="1"/>
          <p:nvPr/>
        </p:nvSpPr>
        <p:spPr>
          <a:xfrm>
            <a:off x="6757416" y="3538728"/>
            <a:ext cx="4626864" cy="256032"/>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Classroom culture and student motivation</a:t>
            </a:r>
            <a:endParaRPr lang="en-US" sz="1450" dirty="0"/>
          </a:p>
        </p:txBody>
      </p:sp>
      <p:sp>
        <p:nvSpPr>
          <p:cNvPr id="30" name="Shape 25"/>
          <p:cNvSpPr/>
          <p:nvPr/>
        </p:nvSpPr>
        <p:spPr>
          <a:xfrm>
            <a:off x="6537960" y="4005072"/>
            <a:ext cx="91440" cy="91440"/>
          </a:xfrm>
          <a:prstGeom prst="ellipse">
            <a:avLst/>
          </a:prstGeom>
          <a:solidFill>
            <a:srgbClr val="C98A2E"/>
          </a:solidFill>
          <a:ln w="6350">
            <a:solidFill>
              <a:srgbClr val="C98A2E"/>
            </a:solidFill>
            <a:prstDash val="solid"/>
          </a:ln>
        </p:spPr>
        <p:txBody>
          <a:bodyPr/>
          <a:lstStyle/>
          <a:p>
            <a:endParaRPr lang="en-IN"/>
          </a:p>
        </p:txBody>
      </p:sp>
      <p:sp>
        <p:nvSpPr>
          <p:cNvPr id="31" name="Text 26"/>
          <p:cNvSpPr txBox="1"/>
          <p:nvPr/>
        </p:nvSpPr>
        <p:spPr>
          <a:xfrm>
            <a:off x="6757416" y="3922776"/>
            <a:ext cx="4626864" cy="256032"/>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Choice of examples and activities</a:t>
            </a:r>
            <a:endParaRPr lang="en-US" sz="1450" dirty="0"/>
          </a:p>
        </p:txBody>
      </p:sp>
      <p:sp>
        <p:nvSpPr>
          <p:cNvPr id="32" name="Shape 27"/>
          <p:cNvSpPr/>
          <p:nvPr/>
        </p:nvSpPr>
        <p:spPr>
          <a:xfrm>
            <a:off x="6537960" y="4389120"/>
            <a:ext cx="91440" cy="91440"/>
          </a:xfrm>
          <a:prstGeom prst="ellipse">
            <a:avLst/>
          </a:prstGeom>
          <a:solidFill>
            <a:srgbClr val="C98A2E"/>
          </a:solidFill>
          <a:ln w="6350">
            <a:solidFill>
              <a:srgbClr val="C98A2E"/>
            </a:solidFill>
            <a:prstDash val="solid"/>
          </a:ln>
        </p:spPr>
        <p:txBody>
          <a:bodyPr/>
          <a:lstStyle/>
          <a:p>
            <a:endParaRPr lang="en-IN"/>
          </a:p>
        </p:txBody>
      </p:sp>
      <p:sp>
        <p:nvSpPr>
          <p:cNvPr id="33" name="Text 28"/>
          <p:cNvSpPr txBox="1"/>
          <p:nvPr/>
        </p:nvSpPr>
        <p:spPr>
          <a:xfrm>
            <a:off x="6757416" y="4306824"/>
            <a:ext cx="4626864" cy="256032"/>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Review of all AI-generated material</a:t>
            </a:r>
            <a:endParaRPr lang="en-US" sz="1450" dirty="0"/>
          </a:p>
        </p:txBody>
      </p:sp>
      <p:sp>
        <p:nvSpPr>
          <p:cNvPr id="34" name="Shape 29"/>
          <p:cNvSpPr/>
          <p:nvPr/>
        </p:nvSpPr>
        <p:spPr>
          <a:xfrm>
            <a:off x="6537960" y="4773168"/>
            <a:ext cx="91440" cy="91440"/>
          </a:xfrm>
          <a:prstGeom prst="ellipse">
            <a:avLst/>
          </a:prstGeom>
          <a:solidFill>
            <a:srgbClr val="C98A2E"/>
          </a:solidFill>
          <a:ln w="6350">
            <a:solidFill>
              <a:srgbClr val="C98A2E"/>
            </a:solidFill>
            <a:prstDash val="solid"/>
          </a:ln>
        </p:spPr>
        <p:txBody>
          <a:bodyPr/>
          <a:lstStyle/>
          <a:p>
            <a:endParaRPr lang="en-IN"/>
          </a:p>
        </p:txBody>
      </p:sp>
      <p:sp>
        <p:nvSpPr>
          <p:cNvPr id="35" name="Text 30"/>
          <p:cNvSpPr txBox="1"/>
          <p:nvPr/>
        </p:nvSpPr>
        <p:spPr>
          <a:xfrm>
            <a:off x="6757416" y="4690872"/>
            <a:ext cx="4626864" cy="256032"/>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Mentoring and intervention</a:t>
            </a:r>
            <a:endParaRPr lang="en-US" sz="1450" dirty="0"/>
          </a:p>
        </p:txBody>
      </p:sp>
      <p:sp>
        <p:nvSpPr>
          <p:cNvPr id="36" name="Shape 31"/>
          <p:cNvSpPr/>
          <p:nvPr/>
        </p:nvSpPr>
        <p:spPr>
          <a:xfrm>
            <a:off x="566928" y="5349240"/>
            <a:ext cx="11064240" cy="777240"/>
          </a:xfrm>
          <a:prstGeom prst="roundRect">
            <a:avLst>
              <a:gd name="adj" fmla="val 9412"/>
            </a:avLst>
          </a:prstGeom>
          <a:solidFill>
            <a:srgbClr val="FBF3E3"/>
          </a:solidFill>
          <a:ln w="6350">
            <a:solidFill>
              <a:srgbClr val="FBF3E3"/>
            </a:solidFill>
            <a:prstDash val="solid"/>
          </a:ln>
        </p:spPr>
        <p:txBody>
          <a:bodyPr/>
          <a:lstStyle/>
          <a:p>
            <a:endParaRPr lang="en-IN"/>
          </a:p>
        </p:txBody>
      </p:sp>
      <p:sp>
        <p:nvSpPr>
          <p:cNvPr id="37" name="Text 32"/>
          <p:cNvSpPr txBox="1"/>
          <p:nvPr/>
        </p:nvSpPr>
        <p:spPr>
          <a:xfrm>
            <a:off x="566928" y="5394960"/>
            <a:ext cx="11064240" cy="402336"/>
          </a:xfrm>
          <a:prstGeom prst="rect">
            <a:avLst/>
          </a:prstGeom>
          <a:noFill/>
          <a:ln/>
        </p:spPr>
        <p:txBody>
          <a:bodyPr wrap="square" lIns="0" tIns="0" rIns="0" bIns="0" rtlCol="0" anchor="ctr"/>
          <a:lstStyle/>
          <a:p>
            <a:pPr marL="0" indent="0" algn="ctr">
              <a:buNone/>
            </a:pPr>
            <a:r>
              <a:rPr lang="en-US" sz="2000" b="1" dirty="0">
                <a:solidFill>
                  <a:srgbClr val="714B90"/>
                </a:solidFill>
                <a:latin typeface="Cambria" pitchFamily="34" charset="0"/>
                <a:ea typeface="Cambria" pitchFamily="34" charset="-122"/>
                <a:cs typeface="Cambria" pitchFamily="34" charset="-120"/>
              </a:rPr>
              <a:t>Teacher-led.  AI-supported.  Student-centred.</a:t>
            </a:r>
            <a:endParaRPr lang="en-US" sz="2000" dirty="0"/>
          </a:p>
        </p:txBody>
      </p:sp>
      <p:sp>
        <p:nvSpPr>
          <p:cNvPr id="38" name="Text 33"/>
          <p:cNvSpPr txBox="1"/>
          <p:nvPr/>
        </p:nvSpPr>
        <p:spPr>
          <a:xfrm>
            <a:off x="566928" y="5788152"/>
            <a:ext cx="11064240" cy="274320"/>
          </a:xfrm>
          <a:prstGeom prst="rect">
            <a:avLst/>
          </a:prstGeom>
          <a:noFill/>
          <a:ln/>
        </p:spPr>
        <p:txBody>
          <a:bodyPr wrap="square" lIns="0" tIns="0" rIns="0" bIns="0" rtlCol="0" anchor="ctr"/>
          <a:lstStyle/>
          <a:p>
            <a:pPr marL="0" indent="0" algn="ctr">
              <a:buNone/>
            </a:pPr>
            <a:r>
              <a:rPr lang="en-US" sz="1300" i="1" dirty="0">
                <a:solidFill>
                  <a:srgbClr val="241E2A"/>
                </a:solidFill>
                <a:latin typeface="Calibri" pitchFamily="34" charset="0"/>
                <a:ea typeface="Calibri" pitchFamily="34" charset="-122"/>
                <a:cs typeface="Calibri" pitchFamily="34" charset="-120"/>
              </a:rPr>
              <a:t>Not an open-ended, answer-first chatbot: grounded in the curriculum and designed for learning.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1B3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33888" y="356616"/>
            <a:ext cx="1060704" cy="393192"/>
          </a:xfrm>
          <a:prstGeom prst="rect">
            <a:avLst/>
          </a:prstGeom>
        </p:spPr>
      </p:pic>
      <p:sp>
        <p:nvSpPr>
          <p:cNvPr id="3" name="Text 0"/>
          <p:cNvSpPr txBox="1"/>
          <p:nvPr/>
        </p:nvSpPr>
        <p:spPr>
          <a:xfrm>
            <a:off x="594360" y="1005840"/>
            <a:ext cx="5486400" cy="320040"/>
          </a:xfrm>
          <a:prstGeom prst="rect">
            <a:avLst/>
          </a:prstGeom>
          <a:noFill/>
          <a:ln/>
        </p:spPr>
        <p:txBody>
          <a:bodyPr wrap="square" lIns="0" tIns="0" rIns="0" bIns="0" rtlCol="0" anchor="ctr"/>
          <a:lstStyle/>
          <a:p>
            <a:pPr marL="0" indent="0">
              <a:buNone/>
            </a:pPr>
            <a:r>
              <a:rPr lang="en-US" sz="1400" b="1" kern="0" spc="300" dirty="0">
                <a:solidFill>
                  <a:srgbClr val="C98A2E"/>
                </a:solidFill>
                <a:latin typeface="Calibri" pitchFamily="34" charset="0"/>
                <a:ea typeface="Calibri" pitchFamily="34" charset="-122"/>
                <a:cs typeface="Calibri" pitchFamily="34" charset="-120"/>
              </a:rPr>
              <a:t>LIVE DEMO</a:t>
            </a:r>
            <a:endParaRPr lang="en-US" sz="1400" dirty="0"/>
          </a:p>
        </p:txBody>
      </p:sp>
      <p:sp>
        <p:nvSpPr>
          <p:cNvPr id="4" name="Text 1"/>
          <p:cNvSpPr txBox="1"/>
          <p:nvPr/>
        </p:nvSpPr>
        <p:spPr>
          <a:xfrm>
            <a:off x="585216" y="1371600"/>
            <a:ext cx="10058400" cy="7772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Let's See Leoki in Action</a:t>
            </a:r>
            <a:endParaRPr lang="en-US" sz="4000" dirty="0"/>
          </a:p>
        </p:txBody>
      </p:sp>
      <p:sp>
        <p:nvSpPr>
          <p:cNvPr id="5" name="Text 2"/>
          <p:cNvSpPr txBox="1"/>
          <p:nvPr/>
        </p:nvSpPr>
        <p:spPr>
          <a:xfrm>
            <a:off x="594360" y="2194560"/>
            <a:ext cx="10058400" cy="457200"/>
          </a:xfrm>
          <a:prstGeom prst="rect">
            <a:avLst/>
          </a:prstGeom>
          <a:noFill/>
          <a:ln/>
        </p:spPr>
        <p:txBody>
          <a:bodyPr wrap="square" lIns="0" tIns="0" rIns="0" bIns="0" rtlCol="0" anchor="ctr"/>
          <a:lstStyle/>
          <a:p>
            <a:pPr marL="0" indent="0">
              <a:buNone/>
            </a:pPr>
            <a:r>
              <a:rPr lang="en-US" sz="2000" dirty="0">
                <a:solidFill>
                  <a:srgbClr val="CDBADF"/>
                </a:solidFill>
                <a:latin typeface="Calibri" pitchFamily="34" charset="0"/>
                <a:ea typeface="Calibri" pitchFamily="34" charset="-122"/>
                <a:cs typeface="Calibri" pitchFamily="34" charset="-120"/>
              </a:rPr>
              <a:t>Tell us a topic you are teaching this week.</a:t>
            </a:r>
            <a:endParaRPr lang="en-US" sz="2000" dirty="0"/>
          </a:p>
        </p:txBody>
      </p:sp>
      <p:sp>
        <p:nvSpPr>
          <p:cNvPr id="6" name="Shape 3"/>
          <p:cNvSpPr/>
          <p:nvPr/>
        </p:nvSpPr>
        <p:spPr>
          <a:xfrm>
            <a:off x="566928" y="3017520"/>
            <a:ext cx="2596896" cy="2331720"/>
          </a:xfrm>
          <a:prstGeom prst="roundRect">
            <a:avLst>
              <a:gd name="adj" fmla="val 3137"/>
            </a:avLst>
          </a:prstGeom>
          <a:solidFill>
            <a:srgbClr val="3E2856"/>
          </a:solidFill>
          <a:ln w="12700">
            <a:solidFill>
              <a:srgbClr val="553A72"/>
            </a:solidFill>
            <a:prstDash val="solid"/>
          </a:ln>
        </p:spPr>
        <p:txBody>
          <a:bodyPr/>
          <a:lstStyle/>
          <a:p>
            <a:endParaRPr lang="en-IN"/>
          </a:p>
        </p:txBody>
      </p:sp>
      <p:sp>
        <p:nvSpPr>
          <p:cNvPr id="7" name="Shape 4"/>
          <p:cNvSpPr/>
          <p:nvPr/>
        </p:nvSpPr>
        <p:spPr>
          <a:xfrm>
            <a:off x="822960" y="3273552"/>
            <a:ext cx="603504" cy="603504"/>
          </a:xfrm>
          <a:prstGeom prst="ellipse">
            <a:avLst/>
          </a:prstGeom>
          <a:solidFill>
            <a:srgbClr val="2C1B3D"/>
          </a:solidFill>
          <a:ln w="15875">
            <a:solidFill>
              <a:srgbClr val="C98A2E"/>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978408" y="3429000"/>
            <a:ext cx="292608" cy="292608"/>
          </a:xfrm>
          <a:prstGeom prst="rect">
            <a:avLst/>
          </a:prstGeom>
        </p:spPr>
      </p:pic>
      <p:sp>
        <p:nvSpPr>
          <p:cNvPr id="9" name="Text 5"/>
          <p:cNvSpPr txBox="1"/>
          <p:nvPr/>
        </p:nvSpPr>
        <p:spPr>
          <a:xfrm>
            <a:off x="822960" y="4041648"/>
            <a:ext cx="2139696"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Create</a:t>
            </a:r>
            <a:endParaRPr lang="en-US" sz="1900" dirty="0"/>
          </a:p>
        </p:txBody>
      </p:sp>
      <p:sp>
        <p:nvSpPr>
          <p:cNvPr id="10" name="Text 6"/>
          <p:cNvSpPr txBox="1"/>
          <p:nvPr/>
        </p:nvSpPr>
        <p:spPr>
          <a:xfrm>
            <a:off x="822960" y="4462272"/>
            <a:ext cx="2139696" cy="777240"/>
          </a:xfrm>
          <a:prstGeom prst="rect">
            <a:avLst/>
          </a:prstGeom>
          <a:noFill/>
          <a:ln/>
        </p:spPr>
        <p:txBody>
          <a:bodyPr wrap="square" lIns="0" tIns="0" rIns="0" bIns="0" rtlCol="0" anchor="t"/>
          <a:lstStyle/>
          <a:p>
            <a:pPr marL="0" indent="0">
              <a:buNone/>
            </a:pPr>
            <a:r>
              <a:rPr lang="en-US" sz="1350" dirty="0">
                <a:solidFill>
                  <a:srgbClr val="DED0EC"/>
                </a:solidFill>
                <a:latin typeface="Calibri" pitchFamily="34" charset="0"/>
                <a:ea typeface="Calibri" pitchFamily="34" charset="-122"/>
                <a:cs typeface="Calibri" pitchFamily="34" charset="-120"/>
              </a:rPr>
              <a:t>Concept-check questions or a worksheet for your topic.</a:t>
            </a:r>
            <a:endParaRPr lang="en-US" sz="1350" dirty="0"/>
          </a:p>
        </p:txBody>
      </p:sp>
      <p:sp>
        <p:nvSpPr>
          <p:cNvPr id="11" name="Shape 7"/>
          <p:cNvSpPr/>
          <p:nvPr/>
        </p:nvSpPr>
        <p:spPr>
          <a:xfrm>
            <a:off x="3392424" y="3017520"/>
            <a:ext cx="2596896" cy="2331720"/>
          </a:xfrm>
          <a:prstGeom prst="roundRect">
            <a:avLst>
              <a:gd name="adj" fmla="val 3137"/>
            </a:avLst>
          </a:prstGeom>
          <a:solidFill>
            <a:srgbClr val="3E2856"/>
          </a:solidFill>
          <a:ln w="12700">
            <a:solidFill>
              <a:srgbClr val="553A72"/>
            </a:solidFill>
            <a:prstDash val="solid"/>
          </a:ln>
        </p:spPr>
        <p:txBody>
          <a:bodyPr/>
          <a:lstStyle/>
          <a:p>
            <a:endParaRPr lang="en-IN"/>
          </a:p>
        </p:txBody>
      </p:sp>
      <p:sp>
        <p:nvSpPr>
          <p:cNvPr id="12" name="Shape 8"/>
          <p:cNvSpPr/>
          <p:nvPr/>
        </p:nvSpPr>
        <p:spPr>
          <a:xfrm>
            <a:off x="3648456" y="3273552"/>
            <a:ext cx="603504" cy="603504"/>
          </a:xfrm>
          <a:prstGeom prst="ellipse">
            <a:avLst/>
          </a:prstGeom>
          <a:solidFill>
            <a:srgbClr val="2C1B3D"/>
          </a:solidFill>
          <a:ln w="15875">
            <a:solidFill>
              <a:srgbClr val="C98A2E"/>
            </a:solidFill>
            <a:prstDash val="solid"/>
          </a:ln>
        </p:spPr>
        <p:txBody>
          <a:bodyPr/>
          <a:lstStyle/>
          <a:p>
            <a:endParaRPr lang="en-IN"/>
          </a:p>
        </p:txBody>
      </p:sp>
      <p:pic>
        <p:nvPicPr>
          <p:cNvPr id="13" name="Image 2" descr="preencoded.png"/>
          <p:cNvPicPr>
            <a:picLocks noChangeAspect="1"/>
          </p:cNvPicPr>
          <p:nvPr/>
        </p:nvPicPr>
        <p:blipFill>
          <a:blip r:embed="rId5"/>
          <a:stretch>
            <a:fillRect/>
          </a:stretch>
        </p:blipFill>
        <p:spPr>
          <a:xfrm>
            <a:off x="3803904" y="3429000"/>
            <a:ext cx="292608" cy="292608"/>
          </a:xfrm>
          <a:prstGeom prst="rect">
            <a:avLst/>
          </a:prstGeom>
        </p:spPr>
      </p:pic>
      <p:sp>
        <p:nvSpPr>
          <p:cNvPr id="14" name="Text 9"/>
          <p:cNvSpPr txBox="1"/>
          <p:nvPr/>
        </p:nvSpPr>
        <p:spPr>
          <a:xfrm>
            <a:off x="3648456" y="4041648"/>
            <a:ext cx="2139696"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Explain</a:t>
            </a:r>
            <a:endParaRPr lang="en-US" sz="1900" dirty="0"/>
          </a:p>
        </p:txBody>
      </p:sp>
      <p:sp>
        <p:nvSpPr>
          <p:cNvPr id="15" name="Text 10"/>
          <p:cNvSpPr txBox="1"/>
          <p:nvPr/>
        </p:nvSpPr>
        <p:spPr>
          <a:xfrm>
            <a:off x="3648456" y="4462272"/>
            <a:ext cx="2139696" cy="777240"/>
          </a:xfrm>
          <a:prstGeom prst="rect">
            <a:avLst/>
          </a:prstGeom>
          <a:noFill/>
          <a:ln/>
        </p:spPr>
        <p:txBody>
          <a:bodyPr wrap="square" lIns="0" tIns="0" rIns="0" bIns="0" rtlCol="0" anchor="t"/>
          <a:lstStyle/>
          <a:p>
            <a:pPr marL="0" indent="0">
              <a:buNone/>
            </a:pPr>
            <a:r>
              <a:rPr lang="en-US" sz="1350" dirty="0">
                <a:solidFill>
                  <a:srgbClr val="DED0EC"/>
                </a:solidFill>
                <a:latin typeface="Calibri" pitchFamily="34" charset="0"/>
                <a:ea typeface="Calibri" pitchFamily="34" charset="-122"/>
                <a:cs typeface="Calibri" pitchFamily="34" charset="-120"/>
              </a:rPr>
              <a:t>A concept with an everyday example, on the classroom screen.</a:t>
            </a:r>
            <a:endParaRPr lang="en-US" sz="1350" dirty="0"/>
          </a:p>
        </p:txBody>
      </p:sp>
      <p:sp>
        <p:nvSpPr>
          <p:cNvPr id="16" name="Shape 11"/>
          <p:cNvSpPr/>
          <p:nvPr/>
        </p:nvSpPr>
        <p:spPr>
          <a:xfrm>
            <a:off x="6217920" y="3017520"/>
            <a:ext cx="2596896" cy="2331720"/>
          </a:xfrm>
          <a:prstGeom prst="roundRect">
            <a:avLst>
              <a:gd name="adj" fmla="val 3137"/>
            </a:avLst>
          </a:prstGeom>
          <a:solidFill>
            <a:srgbClr val="3E2856"/>
          </a:solidFill>
          <a:ln w="12700">
            <a:solidFill>
              <a:srgbClr val="553A72"/>
            </a:solidFill>
            <a:prstDash val="solid"/>
          </a:ln>
        </p:spPr>
        <p:txBody>
          <a:bodyPr/>
          <a:lstStyle/>
          <a:p>
            <a:endParaRPr lang="en-IN"/>
          </a:p>
        </p:txBody>
      </p:sp>
      <p:sp>
        <p:nvSpPr>
          <p:cNvPr id="17" name="Shape 12"/>
          <p:cNvSpPr/>
          <p:nvPr/>
        </p:nvSpPr>
        <p:spPr>
          <a:xfrm>
            <a:off x="6473952" y="3273552"/>
            <a:ext cx="603504" cy="603504"/>
          </a:xfrm>
          <a:prstGeom prst="ellipse">
            <a:avLst/>
          </a:prstGeom>
          <a:solidFill>
            <a:srgbClr val="2C1B3D"/>
          </a:solidFill>
          <a:ln w="15875">
            <a:solidFill>
              <a:srgbClr val="C98A2E"/>
            </a:solidFill>
            <a:prstDash val="solid"/>
          </a:ln>
        </p:spPr>
        <p:txBody>
          <a:bodyPr/>
          <a:lstStyle/>
          <a:p>
            <a:endParaRPr lang="en-IN"/>
          </a:p>
        </p:txBody>
      </p:sp>
      <p:pic>
        <p:nvPicPr>
          <p:cNvPr id="18" name="Image 3" descr="preencoded.png"/>
          <p:cNvPicPr>
            <a:picLocks noChangeAspect="1"/>
          </p:cNvPicPr>
          <p:nvPr/>
        </p:nvPicPr>
        <p:blipFill>
          <a:blip r:embed="rId6"/>
          <a:stretch>
            <a:fillRect/>
          </a:stretch>
        </p:blipFill>
        <p:spPr>
          <a:xfrm>
            <a:off x="6629400" y="3429000"/>
            <a:ext cx="292608" cy="292608"/>
          </a:xfrm>
          <a:prstGeom prst="rect">
            <a:avLst/>
          </a:prstGeom>
        </p:spPr>
      </p:pic>
      <p:sp>
        <p:nvSpPr>
          <p:cNvPr id="19" name="Text 13"/>
          <p:cNvSpPr txBox="1"/>
          <p:nvPr/>
        </p:nvSpPr>
        <p:spPr>
          <a:xfrm>
            <a:off x="6473952" y="4041648"/>
            <a:ext cx="2139696"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Switch language</a:t>
            </a:r>
            <a:endParaRPr lang="en-US" sz="1900" dirty="0"/>
          </a:p>
        </p:txBody>
      </p:sp>
      <p:sp>
        <p:nvSpPr>
          <p:cNvPr id="20" name="Text 14"/>
          <p:cNvSpPr txBox="1"/>
          <p:nvPr/>
        </p:nvSpPr>
        <p:spPr>
          <a:xfrm>
            <a:off x="6473952" y="4462272"/>
            <a:ext cx="2139696" cy="777240"/>
          </a:xfrm>
          <a:prstGeom prst="rect">
            <a:avLst/>
          </a:prstGeom>
          <a:noFill/>
          <a:ln/>
        </p:spPr>
        <p:txBody>
          <a:bodyPr wrap="square" lIns="0" tIns="0" rIns="0" bIns="0" rtlCol="0" anchor="t"/>
          <a:lstStyle/>
          <a:p>
            <a:pPr marL="0" indent="0">
              <a:buNone/>
            </a:pPr>
            <a:r>
              <a:rPr lang="en-US" sz="1350" dirty="0">
                <a:solidFill>
                  <a:srgbClr val="DED0EC"/>
                </a:solidFill>
                <a:latin typeface="Calibri" pitchFamily="34" charset="0"/>
                <a:ea typeface="Calibri" pitchFamily="34" charset="-122"/>
                <a:cs typeface="Calibri" pitchFamily="34" charset="-120"/>
              </a:rPr>
              <a:t>The same explanation again, in Hindi or another language.</a:t>
            </a:r>
            <a:endParaRPr lang="en-US" sz="1350" dirty="0"/>
          </a:p>
        </p:txBody>
      </p:sp>
      <p:sp>
        <p:nvSpPr>
          <p:cNvPr id="21" name="Shape 15"/>
          <p:cNvSpPr/>
          <p:nvPr/>
        </p:nvSpPr>
        <p:spPr>
          <a:xfrm>
            <a:off x="9043416" y="3017520"/>
            <a:ext cx="2596896" cy="2331720"/>
          </a:xfrm>
          <a:prstGeom prst="roundRect">
            <a:avLst>
              <a:gd name="adj" fmla="val 3137"/>
            </a:avLst>
          </a:prstGeom>
          <a:solidFill>
            <a:srgbClr val="3E2856"/>
          </a:solidFill>
          <a:ln w="12700">
            <a:solidFill>
              <a:srgbClr val="553A72"/>
            </a:solidFill>
            <a:prstDash val="solid"/>
          </a:ln>
        </p:spPr>
        <p:txBody>
          <a:bodyPr/>
          <a:lstStyle/>
          <a:p>
            <a:endParaRPr lang="en-IN"/>
          </a:p>
        </p:txBody>
      </p:sp>
      <p:sp>
        <p:nvSpPr>
          <p:cNvPr id="22" name="Shape 16"/>
          <p:cNvSpPr/>
          <p:nvPr/>
        </p:nvSpPr>
        <p:spPr>
          <a:xfrm>
            <a:off x="9299448" y="3273552"/>
            <a:ext cx="603504" cy="603504"/>
          </a:xfrm>
          <a:prstGeom prst="ellipse">
            <a:avLst/>
          </a:prstGeom>
          <a:solidFill>
            <a:srgbClr val="2C1B3D"/>
          </a:solidFill>
          <a:ln w="15875">
            <a:solidFill>
              <a:srgbClr val="C98A2E"/>
            </a:solidFill>
            <a:prstDash val="solid"/>
          </a:ln>
        </p:spPr>
        <p:txBody>
          <a:bodyPr/>
          <a:lstStyle/>
          <a:p>
            <a:endParaRPr lang="en-IN"/>
          </a:p>
        </p:txBody>
      </p:sp>
      <p:pic>
        <p:nvPicPr>
          <p:cNvPr id="23" name="Image 4" descr="preencoded.png"/>
          <p:cNvPicPr>
            <a:picLocks noChangeAspect="1"/>
          </p:cNvPicPr>
          <p:nvPr/>
        </p:nvPicPr>
        <p:blipFill>
          <a:blip r:embed="rId7"/>
          <a:stretch>
            <a:fillRect/>
          </a:stretch>
        </p:blipFill>
        <p:spPr>
          <a:xfrm>
            <a:off x="9454896" y="3429000"/>
            <a:ext cx="292608" cy="292608"/>
          </a:xfrm>
          <a:prstGeom prst="rect">
            <a:avLst/>
          </a:prstGeom>
        </p:spPr>
      </p:pic>
      <p:sp>
        <p:nvSpPr>
          <p:cNvPr id="24" name="Text 17"/>
          <p:cNvSpPr txBox="1"/>
          <p:nvPr/>
        </p:nvSpPr>
        <p:spPr>
          <a:xfrm>
            <a:off x="9299448" y="4041648"/>
            <a:ext cx="2139696"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Check learning</a:t>
            </a:r>
            <a:endParaRPr lang="en-US" sz="1900" dirty="0"/>
          </a:p>
        </p:txBody>
      </p:sp>
      <p:sp>
        <p:nvSpPr>
          <p:cNvPr id="25" name="Text 18"/>
          <p:cNvSpPr txBox="1"/>
          <p:nvPr/>
        </p:nvSpPr>
        <p:spPr>
          <a:xfrm>
            <a:off x="9299448" y="4462272"/>
            <a:ext cx="2139696" cy="777240"/>
          </a:xfrm>
          <a:prstGeom prst="rect">
            <a:avLst/>
          </a:prstGeom>
          <a:noFill/>
          <a:ln/>
        </p:spPr>
        <p:txBody>
          <a:bodyPr wrap="square" lIns="0" tIns="0" rIns="0" bIns="0" rtlCol="0" anchor="t"/>
          <a:lstStyle/>
          <a:p>
            <a:pPr marL="0" indent="0">
              <a:buNone/>
            </a:pPr>
            <a:r>
              <a:rPr lang="en-US" sz="1350" dirty="0">
                <a:solidFill>
                  <a:srgbClr val="DED0EC"/>
                </a:solidFill>
                <a:latin typeface="Calibri" pitchFamily="34" charset="0"/>
                <a:ea typeface="Calibri" pitchFamily="34" charset="-122"/>
                <a:cs typeface="Calibri" pitchFamily="34" charset="-120"/>
              </a:rPr>
              <a:t>Leoki asks questions. Try a wrong answer and see how it guides.</a:t>
            </a:r>
            <a:endParaRPr lang="en-US" sz="1350" dirty="0"/>
          </a:p>
        </p:txBody>
      </p:sp>
      <p:sp>
        <p:nvSpPr>
          <p:cNvPr id="26" name="Text 19"/>
          <p:cNvSpPr txBox="1"/>
          <p:nvPr/>
        </p:nvSpPr>
        <p:spPr>
          <a:xfrm>
            <a:off x="566928" y="5623560"/>
            <a:ext cx="11064240" cy="365760"/>
          </a:xfrm>
          <a:prstGeom prst="rect">
            <a:avLst/>
          </a:prstGeom>
          <a:noFill/>
          <a:ln/>
        </p:spPr>
        <p:txBody>
          <a:bodyPr wrap="square" lIns="0" tIns="0" rIns="0" bIns="0" rtlCol="0" anchor="ctr"/>
          <a:lstStyle/>
          <a:p>
            <a:pPr marL="0" indent="0">
              <a:buNone/>
            </a:pPr>
            <a:r>
              <a:rPr lang="en-US" sz="1700" b="1" i="1" dirty="0">
                <a:solidFill>
                  <a:srgbClr val="C98A2E"/>
                </a:solidFill>
                <a:latin typeface="Calibri" pitchFamily="34" charset="0"/>
                <a:ea typeface="Calibri" pitchFamily="34" charset="-122"/>
                <a:cs typeface="Calibri" pitchFamily="34" charset="-120"/>
              </a:rPr>
              <a:t>Watch the learning behaviour, not just the screen.</a:t>
            </a:r>
            <a:endParaRPr lang="en-US" sz="1700" dirty="0"/>
          </a:p>
        </p:txBody>
      </p:sp>
      <p:sp>
        <p:nvSpPr>
          <p:cNvPr id="27" name="Text 20"/>
          <p:cNvSpPr txBox="1"/>
          <p:nvPr/>
        </p:nvSpPr>
        <p:spPr>
          <a:xfrm>
            <a:off x="548640" y="6419088"/>
            <a:ext cx="5943600" cy="256032"/>
          </a:xfrm>
          <a:prstGeom prst="rect">
            <a:avLst/>
          </a:prstGeom>
          <a:noFill/>
          <a:ln/>
        </p:spPr>
        <p:txBody>
          <a:bodyPr wrap="square" lIns="0" tIns="0" rIns="0" bIns="0" rtlCol="0" anchor="ctr"/>
          <a:lstStyle/>
          <a:p>
            <a:pPr marL="0" indent="0">
              <a:buNone/>
            </a:pPr>
            <a:r>
              <a:rPr lang="en-US" sz="950" dirty="0">
                <a:solidFill>
                  <a:srgbClr val="A79DB2"/>
                </a:solidFill>
                <a:latin typeface="Calibri" pitchFamily="34" charset="0"/>
                <a:ea typeface="Calibri" pitchFamily="34" charset="-122"/>
                <a:cs typeface="Calibri" pitchFamily="34" charset="-120"/>
              </a:rPr>
              <a:t>Karmel AI Learning Programme  ·  Teacher Orientation</a:t>
            </a:r>
            <a:endParaRPr lang="en-US" sz="950" dirty="0"/>
          </a:p>
        </p:txBody>
      </p:sp>
      <p:sp>
        <p:nvSpPr>
          <p:cNvPr id="28" name="Text 21"/>
          <p:cNvSpPr txBox="1"/>
          <p:nvPr/>
        </p:nvSpPr>
        <p:spPr>
          <a:xfrm>
            <a:off x="10881360" y="6419088"/>
            <a:ext cx="758952" cy="256032"/>
          </a:xfrm>
          <a:prstGeom prst="rect">
            <a:avLst/>
          </a:prstGeom>
          <a:noFill/>
          <a:ln/>
        </p:spPr>
        <p:txBody>
          <a:bodyPr wrap="square" lIns="0" tIns="0" rIns="0" bIns="0" rtlCol="0" anchor="ctr"/>
          <a:lstStyle/>
          <a:p>
            <a:pPr marL="0" indent="0" algn="r">
              <a:buNone/>
            </a:pPr>
            <a:r>
              <a:rPr lang="en-US" sz="950" dirty="0">
                <a:solidFill>
                  <a:srgbClr val="A79DB2"/>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33888" y="356616"/>
            <a:ext cx="1060704" cy="393192"/>
          </a:xfrm>
          <a:prstGeom prst="rect">
            <a:avLst/>
          </a:prstGeom>
        </p:spPr>
      </p:pic>
      <p:sp>
        <p:nvSpPr>
          <p:cNvPr id="3"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98A2E"/>
                </a:solidFill>
                <a:latin typeface="Calibri" pitchFamily="34" charset="0"/>
                <a:ea typeface="Calibri" pitchFamily="34" charset="-122"/>
                <a:cs typeface="Calibri" pitchFamily="34" charset="-120"/>
              </a:rPr>
              <a:t>THE ROLLOUT</a:t>
            </a:r>
            <a:endParaRPr lang="en-US" sz="1200" dirty="0"/>
          </a:p>
        </p:txBody>
      </p:sp>
      <p:sp>
        <p:nvSpPr>
          <p:cNvPr id="4" name="Text 1"/>
          <p:cNvSpPr txBox="1"/>
          <p:nvPr/>
        </p:nvSpPr>
        <p:spPr>
          <a:xfrm>
            <a:off x="548640" y="749808"/>
            <a:ext cx="9875520" cy="658368"/>
          </a:xfrm>
          <a:prstGeom prst="rect">
            <a:avLst/>
          </a:prstGeom>
          <a:noFill/>
          <a:ln/>
        </p:spPr>
        <p:txBody>
          <a:bodyPr wrap="square" lIns="0" tIns="0" rIns="0" bIns="0" rtlCol="0" anchor="ctr"/>
          <a:lstStyle/>
          <a:p>
            <a:pPr marL="0" indent="0">
              <a:buNone/>
            </a:pPr>
            <a:r>
              <a:rPr lang="en-US" sz="3200" b="1" dirty="0">
                <a:solidFill>
                  <a:srgbClr val="714B90"/>
                </a:solidFill>
                <a:latin typeface="Cambria" pitchFamily="34" charset="0"/>
                <a:ea typeface="Cambria" pitchFamily="34" charset="-122"/>
                <a:cs typeface="Cambria" pitchFamily="34" charset="-120"/>
              </a:rPr>
              <a:t>What Happens Next</a:t>
            </a:r>
            <a:endParaRPr lang="en-US" sz="3200" dirty="0"/>
          </a:p>
        </p:txBody>
      </p:sp>
      <p:sp>
        <p:nvSpPr>
          <p:cNvPr id="5" name="Text 2"/>
          <p:cNvSpPr txBox="1"/>
          <p:nvPr/>
        </p:nvSpPr>
        <p:spPr>
          <a:xfrm>
            <a:off x="548640" y="1444752"/>
            <a:ext cx="11064240" cy="402336"/>
          </a:xfrm>
          <a:prstGeom prst="rect">
            <a:avLst/>
          </a:prstGeom>
          <a:noFill/>
          <a:ln/>
        </p:spPr>
        <p:txBody>
          <a:bodyPr wrap="square" lIns="0" tIns="0" rIns="0" bIns="0" rtlCol="0" anchor="ctr"/>
          <a:lstStyle/>
          <a:p>
            <a:pPr marL="0" indent="0">
              <a:buNone/>
            </a:pPr>
            <a:r>
              <a:rPr lang="en-US" sz="1600" i="1" dirty="0">
                <a:solidFill>
                  <a:srgbClr val="6E6579"/>
                </a:solidFill>
                <a:latin typeface="Calibri" pitchFamily="34" charset="0"/>
                <a:ea typeface="Calibri" pitchFamily="34" charset="-122"/>
                <a:cs typeface="Calibri" pitchFamily="34" charset="-120"/>
              </a:rPr>
              <a:t>A phased rollout that starts with teacher confidence, not technology.</a:t>
            </a:r>
            <a:endParaRPr lang="en-US" sz="1600" dirty="0"/>
          </a:p>
        </p:txBody>
      </p:sp>
      <p:sp>
        <p:nvSpPr>
          <p:cNvPr id="6" name="Text 3"/>
          <p:cNvSpPr txBox="1"/>
          <p:nvPr/>
        </p:nvSpPr>
        <p:spPr>
          <a:xfrm>
            <a:off x="548640" y="6419088"/>
            <a:ext cx="5943600" cy="256032"/>
          </a:xfrm>
          <a:prstGeom prst="rect">
            <a:avLst/>
          </a:prstGeom>
          <a:noFill/>
          <a:ln/>
        </p:spPr>
        <p:txBody>
          <a:bodyPr wrap="square" lIns="0" tIns="0" rIns="0" bIns="0" rtlCol="0" anchor="ctr"/>
          <a:lstStyle/>
          <a:p>
            <a:pPr marL="0" indent="0">
              <a:buNone/>
            </a:pPr>
            <a:r>
              <a:rPr lang="en-US" sz="950" dirty="0">
                <a:solidFill>
                  <a:srgbClr val="A79DB2"/>
                </a:solidFill>
                <a:latin typeface="Calibri" pitchFamily="34" charset="0"/>
                <a:ea typeface="Calibri" pitchFamily="34" charset="-122"/>
                <a:cs typeface="Calibri" pitchFamily="34" charset="-120"/>
              </a:rPr>
              <a:t>Karmel AI Learning Programme  ·  Teacher Orientation</a:t>
            </a:r>
            <a:endParaRPr lang="en-US" sz="950" dirty="0"/>
          </a:p>
        </p:txBody>
      </p:sp>
      <p:sp>
        <p:nvSpPr>
          <p:cNvPr id="7" name="Text 4"/>
          <p:cNvSpPr txBox="1"/>
          <p:nvPr/>
        </p:nvSpPr>
        <p:spPr>
          <a:xfrm>
            <a:off x="10881360" y="6419088"/>
            <a:ext cx="758952" cy="256032"/>
          </a:xfrm>
          <a:prstGeom prst="rect">
            <a:avLst/>
          </a:prstGeom>
          <a:noFill/>
          <a:ln/>
        </p:spPr>
        <p:txBody>
          <a:bodyPr wrap="square" lIns="0" tIns="0" rIns="0" bIns="0" rtlCol="0" anchor="ctr"/>
          <a:lstStyle/>
          <a:p>
            <a:pPr marL="0" indent="0" algn="r">
              <a:buNone/>
            </a:pPr>
            <a:r>
              <a:rPr lang="en-US" sz="950" dirty="0">
                <a:solidFill>
                  <a:srgbClr val="A79DB2"/>
                </a:solidFill>
                <a:latin typeface="Calibri" pitchFamily="34" charset="0"/>
                <a:ea typeface="Calibri" pitchFamily="34" charset="-122"/>
                <a:cs typeface="Calibri" pitchFamily="34" charset="-120"/>
              </a:rPr>
              <a:t>11</a:t>
            </a:r>
            <a:endParaRPr lang="en-US" sz="950" dirty="0"/>
          </a:p>
        </p:txBody>
      </p:sp>
      <p:sp>
        <p:nvSpPr>
          <p:cNvPr id="8" name="Shape 5"/>
          <p:cNvSpPr/>
          <p:nvPr/>
        </p:nvSpPr>
        <p:spPr>
          <a:xfrm>
            <a:off x="1572768" y="2697480"/>
            <a:ext cx="9052560" cy="0"/>
          </a:xfrm>
          <a:prstGeom prst="line">
            <a:avLst/>
          </a:prstGeom>
          <a:noFill/>
          <a:ln w="25400">
            <a:solidFill>
              <a:srgbClr val="E3DAEC"/>
            </a:solidFill>
            <a:prstDash val="solid"/>
          </a:ln>
        </p:spPr>
        <p:txBody>
          <a:bodyPr/>
          <a:lstStyle/>
          <a:p>
            <a:endParaRPr lang="en-IN"/>
          </a:p>
        </p:txBody>
      </p:sp>
      <p:sp>
        <p:nvSpPr>
          <p:cNvPr id="9" name="Shape 6"/>
          <p:cNvSpPr/>
          <p:nvPr/>
        </p:nvSpPr>
        <p:spPr>
          <a:xfrm>
            <a:off x="1188720" y="2313432"/>
            <a:ext cx="768096" cy="768096"/>
          </a:xfrm>
          <a:prstGeom prst="ellipse">
            <a:avLst/>
          </a:prstGeom>
          <a:solidFill>
            <a:srgbClr val="C98A2E"/>
          </a:solidFill>
          <a:ln w="6350">
            <a:solidFill>
              <a:srgbClr val="C98A2E"/>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1403787" y="2528499"/>
            <a:ext cx="337962" cy="337962"/>
          </a:xfrm>
          <a:prstGeom prst="rect">
            <a:avLst/>
          </a:prstGeom>
        </p:spPr>
      </p:pic>
      <p:sp>
        <p:nvSpPr>
          <p:cNvPr id="11" name="Shape 7"/>
          <p:cNvSpPr/>
          <p:nvPr/>
        </p:nvSpPr>
        <p:spPr>
          <a:xfrm>
            <a:off x="566928" y="3337560"/>
            <a:ext cx="2011680" cy="1920240"/>
          </a:xfrm>
          <a:prstGeom prst="roundRect">
            <a:avLst>
              <a:gd name="adj" fmla="val 3810"/>
            </a:avLst>
          </a:prstGeom>
          <a:solidFill>
            <a:srgbClr val="FBF3E3"/>
          </a:solidFill>
          <a:ln w="9525">
            <a:solidFill>
              <a:srgbClr val="FBF3E3"/>
            </a:solidFill>
            <a:prstDash val="solid"/>
          </a:ln>
          <a:effectLst>
            <a:outerShdw blurRad="101600" dist="25400" dir="5400000" algn="bl" rotWithShape="0">
              <a:srgbClr val="4A3560">
                <a:alpha val="12000"/>
              </a:srgbClr>
            </a:outerShdw>
          </a:effectLst>
        </p:spPr>
        <p:txBody>
          <a:bodyPr/>
          <a:lstStyle/>
          <a:p>
            <a:endParaRPr lang="en-IN"/>
          </a:p>
        </p:txBody>
      </p:sp>
      <p:sp>
        <p:nvSpPr>
          <p:cNvPr id="12" name="Text 8"/>
          <p:cNvSpPr txBox="1"/>
          <p:nvPr/>
        </p:nvSpPr>
        <p:spPr>
          <a:xfrm>
            <a:off x="749808" y="3520440"/>
            <a:ext cx="1645920" cy="237744"/>
          </a:xfrm>
          <a:prstGeom prst="rect">
            <a:avLst/>
          </a:prstGeom>
          <a:noFill/>
          <a:ln/>
        </p:spPr>
        <p:txBody>
          <a:bodyPr wrap="square" lIns="0" tIns="0" rIns="0" bIns="0" rtlCol="0" anchor="ctr"/>
          <a:lstStyle/>
          <a:p>
            <a:pPr marL="0" indent="0">
              <a:buNone/>
            </a:pPr>
            <a:r>
              <a:rPr lang="en-US" sz="1100" b="1" kern="0" spc="150" dirty="0">
                <a:solidFill>
                  <a:srgbClr val="BA802E"/>
                </a:solidFill>
                <a:latin typeface="Calibri" pitchFamily="34" charset="0"/>
                <a:ea typeface="Calibri" pitchFamily="34" charset="-122"/>
                <a:cs typeface="Calibri" pitchFamily="34" charset="-120"/>
              </a:rPr>
              <a:t>STEP 1</a:t>
            </a:r>
            <a:endParaRPr lang="en-US" sz="1100" dirty="0"/>
          </a:p>
        </p:txBody>
      </p:sp>
      <p:sp>
        <p:nvSpPr>
          <p:cNvPr id="13" name="Text 9"/>
          <p:cNvSpPr txBox="1"/>
          <p:nvPr/>
        </p:nvSpPr>
        <p:spPr>
          <a:xfrm>
            <a:off x="749808" y="3776472"/>
            <a:ext cx="1737360" cy="384048"/>
          </a:xfrm>
          <a:prstGeom prst="rect">
            <a:avLst/>
          </a:prstGeom>
          <a:noFill/>
          <a:ln/>
        </p:spPr>
        <p:txBody>
          <a:bodyPr wrap="square" lIns="0" tIns="0" rIns="0" bIns="0" rtlCol="0" anchor="ctr"/>
          <a:lstStyle/>
          <a:p>
            <a:pPr marL="0" indent="0">
              <a:buNone/>
            </a:pPr>
            <a:r>
              <a:rPr lang="en-US" sz="1700" b="1" dirty="0">
                <a:solidFill>
                  <a:srgbClr val="714B90"/>
                </a:solidFill>
                <a:latin typeface="Cambria" pitchFamily="34" charset="0"/>
                <a:ea typeface="Cambria" pitchFamily="34" charset="-122"/>
                <a:cs typeface="Cambria" pitchFamily="34" charset="-120"/>
              </a:rPr>
              <a:t>Orientation</a:t>
            </a:r>
            <a:endParaRPr lang="en-US" sz="1700" dirty="0"/>
          </a:p>
        </p:txBody>
      </p:sp>
      <p:sp>
        <p:nvSpPr>
          <p:cNvPr id="14" name="Text 10"/>
          <p:cNvSpPr txBox="1"/>
          <p:nvPr/>
        </p:nvSpPr>
        <p:spPr>
          <a:xfrm>
            <a:off x="749808" y="4206240"/>
            <a:ext cx="1691640" cy="868680"/>
          </a:xfrm>
          <a:prstGeom prst="rect">
            <a:avLst/>
          </a:prstGeom>
          <a:noFill/>
          <a:ln/>
        </p:spPr>
        <p:txBody>
          <a:bodyPr wrap="square" lIns="0" tIns="0" rIns="0" bIns="0" rtlCol="0" anchor="t"/>
          <a:lstStyle/>
          <a:p>
            <a:pPr marL="0" indent="0">
              <a:buNone/>
            </a:pPr>
            <a:r>
              <a:rPr lang="en-US" sz="1300" dirty="0">
                <a:solidFill>
                  <a:srgbClr val="241E2A"/>
                </a:solidFill>
                <a:latin typeface="Calibri" pitchFamily="34" charset="0"/>
                <a:ea typeface="Calibri" pitchFamily="34" charset="-122"/>
                <a:cs typeface="Calibri" pitchFamily="34" charset="-120"/>
              </a:rPr>
              <a:t>Understand Leoki and share what would help you</a:t>
            </a:r>
            <a:endParaRPr lang="en-US" sz="1300" dirty="0"/>
          </a:p>
        </p:txBody>
      </p:sp>
      <p:sp>
        <p:nvSpPr>
          <p:cNvPr id="15" name="Shape 11"/>
          <p:cNvSpPr/>
          <p:nvPr/>
        </p:nvSpPr>
        <p:spPr>
          <a:xfrm>
            <a:off x="3451860" y="2313432"/>
            <a:ext cx="768096" cy="768096"/>
          </a:xfrm>
          <a:prstGeom prst="ellipse">
            <a:avLst/>
          </a:prstGeom>
          <a:solidFill>
            <a:srgbClr val="714B90"/>
          </a:solidFill>
          <a:ln w="6350">
            <a:solidFill>
              <a:srgbClr val="714B90"/>
            </a:solidFill>
            <a:prstDash val="solid"/>
          </a:ln>
        </p:spPr>
        <p:txBody>
          <a:bodyPr/>
          <a:lstStyle/>
          <a:p>
            <a:endParaRPr lang="en-IN"/>
          </a:p>
        </p:txBody>
      </p:sp>
      <p:pic>
        <p:nvPicPr>
          <p:cNvPr id="16" name="Image 2" descr="preencoded.png"/>
          <p:cNvPicPr>
            <a:picLocks noChangeAspect="1"/>
          </p:cNvPicPr>
          <p:nvPr/>
        </p:nvPicPr>
        <p:blipFill>
          <a:blip r:embed="rId5"/>
          <a:stretch>
            <a:fillRect/>
          </a:stretch>
        </p:blipFill>
        <p:spPr>
          <a:xfrm>
            <a:off x="3666927" y="2528499"/>
            <a:ext cx="337962" cy="337962"/>
          </a:xfrm>
          <a:prstGeom prst="rect">
            <a:avLst/>
          </a:prstGeom>
        </p:spPr>
      </p:pic>
      <p:sp>
        <p:nvSpPr>
          <p:cNvPr id="17" name="Shape 12"/>
          <p:cNvSpPr/>
          <p:nvPr/>
        </p:nvSpPr>
        <p:spPr>
          <a:xfrm>
            <a:off x="2830068" y="3337560"/>
            <a:ext cx="2011680" cy="1920240"/>
          </a:xfrm>
          <a:prstGeom prst="roundRect">
            <a:avLst>
              <a:gd name="adj" fmla="val 3810"/>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18" name="Text 13"/>
          <p:cNvSpPr txBox="1"/>
          <p:nvPr/>
        </p:nvSpPr>
        <p:spPr>
          <a:xfrm>
            <a:off x="3012948" y="3520440"/>
            <a:ext cx="1645920" cy="237744"/>
          </a:xfrm>
          <a:prstGeom prst="rect">
            <a:avLst/>
          </a:prstGeom>
          <a:noFill/>
          <a:ln/>
        </p:spPr>
        <p:txBody>
          <a:bodyPr wrap="square" lIns="0" tIns="0" rIns="0" bIns="0" rtlCol="0" anchor="ctr"/>
          <a:lstStyle/>
          <a:p>
            <a:pPr marL="0" indent="0">
              <a:buNone/>
            </a:pPr>
            <a:r>
              <a:rPr lang="en-US" sz="1100" b="1" kern="0" spc="150" dirty="0">
                <a:solidFill>
                  <a:srgbClr val="BA802E"/>
                </a:solidFill>
                <a:latin typeface="Calibri" pitchFamily="34" charset="0"/>
                <a:ea typeface="Calibri" pitchFamily="34" charset="-122"/>
                <a:cs typeface="Calibri" pitchFamily="34" charset="-120"/>
              </a:rPr>
              <a:t>STEP 2</a:t>
            </a:r>
            <a:endParaRPr lang="en-US" sz="1100" dirty="0"/>
          </a:p>
        </p:txBody>
      </p:sp>
      <p:sp>
        <p:nvSpPr>
          <p:cNvPr id="19" name="Text 14"/>
          <p:cNvSpPr txBox="1"/>
          <p:nvPr/>
        </p:nvSpPr>
        <p:spPr>
          <a:xfrm>
            <a:off x="3012948" y="3776472"/>
            <a:ext cx="1737360" cy="384048"/>
          </a:xfrm>
          <a:prstGeom prst="rect">
            <a:avLst/>
          </a:prstGeom>
          <a:noFill/>
          <a:ln/>
        </p:spPr>
        <p:txBody>
          <a:bodyPr wrap="square" lIns="0" tIns="0" rIns="0" bIns="0" rtlCol="0" anchor="ctr"/>
          <a:lstStyle/>
          <a:p>
            <a:pPr marL="0" indent="0">
              <a:buNone/>
            </a:pPr>
            <a:r>
              <a:rPr lang="en-US" sz="1700" b="1" dirty="0">
                <a:solidFill>
                  <a:srgbClr val="714B90"/>
                </a:solidFill>
                <a:latin typeface="Cambria" pitchFamily="34" charset="0"/>
                <a:ea typeface="Cambria" pitchFamily="34" charset="-122"/>
                <a:cs typeface="Cambria" pitchFamily="34" charset="-120"/>
              </a:rPr>
              <a:t>Account setup</a:t>
            </a:r>
            <a:endParaRPr lang="en-US" sz="1700" dirty="0"/>
          </a:p>
        </p:txBody>
      </p:sp>
      <p:sp>
        <p:nvSpPr>
          <p:cNvPr id="20" name="Text 15"/>
          <p:cNvSpPr txBox="1"/>
          <p:nvPr/>
        </p:nvSpPr>
        <p:spPr>
          <a:xfrm>
            <a:off x="3012948" y="4206240"/>
            <a:ext cx="1691640" cy="868680"/>
          </a:xfrm>
          <a:prstGeom prst="rect">
            <a:avLst/>
          </a:prstGeom>
          <a:noFill/>
          <a:ln/>
        </p:spPr>
        <p:txBody>
          <a:bodyPr wrap="square" lIns="0" tIns="0" rIns="0" bIns="0" rtlCol="0" anchor="t"/>
          <a:lstStyle/>
          <a:p>
            <a:pPr marL="0" indent="0">
              <a:buNone/>
            </a:pPr>
            <a:r>
              <a:rPr lang="en-US" sz="1300" dirty="0">
                <a:solidFill>
                  <a:srgbClr val="241E2A"/>
                </a:solidFill>
                <a:latin typeface="Calibri" pitchFamily="34" charset="0"/>
                <a:ea typeface="Calibri" pitchFamily="34" charset="-122"/>
                <a:cs typeface="Calibri" pitchFamily="34" charset="-120"/>
              </a:rPr>
              <a:t>Accounts set up for your classes and subjects</a:t>
            </a:r>
            <a:endParaRPr lang="en-US" sz="1300" dirty="0"/>
          </a:p>
        </p:txBody>
      </p:sp>
      <p:sp>
        <p:nvSpPr>
          <p:cNvPr id="21" name="Shape 16"/>
          <p:cNvSpPr/>
          <p:nvPr/>
        </p:nvSpPr>
        <p:spPr>
          <a:xfrm>
            <a:off x="5715000" y="2313432"/>
            <a:ext cx="768096" cy="768096"/>
          </a:xfrm>
          <a:prstGeom prst="ellipse">
            <a:avLst/>
          </a:prstGeom>
          <a:solidFill>
            <a:srgbClr val="714B90"/>
          </a:solidFill>
          <a:ln w="6350">
            <a:solidFill>
              <a:srgbClr val="714B90"/>
            </a:solidFill>
            <a:prstDash val="solid"/>
          </a:ln>
        </p:spPr>
        <p:txBody>
          <a:bodyPr/>
          <a:lstStyle/>
          <a:p>
            <a:endParaRPr lang="en-IN"/>
          </a:p>
        </p:txBody>
      </p:sp>
      <p:pic>
        <p:nvPicPr>
          <p:cNvPr id="22" name="Image 3" descr="preencoded.png"/>
          <p:cNvPicPr>
            <a:picLocks noChangeAspect="1"/>
          </p:cNvPicPr>
          <p:nvPr/>
        </p:nvPicPr>
        <p:blipFill>
          <a:blip r:embed="rId6"/>
          <a:stretch>
            <a:fillRect/>
          </a:stretch>
        </p:blipFill>
        <p:spPr>
          <a:xfrm>
            <a:off x="5930067" y="2528499"/>
            <a:ext cx="337962" cy="337962"/>
          </a:xfrm>
          <a:prstGeom prst="rect">
            <a:avLst/>
          </a:prstGeom>
        </p:spPr>
      </p:pic>
      <p:sp>
        <p:nvSpPr>
          <p:cNvPr id="23" name="Shape 17"/>
          <p:cNvSpPr/>
          <p:nvPr/>
        </p:nvSpPr>
        <p:spPr>
          <a:xfrm>
            <a:off x="5093208" y="3337560"/>
            <a:ext cx="2011680" cy="1920240"/>
          </a:xfrm>
          <a:prstGeom prst="roundRect">
            <a:avLst>
              <a:gd name="adj" fmla="val 3810"/>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24" name="Text 18"/>
          <p:cNvSpPr txBox="1"/>
          <p:nvPr/>
        </p:nvSpPr>
        <p:spPr>
          <a:xfrm>
            <a:off x="5276088" y="3520440"/>
            <a:ext cx="1645920" cy="237744"/>
          </a:xfrm>
          <a:prstGeom prst="rect">
            <a:avLst/>
          </a:prstGeom>
          <a:noFill/>
          <a:ln/>
        </p:spPr>
        <p:txBody>
          <a:bodyPr wrap="square" lIns="0" tIns="0" rIns="0" bIns="0" rtlCol="0" anchor="ctr"/>
          <a:lstStyle/>
          <a:p>
            <a:pPr marL="0" indent="0">
              <a:buNone/>
            </a:pPr>
            <a:r>
              <a:rPr lang="en-US" sz="1100" b="1" kern="0" spc="150" dirty="0">
                <a:solidFill>
                  <a:srgbClr val="BA802E"/>
                </a:solidFill>
                <a:latin typeface="Calibri" pitchFamily="34" charset="0"/>
                <a:ea typeface="Calibri" pitchFamily="34" charset="-122"/>
                <a:cs typeface="Calibri" pitchFamily="34" charset="-120"/>
              </a:rPr>
              <a:t>STEP 3</a:t>
            </a:r>
            <a:endParaRPr lang="en-US" sz="1100" dirty="0"/>
          </a:p>
        </p:txBody>
      </p:sp>
      <p:sp>
        <p:nvSpPr>
          <p:cNvPr id="25" name="Text 19"/>
          <p:cNvSpPr txBox="1"/>
          <p:nvPr/>
        </p:nvSpPr>
        <p:spPr>
          <a:xfrm>
            <a:off x="5276088" y="3776472"/>
            <a:ext cx="1737360" cy="384048"/>
          </a:xfrm>
          <a:prstGeom prst="rect">
            <a:avLst/>
          </a:prstGeom>
          <a:noFill/>
          <a:ln/>
        </p:spPr>
        <p:txBody>
          <a:bodyPr wrap="square" lIns="0" tIns="0" rIns="0" bIns="0" rtlCol="0" anchor="ctr"/>
          <a:lstStyle/>
          <a:p>
            <a:pPr marL="0" indent="0">
              <a:buNone/>
            </a:pPr>
            <a:r>
              <a:rPr lang="en-US" sz="1700" b="1" dirty="0">
                <a:solidFill>
                  <a:srgbClr val="714B90"/>
                </a:solidFill>
                <a:latin typeface="Cambria" pitchFamily="34" charset="0"/>
                <a:ea typeface="Cambria" pitchFamily="34" charset="-122"/>
                <a:cs typeface="Cambria" pitchFamily="34" charset="-120"/>
              </a:rPr>
              <a:t>Hands-on</a:t>
            </a:r>
            <a:endParaRPr lang="en-US" sz="1700" dirty="0"/>
          </a:p>
        </p:txBody>
      </p:sp>
      <p:sp>
        <p:nvSpPr>
          <p:cNvPr id="26" name="Text 20"/>
          <p:cNvSpPr txBox="1"/>
          <p:nvPr/>
        </p:nvSpPr>
        <p:spPr>
          <a:xfrm>
            <a:off x="5276088" y="4206240"/>
            <a:ext cx="1691640" cy="868680"/>
          </a:xfrm>
          <a:prstGeom prst="rect">
            <a:avLst/>
          </a:prstGeom>
          <a:noFill/>
          <a:ln/>
        </p:spPr>
        <p:txBody>
          <a:bodyPr wrap="square" lIns="0" tIns="0" rIns="0" bIns="0" rtlCol="0" anchor="t"/>
          <a:lstStyle/>
          <a:p>
            <a:pPr marL="0" indent="0">
              <a:buNone/>
            </a:pPr>
            <a:r>
              <a:rPr lang="en-US" sz="1300" dirty="0">
                <a:solidFill>
                  <a:srgbClr val="241E2A"/>
                </a:solidFill>
                <a:latin typeface="Calibri" pitchFamily="34" charset="0"/>
                <a:ea typeface="Calibri" pitchFamily="34" charset="-122"/>
                <a:cs typeface="Calibri" pitchFamily="34" charset="-120"/>
              </a:rPr>
              <a:t>Training in small groups, using your own chapters</a:t>
            </a:r>
            <a:endParaRPr lang="en-US" sz="1300" dirty="0"/>
          </a:p>
        </p:txBody>
      </p:sp>
      <p:sp>
        <p:nvSpPr>
          <p:cNvPr id="27" name="Shape 21"/>
          <p:cNvSpPr/>
          <p:nvPr/>
        </p:nvSpPr>
        <p:spPr>
          <a:xfrm>
            <a:off x="7978140" y="2313432"/>
            <a:ext cx="768096" cy="768096"/>
          </a:xfrm>
          <a:prstGeom prst="ellipse">
            <a:avLst/>
          </a:prstGeom>
          <a:solidFill>
            <a:srgbClr val="714B90"/>
          </a:solidFill>
          <a:ln w="6350">
            <a:solidFill>
              <a:srgbClr val="714B90"/>
            </a:solidFill>
            <a:prstDash val="solid"/>
          </a:ln>
        </p:spPr>
        <p:txBody>
          <a:bodyPr/>
          <a:lstStyle/>
          <a:p>
            <a:endParaRPr lang="en-IN"/>
          </a:p>
        </p:txBody>
      </p:sp>
      <p:pic>
        <p:nvPicPr>
          <p:cNvPr id="28" name="Image 4" descr="preencoded.png"/>
          <p:cNvPicPr>
            <a:picLocks noChangeAspect="1"/>
          </p:cNvPicPr>
          <p:nvPr/>
        </p:nvPicPr>
        <p:blipFill>
          <a:blip r:embed="rId7"/>
          <a:stretch>
            <a:fillRect/>
          </a:stretch>
        </p:blipFill>
        <p:spPr>
          <a:xfrm>
            <a:off x="8193207" y="2528499"/>
            <a:ext cx="337962" cy="337962"/>
          </a:xfrm>
          <a:prstGeom prst="rect">
            <a:avLst/>
          </a:prstGeom>
        </p:spPr>
      </p:pic>
      <p:sp>
        <p:nvSpPr>
          <p:cNvPr id="29" name="Shape 22"/>
          <p:cNvSpPr/>
          <p:nvPr/>
        </p:nvSpPr>
        <p:spPr>
          <a:xfrm>
            <a:off x="7356348" y="3337560"/>
            <a:ext cx="2011680" cy="1920240"/>
          </a:xfrm>
          <a:prstGeom prst="roundRect">
            <a:avLst>
              <a:gd name="adj" fmla="val 3810"/>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30" name="Text 23"/>
          <p:cNvSpPr txBox="1"/>
          <p:nvPr/>
        </p:nvSpPr>
        <p:spPr>
          <a:xfrm>
            <a:off x="7539228" y="3520440"/>
            <a:ext cx="1645920" cy="237744"/>
          </a:xfrm>
          <a:prstGeom prst="rect">
            <a:avLst/>
          </a:prstGeom>
          <a:noFill/>
          <a:ln/>
        </p:spPr>
        <p:txBody>
          <a:bodyPr wrap="square" lIns="0" tIns="0" rIns="0" bIns="0" rtlCol="0" anchor="ctr"/>
          <a:lstStyle/>
          <a:p>
            <a:pPr marL="0" indent="0">
              <a:buNone/>
            </a:pPr>
            <a:r>
              <a:rPr lang="en-US" sz="1100" b="1" kern="0" spc="150" dirty="0">
                <a:solidFill>
                  <a:srgbClr val="BA802E"/>
                </a:solidFill>
                <a:latin typeface="Calibri" pitchFamily="34" charset="0"/>
                <a:ea typeface="Calibri" pitchFamily="34" charset="-122"/>
                <a:cs typeface="Calibri" pitchFamily="34" charset="-120"/>
              </a:rPr>
              <a:t>STEP 4</a:t>
            </a:r>
            <a:endParaRPr lang="en-US" sz="1100" dirty="0"/>
          </a:p>
        </p:txBody>
      </p:sp>
      <p:sp>
        <p:nvSpPr>
          <p:cNvPr id="31" name="Text 24"/>
          <p:cNvSpPr txBox="1"/>
          <p:nvPr/>
        </p:nvSpPr>
        <p:spPr>
          <a:xfrm>
            <a:off x="7539228" y="3776472"/>
            <a:ext cx="1737360" cy="384048"/>
          </a:xfrm>
          <a:prstGeom prst="rect">
            <a:avLst/>
          </a:prstGeom>
          <a:noFill/>
          <a:ln/>
        </p:spPr>
        <p:txBody>
          <a:bodyPr wrap="square" lIns="0" tIns="0" rIns="0" bIns="0" rtlCol="0" anchor="ctr"/>
          <a:lstStyle/>
          <a:p>
            <a:pPr marL="0" indent="0">
              <a:buNone/>
            </a:pPr>
            <a:r>
              <a:rPr lang="en-US" sz="1700" b="1" dirty="0">
                <a:solidFill>
                  <a:srgbClr val="714B90"/>
                </a:solidFill>
                <a:latin typeface="Cambria" pitchFamily="34" charset="0"/>
                <a:ea typeface="Cambria" pitchFamily="34" charset="-122"/>
                <a:cs typeface="Cambria" pitchFamily="34" charset="-120"/>
              </a:rPr>
              <a:t>Pilot classrooms</a:t>
            </a:r>
            <a:endParaRPr lang="en-US" sz="1700" dirty="0"/>
          </a:p>
        </p:txBody>
      </p:sp>
      <p:sp>
        <p:nvSpPr>
          <p:cNvPr id="32" name="Text 25"/>
          <p:cNvSpPr txBox="1"/>
          <p:nvPr/>
        </p:nvSpPr>
        <p:spPr>
          <a:xfrm>
            <a:off x="7539228" y="4206240"/>
            <a:ext cx="1691640" cy="868680"/>
          </a:xfrm>
          <a:prstGeom prst="rect">
            <a:avLst/>
          </a:prstGeom>
          <a:noFill/>
          <a:ln/>
        </p:spPr>
        <p:txBody>
          <a:bodyPr wrap="square" lIns="0" tIns="0" rIns="0" bIns="0" rtlCol="0" anchor="t"/>
          <a:lstStyle/>
          <a:p>
            <a:pPr marL="0" indent="0">
              <a:buNone/>
            </a:pPr>
            <a:r>
              <a:rPr lang="en-US" sz="1300" dirty="0">
                <a:solidFill>
                  <a:srgbClr val="241E2A"/>
                </a:solidFill>
                <a:latin typeface="Calibri" pitchFamily="34" charset="0"/>
                <a:ea typeface="Calibri" pitchFamily="34" charset="-122"/>
                <a:cs typeface="Calibri" pitchFamily="34" charset="-120"/>
              </a:rPr>
              <a:t>Selected classes and subjects begin planned use</a:t>
            </a:r>
            <a:endParaRPr lang="en-US" sz="1300" dirty="0"/>
          </a:p>
        </p:txBody>
      </p:sp>
      <p:sp>
        <p:nvSpPr>
          <p:cNvPr id="33" name="Shape 26"/>
          <p:cNvSpPr/>
          <p:nvPr/>
        </p:nvSpPr>
        <p:spPr>
          <a:xfrm>
            <a:off x="10241280" y="2313432"/>
            <a:ext cx="768096" cy="768096"/>
          </a:xfrm>
          <a:prstGeom prst="ellipse">
            <a:avLst/>
          </a:prstGeom>
          <a:solidFill>
            <a:srgbClr val="714B90"/>
          </a:solidFill>
          <a:ln w="6350">
            <a:solidFill>
              <a:srgbClr val="714B90"/>
            </a:solidFill>
            <a:prstDash val="solid"/>
          </a:ln>
        </p:spPr>
        <p:txBody>
          <a:bodyPr/>
          <a:lstStyle/>
          <a:p>
            <a:endParaRPr lang="en-IN"/>
          </a:p>
        </p:txBody>
      </p:sp>
      <p:pic>
        <p:nvPicPr>
          <p:cNvPr id="34" name="Image 5" descr="preencoded.png"/>
          <p:cNvPicPr>
            <a:picLocks noChangeAspect="1"/>
          </p:cNvPicPr>
          <p:nvPr/>
        </p:nvPicPr>
        <p:blipFill>
          <a:blip r:embed="rId8"/>
          <a:stretch>
            <a:fillRect/>
          </a:stretch>
        </p:blipFill>
        <p:spPr>
          <a:xfrm>
            <a:off x="10456347" y="2528499"/>
            <a:ext cx="337962" cy="337962"/>
          </a:xfrm>
          <a:prstGeom prst="rect">
            <a:avLst/>
          </a:prstGeom>
        </p:spPr>
      </p:pic>
      <p:sp>
        <p:nvSpPr>
          <p:cNvPr id="35" name="Shape 27"/>
          <p:cNvSpPr/>
          <p:nvPr/>
        </p:nvSpPr>
        <p:spPr>
          <a:xfrm>
            <a:off x="9619488" y="3337560"/>
            <a:ext cx="2011680" cy="1920240"/>
          </a:xfrm>
          <a:prstGeom prst="roundRect">
            <a:avLst>
              <a:gd name="adj" fmla="val 3810"/>
            </a:avLst>
          </a:prstGeom>
          <a:solidFill>
            <a:srgbClr val="FFFFFF"/>
          </a:solidFill>
          <a:ln w="9525">
            <a:solidFill>
              <a:srgbClr val="E3DAEC"/>
            </a:solidFill>
            <a:prstDash val="solid"/>
          </a:ln>
          <a:effectLst>
            <a:outerShdw blurRad="101600" dist="25400" dir="5400000" algn="bl" rotWithShape="0">
              <a:srgbClr val="4A3560">
                <a:alpha val="12000"/>
              </a:srgbClr>
            </a:outerShdw>
          </a:effectLst>
        </p:spPr>
        <p:txBody>
          <a:bodyPr/>
          <a:lstStyle/>
          <a:p>
            <a:endParaRPr lang="en-IN"/>
          </a:p>
        </p:txBody>
      </p:sp>
      <p:sp>
        <p:nvSpPr>
          <p:cNvPr id="36" name="Text 28"/>
          <p:cNvSpPr txBox="1"/>
          <p:nvPr/>
        </p:nvSpPr>
        <p:spPr>
          <a:xfrm>
            <a:off x="9802368" y="3520440"/>
            <a:ext cx="1645920" cy="237744"/>
          </a:xfrm>
          <a:prstGeom prst="rect">
            <a:avLst/>
          </a:prstGeom>
          <a:noFill/>
          <a:ln/>
        </p:spPr>
        <p:txBody>
          <a:bodyPr wrap="square" lIns="0" tIns="0" rIns="0" bIns="0" rtlCol="0" anchor="ctr"/>
          <a:lstStyle/>
          <a:p>
            <a:pPr marL="0" indent="0">
              <a:buNone/>
            </a:pPr>
            <a:r>
              <a:rPr lang="en-US" sz="1100" b="1" kern="0" spc="150" dirty="0">
                <a:solidFill>
                  <a:srgbClr val="BA802E"/>
                </a:solidFill>
                <a:latin typeface="Calibri" pitchFamily="34" charset="0"/>
                <a:ea typeface="Calibri" pitchFamily="34" charset="-122"/>
                <a:cs typeface="Calibri" pitchFamily="34" charset="-120"/>
              </a:rPr>
              <a:t>STEP 5</a:t>
            </a:r>
            <a:endParaRPr lang="en-US" sz="1100" dirty="0"/>
          </a:p>
        </p:txBody>
      </p:sp>
      <p:sp>
        <p:nvSpPr>
          <p:cNvPr id="37" name="Text 29"/>
          <p:cNvSpPr txBox="1"/>
          <p:nvPr/>
        </p:nvSpPr>
        <p:spPr>
          <a:xfrm>
            <a:off x="9802368" y="3776472"/>
            <a:ext cx="1737360" cy="384048"/>
          </a:xfrm>
          <a:prstGeom prst="rect">
            <a:avLst/>
          </a:prstGeom>
          <a:noFill/>
          <a:ln/>
        </p:spPr>
        <p:txBody>
          <a:bodyPr wrap="square" lIns="0" tIns="0" rIns="0" bIns="0" rtlCol="0" anchor="ctr"/>
          <a:lstStyle/>
          <a:p>
            <a:pPr marL="0" indent="0">
              <a:buNone/>
            </a:pPr>
            <a:r>
              <a:rPr lang="en-US" sz="1700" b="1" dirty="0">
                <a:solidFill>
                  <a:srgbClr val="714B90"/>
                </a:solidFill>
                <a:latin typeface="Cambria" pitchFamily="34" charset="0"/>
                <a:ea typeface="Cambria" pitchFamily="34" charset="-122"/>
                <a:cs typeface="Cambria" pitchFamily="34" charset="-120"/>
              </a:rPr>
              <a:t>Review &amp; expand</a:t>
            </a:r>
            <a:endParaRPr lang="en-US" sz="1700" dirty="0"/>
          </a:p>
        </p:txBody>
      </p:sp>
      <p:sp>
        <p:nvSpPr>
          <p:cNvPr id="38" name="Text 30"/>
          <p:cNvSpPr txBox="1"/>
          <p:nvPr/>
        </p:nvSpPr>
        <p:spPr>
          <a:xfrm>
            <a:off x="9802368" y="4206240"/>
            <a:ext cx="1691640" cy="868680"/>
          </a:xfrm>
          <a:prstGeom prst="rect">
            <a:avLst/>
          </a:prstGeom>
          <a:noFill/>
          <a:ln/>
        </p:spPr>
        <p:txBody>
          <a:bodyPr wrap="square" lIns="0" tIns="0" rIns="0" bIns="0" rtlCol="0" anchor="t"/>
          <a:lstStyle/>
          <a:p>
            <a:pPr marL="0" indent="0">
              <a:buNone/>
            </a:pPr>
            <a:r>
              <a:rPr lang="en-US" sz="1300" dirty="0">
                <a:solidFill>
                  <a:srgbClr val="241E2A"/>
                </a:solidFill>
                <a:latin typeface="Calibri" pitchFamily="34" charset="0"/>
                <a:ea typeface="Calibri" pitchFamily="34" charset="-122"/>
                <a:cs typeface="Calibri" pitchFamily="34" charset="-120"/>
              </a:rPr>
              <a:t>Your feedback shapes the wider rollout</a:t>
            </a:r>
            <a:endParaRPr lang="en-US" sz="1300" dirty="0"/>
          </a:p>
        </p:txBody>
      </p:sp>
      <p:sp>
        <p:nvSpPr>
          <p:cNvPr id="39" name="Shape 31"/>
          <p:cNvSpPr/>
          <p:nvPr/>
        </p:nvSpPr>
        <p:spPr>
          <a:xfrm>
            <a:off x="1115568" y="1810512"/>
            <a:ext cx="914400" cy="310896"/>
          </a:xfrm>
          <a:prstGeom prst="roundRect">
            <a:avLst>
              <a:gd name="adj" fmla="val 50000"/>
            </a:avLst>
          </a:prstGeom>
          <a:solidFill>
            <a:srgbClr val="C98A2E"/>
          </a:solidFill>
          <a:ln w="6350">
            <a:solidFill>
              <a:srgbClr val="C98A2E"/>
            </a:solidFill>
            <a:prstDash val="solid"/>
          </a:ln>
        </p:spPr>
        <p:txBody>
          <a:bodyPr/>
          <a:lstStyle/>
          <a:p>
            <a:endParaRPr lang="en-IN"/>
          </a:p>
        </p:txBody>
      </p:sp>
      <p:sp>
        <p:nvSpPr>
          <p:cNvPr id="40" name="Text 32"/>
          <p:cNvSpPr txBox="1"/>
          <p:nvPr/>
        </p:nvSpPr>
        <p:spPr>
          <a:xfrm>
            <a:off x="1115568" y="1810512"/>
            <a:ext cx="914400" cy="310896"/>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TODAY</a:t>
            </a:r>
            <a:endParaRPr lang="en-US" sz="1100" dirty="0"/>
          </a:p>
        </p:txBody>
      </p:sp>
      <p:sp>
        <p:nvSpPr>
          <p:cNvPr id="41" name="Text 33"/>
          <p:cNvSpPr txBox="1"/>
          <p:nvPr/>
        </p:nvSpPr>
        <p:spPr>
          <a:xfrm>
            <a:off x="566928" y="5623560"/>
            <a:ext cx="11064240" cy="329184"/>
          </a:xfrm>
          <a:prstGeom prst="rect">
            <a:avLst/>
          </a:prstGeom>
          <a:noFill/>
          <a:ln/>
        </p:spPr>
        <p:txBody>
          <a:bodyPr wrap="square" lIns="0" tIns="0" rIns="0" bIns="0" rtlCol="0" anchor="ctr"/>
          <a:lstStyle/>
          <a:p>
            <a:pPr marL="0" indent="0" algn="ctr">
              <a:buNone/>
            </a:pPr>
            <a:r>
              <a:rPr lang="en-US" sz="1400" i="1" dirty="0">
                <a:solidFill>
                  <a:srgbClr val="6E6579"/>
                </a:solidFill>
                <a:latin typeface="Calibri" pitchFamily="34" charset="0"/>
                <a:ea typeface="Calibri" pitchFamily="34" charset="-122"/>
                <a:cs typeface="Calibri" pitchFamily="34" charset="-120"/>
              </a:rPr>
              <a:t>Each step is reviewed with school leadership before the next one begins.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1B3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94360" y="621792"/>
            <a:ext cx="1837944" cy="685800"/>
          </a:xfrm>
          <a:prstGeom prst="rect">
            <a:avLst/>
          </a:prstGeom>
        </p:spPr>
      </p:pic>
      <p:sp>
        <p:nvSpPr>
          <p:cNvPr id="3" name="Text 0"/>
          <p:cNvSpPr txBox="1"/>
          <p:nvPr/>
        </p:nvSpPr>
        <p:spPr>
          <a:xfrm>
            <a:off x="585216" y="2011680"/>
            <a:ext cx="10972800" cy="7772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Questions &amp; Conversation</a:t>
            </a:r>
            <a:endParaRPr lang="en-US" sz="4000" dirty="0"/>
          </a:p>
        </p:txBody>
      </p:sp>
      <p:sp>
        <p:nvSpPr>
          <p:cNvPr id="4" name="Text 1"/>
          <p:cNvSpPr txBox="1"/>
          <p:nvPr/>
        </p:nvSpPr>
        <p:spPr>
          <a:xfrm>
            <a:off x="594360" y="2834640"/>
            <a:ext cx="10972800" cy="457200"/>
          </a:xfrm>
          <a:prstGeom prst="rect">
            <a:avLst/>
          </a:prstGeom>
          <a:noFill/>
          <a:ln/>
        </p:spPr>
        <p:txBody>
          <a:bodyPr wrap="square" lIns="0" tIns="0" rIns="0" bIns="0" rtlCol="0" anchor="ctr"/>
          <a:lstStyle/>
          <a:p>
            <a:pPr marL="0" indent="0">
              <a:buNone/>
            </a:pPr>
            <a:r>
              <a:rPr lang="en-US" sz="2000" dirty="0">
                <a:solidFill>
                  <a:srgbClr val="CDBADF"/>
                </a:solidFill>
                <a:latin typeface="Calibri" pitchFamily="34" charset="0"/>
                <a:ea typeface="Calibri" pitchFamily="34" charset="-122"/>
                <a:cs typeface="Calibri" pitchFamily="34" charset="-120"/>
              </a:rPr>
              <a:t>What would make the biggest difference to your teaching week?</a:t>
            </a:r>
            <a:endParaRPr lang="en-US" sz="2000" dirty="0"/>
          </a:p>
        </p:txBody>
      </p:sp>
      <p:sp>
        <p:nvSpPr>
          <p:cNvPr id="5" name="Shape 2"/>
          <p:cNvSpPr/>
          <p:nvPr/>
        </p:nvSpPr>
        <p:spPr>
          <a:xfrm>
            <a:off x="594360" y="3749040"/>
            <a:ext cx="2103120" cy="640080"/>
          </a:xfrm>
          <a:prstGeom prst="roundRect">
            <a:avLst>
              <a:gd name="adj" fmla="val 14286"/>
            </a:avLst>
          </a:prstGeom>
          <a:solidFill>
            <a:srgbClr val="3E2856"/>
          </a:solidFill>
          <a:ln w="12700">
            <a:solidFill>
              <a:srgbClr val="553A72"/>
            </a:solidFill>
            <a:prstDash val="solid"/>
          </a:ln>
        </p:spPr>
        <p:txBody>
          <a:bodyPr/>
          <a:lstStyle/>
          <a:p>
            <a:endParaRPr lang="en-IN"/>
          </a:p>
        </p:txBody>
      </p:sp>
      <p:pic>
        <p:nvPicPr>
          <p:cNvPr id="6" name="Image 1" descr="preencoded.png"/>
          <p:cNvPicPr>
            <a:picLocks noChangeAspect="1"/>
          </p:cNvPicPr>
          <p:nvPr/>
        </p:nvPicPr>
        <p:blipFill>
          <a:blip r:embed="rId4"/>
          <a:stretch>
            <a:fillRect/>
          </a:stretch>
        </p:blipFill>
        <p:spPr>
          <a:xfrm>
            <a:off x="822960" y="3913632"/>
            <a:ext cx="310896" cy="310896"/>
          </a:xfrm>
          <a:prstGeom prst="rect">
            <a:avLst/>
          </a:prstGeom>
        </p:spPr>
      </p:pic>
      <p:sp>
        <p:nvSpPr>
          <p:cNvPr id="7" name="Text 3"/>
          <p:cNvSpPr txBox="1"/>
          <p:nvPr/>
        </p:nvSpPr>
        <p:spPr>
          <a:xfrm>
            <a:off x="1280160" y="3749040"/>
            <a:ext cx="132588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Prepare</a:t>
            </a:r>
            <a:endParaRPr lang="en-US" sz="1600" dirty="0"/>
          </a:p>
        </p:txBody>
      </p:sp>
      <p:sp>
        <p:nvSpPr>
          <p:cNvPr id="8" name="Shape 4"/>
          <p:cNvSpPr/>
          <p:nvPr/>
        </p:nvSpPr>
        <p:spPr>
          <a:xfrm>
            <a:off x="2926080" y="3749040"/>
            <a:ext cx="2103120" cy="640080"/>
          </a:xfrm>
          <a:prstGeom prst="roundRect">
            <a:avLst>
              <a:gd name="adj" fmla="val 14286"/>
            </a:avLst>
          </a:prstGeom>
          <a:solidFill>
            <a:srgbClr val="3E2856"/>
          </a:solidFill>
          <a:ln w="12700">
            <a:solidFill>
              <a:srgbClr val="553A72"/>
            </a:solidFill>
            <a:prstDash val="solid"/>
          </a:ln>
        </p:spPr>
        <p:txBody>
          <a:bodyPr/>
          <a:lstStyle/>
          <a:p>
            <a:endParaRPr lang="en-IN"/>
          </a:p>
        </p:txBody>
      </p:sp>
      <p:pic>
        <p:nvPicPr>
          <p:cNvPr id="9" name="Image 2" descr="preencoded.png"/>
          <p:cNvPicPr>
            <a:picLocks noChangeAspect="1"/>
          </p:cNvPicPr>
          <p:nvPr/>
        </p:nvPicPr>
        <p:blipFill>
          <a:blip r:embed="rId5"/>
          <a:stretch>
            <a:fillRect/>
          </a:stretch>
        </p:blipFill>
        <p:spPr>
          <a:xfrm>
            <a:off x="3154680" y="3913632"/>
            <a:ext cx="310896" cy="310896"/>
          </a:xfrm>
          <a:prstGeom prst="rect">
            <a:avLst/>
          </a:prstGeom>
        </p:spPr>
      </p:pic>
      <p:sp>
        <p:nvSpPr>
          <p:cNvPr id="10" name="Text 5"/>
          <p:cNvSpPr txBox="1"/>
          <p:nvPr/>
        </p:nvSpPr>
        <p:spPr>
          <a:xfrm>
            <a:off x="3611880" y="3749040"/>
            <a:ext cx="132588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Teach</a:t>
            </a:r>
            <a:endParaRPr lang="en-US" sz="1600" dirty="0"/>
          </a:p>
        </p:txBody>
      </p:sp>
      <p:sp>
        <p:nvSpPr>
          <p:cNvPr id="11" name="Shape 6"/>
          <p:cNvSpPr/>
          <p:nvPr/>
        </p:nvSpPr>
        <p:spPr>
          <a:xfrm>
            <a:off x="5257800" y="3749040"/>
            <a:ext cx="2103120" cy="640080"/>
          </a:xfrm>
          <a:prstGeom prst="roundRect">
            <a:avLst>
              <a:gd name="adj" fmla="val 14286"/>
            </a:avLst>
          </a:prstGeom>
          <a:solidFill>
            <a:srgbClr val="3E2856"/>
          </a:solidFill>
          <a:ln w="12700">
            <a:solidFill>
              <a:srgbClr val="553A72"/>
            </a:solidFill>
            <a:prstDash val="solid"/>
          </a:ln>
        </p:spPr>
        <p:txBody>
          <a:bodyPr/>
          <a:lstStyle/>
          <a:p>
            <a:endParaRPr lang="en-IN"/>
          </a:p>
        </p:txBody>
      </p:sp>
      <p:pic>
        <p:nvPicPr>
          <p:cNvPr id="12" name="Image 3" descr="preencoded.png"/>
          <p:cNvPicPr>
            <a:picLocks noChangeAspect="1"/>
          </p:cNvPicPr>
          <p:nvPr/>
        </p:nvPicPr>
        <p:blipFill>
          <a:blip r:embed="rId6"/>
          <a:stretch>
            <a:fillRect/>
          </a:stretch>
        </p:blipFill>
        <p:spPr>
          <a:xfrm>
            <a:off x="5486400" y="3913632"/>
            <a:ext cx="310896" cy="310896"/>
          </a:xfrm>
          <a:prstGeom prst="rect">
            <a:avLst/>
          </a:prstGeom>
        </p:spPr>
      </p:pic>
      <p:sp>
        <p:nvSpPr>
          <p:cNvPr id="13" name="Text 7"/>
          <p:cNvSpPr txBox="1"/>
          <p:nvPr/>
        </p:nvSpPr>
        <p:spPr>
          <a:xfrm>
            <a:off x="5943600" y="3749040"/>
            <a:ext cx="132588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Reflect</a:t>
            </a:r>
            <a:endParaRPr lang="en-US" sz="1600" dirty="0"/>
          </a:p>
        </p:txBody>
      </p:sp>
      <p:sp>
        <p:nvSpPr>
          <p:cNvPr id="14" name="Shape 8"/>
          <p:cNvSpPr/>
          <p:nvPr/>
        </p:nvSpPr>
        <p:spPr>
          <a:xfrm>
            <a:off x="7589520" y="3749040"/>
            <a:ext cx="2103120" cy="640080"/>
          </a:xfrm>
          <a:prstGeom prst="roundRect">
            <a:avLst>
              <a:gd name="adj" fmla="val 14286"/>
            </a:avLst>
          </a:prstGeom>
          <a:solidFill>
            <a:srgbClr val="3E2856"/>
          </a:solidFill>
          <a:ln w="12700">
            <a:solidFill>
              <a:srgbClr val="553A72"/>
            </a:solidFill>
            <a:prstDash val="solid"/>
          </a:ln>
        </p:spPr>
        <p:txBody>
          <a:bodyPr/>
          <a:lstStyle/>
          <a:p>
            <a:endParaRPr lang="en-IN"/>
          </a:p>
        </p:txBody>
      </p:sp>
      <p:pic>
        <p:nvPicPr>
          <p:cNvPr id="15" name="Image 4" descr="preencoded.png"/>
          <p:cNvPicPr>
            <a:picLocks noChangeAspect="1"/>
          </p:cNvPicPr>
          <p:nvPr/>
        </p:nvPicPr>
        <p:blipFill>
          <a:blip r:embed="rId7"/>
          <a:stretch>
            <a:fillRect/>
          </a:stretch>
        </p:blipFill>
        <p:spPr>
          <a:xfrm>
            <a:off x="7818120" y="3913632"/>
            <a:ext cx="310896" cy="310896"/>
          </a:xfrm>
          <a:prstGeom prst="rect">
            <a:avLst/>
          </a:prstGeom>
        </p:spPr>
      </p:pic>
      <p:sp>
        <p:nvSpPr>
          <p:cNvPr id="16" name="Text 9"/>
          <p:cNvSpPr txBox="1"/>
          <p:nvPr/>
        </p:nvSpPr>
        <p:spPr>
          <a:xfrm>
            <a:off x="8275320" y="3749040"/>
            <a:ext cx="132588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Learn</a:t>
            </a:r>
            <a:endParaRPr lang="en-US" sz="1600" dirty="0"/>
          </a:p>
        </p:txBody>
      </p:sp>
      <p:sp>
        <p:nvSpPr>
          <p:cNvPr id="17" name="Text 10"/>
          <p:cNvSpPr txBox="1"/>
          <p:nvPr/>
        </p:nvSpPr>
        <p:spPr>
          <a:xfrm>
            <a:off x="594360" y="4846320"/>
            <a:ext cx="10515600" cy="457200"/>
          </a:xfrm>
          <a:prstGeom prst="rect">
            <a:avLst/>
          </a:prstGeom>
          <a:noFill/>
          <a:ln/>
        </p:spPr>
        <p:txBody>
          <a:bodyPr wrap="square" lIns="0" tIns="0" rIns="0" bIns="0" rtlCol="0" anchor="ctr"/>
          <a:lstStyle/>
          <a:p>
            <a:pPr marL="0" indent="0">
              <a:buNone/>
            </a:pPr>
            <a:r>
              <a:rPr lang="en-US" sz="2400" b="1" dirty="0">
                <a:solidFill>
                  <a:srgbClr val="C98A2E"/>
                </a:solidFill>
                <a:latin typeface="Cambria" pitchFamily="34" charset="0"/>
                <a:ea typeface="Cambria" pitchFamily="34" charset="-122"/>
                <a:cs typeface="Cambria" pitchFamily="34" charset="-120"/>
              </a:rPr>
              <a:t>Teacher-led.  AI-supported.  Student-centred.</a:t>
            </a:r>
            <a:endParaRPr lang="en-US" sz="2400" dirty="0"/>
          </a:p>
        </p:txBody>
      </p:sp>
      <p:sp>
        <p:nvSpPr>
          <p:cNvPr id="18" name="Text 11"/>
          <p:cNvSpPr txBox="1"/>
          <p:nvPr/>
        </p:nvSpPr>
        <p:spPr>
          <a:xfrm>
            <a:off x="594360" y="5349240"/>
            <a:ext cx="10515600" cy="365760"/>
          </a:xfrm>
          <a:prstGeom prst="rect">
            <a:avLst/>
          </a:prstGeom>
          <a:noFill/>
          <a:ln/>
        </p:spPr>
        <p:txBody>
          <a:bodyPr wrap="square" lIns="0" tIns="0" rIns="0" bIns="0" rtlCol="0" anchor="ctr"/>
          <a:lstStyle/>
          <a:p>
            <a:pPr marL="0" indent="0">
              <a:buNone/>
            </a:pPr>
            <a:r>
              <a:rPr lang="en-US" sz="1500" i="1" dirty="0">
                <a:solidFill>
                  <a:srgbClr val="CDBADF"/>
                </a:solidFill>
                <a:latin typeface="Calibri" pitchFamily="34" charset="0"/>
                <a:ea typeface="Calibri" pitchFamily="34" charset="-122"/>
                <a:cs typeface="Calibri" pitchFamily="34" charset="-120"/>
              </a:rPr>
              <a:t>Technology should strengthen great teaching: help teachers teach better, and students learn better.</a:t>
            </a:r>
            <a:endParaRPr lang="en-US" sz="1500" dirty="0"/>
          </a:p>
        </p:txBody>
      </p:sp>
      <p:sp>
        <p:nvSpPr>
          <p:cNvPr id="19" name="Text 12"/>
          <p:cNvSpPr txBox="1"/>
          <p:nvPr/>
        </p:nvSpPr>
        <p:spPr>
          <a:xfrm>
            <a:off x="548640" y="6309360"/>
            <a:ext cx="11064240" cy="274320"/>
          </a:xfrm>
          <a:prstGeom prst="rect">
            <a:avLst/>
          </a:prstGeom>
          <a:noFill/>
          <a:ln/>
        </p:spPr>
        <p:txBody>
          <a:bodyPr wrap="square" lIns="0" tIns="0" rIns="0" bIns="0" rtlCol="0" anchor="ctr"/>
          <a:lstStyle/>
          <a:p>
            <a:pPr marL="0" indent="0">
              <a:buNone/>
            </a:pPr>
            <a:r>
              <a:rPr lang="en-US" sz="1100" dirty="0">
                <a:solidFill>
                  <a:srgbClr val="A79DB2"/>
                </a:solidFill>
                <a:latin typeface="Calibri" pitchFamily="34" charset="0"/>
                <a:ea typeface="Calibri" pitchFamily="34" charset="-122"/>
                <a:cs typeface="Calibri" pitchFamily="34" charset="-120"/>
              </a:rPr>
              <a:t>leoki.ai   |   harsh.mittal@tryzent.com   |   +91 9105910566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2763</Words>
  <Application>Microsoft Office PowerPoint</Application>
  <PresentationFormat>Widescreen</PresentationFormat>
  <Paragraphs>235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Leoki — Teacher Orientation — Karmel International School</dc:title>
  <dc:subject>PptxGenJS Presentation</dc:subject>
  <dc:creator>PptxGenJS</dc:creator>
  <cp:lastModifiedBy>Harsh Mittal</cp:lastModifiedBy>
  <cp:revision>1</cp:revision>
  <dcterms:created xsi:type="dcterms:W3CDTF">2026-09-25T20:20:47Z</dcterms:created>
  <dcterms:modified xsi:type="dcterms:W3CDTF">2026-09-25T20:24:55Z</dcterms:modified>
</cp:coreProperties>
</file>